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88f23d23a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88f23d23a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88f23d23a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88f23d23a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88f23d23a_0_6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f88f23d23a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87d4ecd71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87d4ecd71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f87e9f8aa5_15_6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f87e9f8aa5_15_6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87e9f8aa5_15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f87e9f8aa5_15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f87e9f8aa5_15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f87e9f8aa5_15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f88f23d23a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3f88f23d23a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f87d4ecd71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f87d4ecd71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f87d4ecd7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f87d4ecd7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87d4ecd71_26_0)">
  <p:cSld name="Generated (g3f87d4ecd71_26_0)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0" y="685800"/>
            <a:ext cx="9144000" cy="477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 txBox="1"/>
          <p:nvPr/>
        </p:nvSpPr>
        <p:spPr>
          <a:xfrm>
            <a:off x="285750" y="114300"/>
            <a:ext cx="857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Copilot Cowork 適合優先導入對象：核心知識工作者場景</a:t>
            </a:r>
            <a:endParaRPr b="1" sz="2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" name="Google Shape;58;p14"/>
          <p:cNvPicPr preferRelativeResize="0"/>
          <p:nvPr/>
        </p:nvPicPr>
        <p:blipFill rotWithShape="1">
          <a:blip r:embed="rId3">
            <a:alphaModFix/>
          </a:blip>
          <a:srcRect b="0" l="0" r="0" t="14259"/>
          <a:stretch/>
        </p:blipFill>
        <p:spPr>
          <a:xfrm>
            <a:off x="0" y="733500"/>
            <a:ext cx="9144000" cy="440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0" y="685800"/>
            <a:ext cx="9144000" cy="477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0" y="733500"/>
            <a:ext cx="9144000" cy="4410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228600" y="914400"/>
            <a:ext cx="5600700" cy="3410100"/>
          </a:xfrm>
          <a:prstGeom prst="roundRect">
            <a:avLst>
              <a:gd fmla="val 1117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" name="Google Shape;67;p15"/>
          <p:cNvCxnSpPr/>
          <p:nvPr/>
        </p:nvCxnSpPr>
        <p:spPr>
          <a:xfrm>
            <a:off x="228600" y="1314450"/>
            <a:ext cx="56007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1C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" name="Google Shape;68;p15"/>
          <p:cNvSpPr txBox="1"/>
          <p:nvPr/>
        </p:nvSpPr>
        <p:spPr>
          <a:xfrm>
            <a:off x="381000" y="1028700"/>
            <a:ext cx="5295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lang="en" sz="1250">
                <a:solidFill>
                  <a:srgbClr val="1C3A5F"/>
                </a:solidFill>
                <a:latin typeface="Arial"/>
                <a:ea typeface="Arial"/>
                <a:cs typeface="Arial"/>
                <a:sym typeface="Arial"/>
              </a:rPr>
              <a:t>真正優秀的 Cowork 使用場景 (Use Case) 應具備之六大特徵</a:t>
            </a:r>
            <a:endParaRPr b="1" sz="1250">
              <a:solidFill>
                <a:srgbClr val="1C3A5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" name="Google Shape;69;p15"/>
          <p:cNvGrpSpPr/>
          <p:nvPr/>
        </p:nvGrpSpPr>
        <p:grpSpPr>
          <a:xfrm>
            <a:off x="381000" y="1466850"/>
            <a:ext cx="2533650" cy="609600"/>
            <a:chOff x="0" y="0"/>
            <a:chExt cx="2533650" cy="609600"/>
          </a:xfrm>
        </p:grpSpPr>
        <p:sp>
          <p:nvSpPr>
            <p:cNvPr id="70" name="Google Shape;70;p15"/>
            <p:cNvSpPr/>
            <p:nvPr/>
          </p:nvSpPr>
          <p:spPr>
            <a:xfrm>
              <a:off x="0" y="0"/>
              <a:ext cx="228600" cy="190500"/>
            </a:xfrm>
            <a:prstGeom prst="roundRect">
              <a:avLst>
                <a:gd fmla="val 15000" name="adj"/>
              </a:avLst>
            </a:prstGeom>
            <a:solidFill>
              <a:srgbClr val="1C3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 txBox="1"/>
            <p:nvPr/>
          </p:nvSpPr>
          <p:spPr>
            <a:xfrm>
              <a:off x="0" y="0"/>
              <a:ext cx="228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5"/>
            <p:cNvSpPr txBox="1"/>
            <p:nvPr/>
          </p:nvSpPr>
          <p:spPr>
            <a:xfrm>
              <a:off x="323850" y="0"/>
              <a:ext cx="22098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925">
                  <a:solidFill>
                    <a:srgbClr val="1C3A5F"/>
                  </a:solidFill>
                  <a:latin typeface="Arial"/>
                  <a:ea typeface="Arial"/>
                  <a:cs typeface="Arial"/>
                  <a:sym typeface="Arial"/>
                </a:rPr>
                <a:t>多步驟協作 (Multi-step)</a:t>
              </a:r>
              <a:br>
                <a:rPr b="0" lang="en" sz="92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92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非單一 prompt 可完成，需分解為多階段的複雜任務鏈。</a:t>
              </a:r>
              <a:endParaRPr b="0" sz="9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" name="Google Shape;73;p15"/>
          <p:cNvGrpSpPr/>
          <p:nvPr/>
        </p:nvGrpSpPr>
        <p:grpSpPr>
          <a:xfrm>
            <a:off x="2971800" y="1466850"/>
            <a:ext cx="2724150" cy="609600"/>
            <a:chOff x="0" y="0"/>
            <a:chExt cx="2724150" cy="609600"/>
          </a:xfrm>
        </p:grpSpPr>
        <p:sp>
          <p:nvSpPr>
            <p:cNvPr id="74" name="Google Shape;74;p15"/>
            <p:cNvSpPr/>
            <p:nvPr/>
          </p:nvSpPr>
          <p:spPr>
            <a:xfrm>
              <a:off x="0" y="0"/>
              <a:ext cx="228600" cy="190500"/>
            </a:xfrm>
            <a:prstGeom prst="roundRect">
              <a:avLst>
                <a:gd fmla="val 15000" name="adj"/>
              </a:avLst>
            </a:prstGeom>
            <a:solidFill>
              <a:srgbClr val="1C3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5"/>
            <p:cNvSpPr txBox="1"/>
            <p:nvPr/>
          </p:nvSpPr>
          <p:spPr>
            <a:xfrm>
              <a:off x="0" y="0"/>
              <a:ext cx="228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5"/>
            <p:cNvSpPr txBox="1"/>
            <p:nvPr/>
          </p:nvSpPr>
          <p:spPr>
            <a:xfrm>
              <a:off x="323850" y="0"/>
              <a:ext cx="2400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925">
                  <a:solidFill>
                    <a:srgbClr val="1C3A5F"/>
                  </a:solidFill>
                  <a:latin typeface="Arial"/>
                  <a:ea typeface="Arial"/>
                  <a:cs typeface="Arial"/>
                  <a:sym typeface="Arial"/>
                </a:rPr>
                <a:t>跨上下文 (Cross-context)</a:t>
              </a:r>
              <a:br>
                <a:rPr b="0" lang="en" sz="92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92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整合 Email, Teams, Files, 行事曆及企業內部系統資訊。</a:t>
              </a:r>
              <a:endParaRPr b="0" sz="9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" name="Google Shape;77;p15"/>
          <p:cNvGrpSpPr/>
          <p:nvPr/>
        </p:nvGrpSpPr>
        <p:grpSpPr>
          <a:xfrm>
            <a:off x="381000" y="2228850"/>
            <a:ext cx="2533650" cy="609600"/>
            <a:chOff x="0" y="0"/>
            <a:chExt cx="2533650" cy="609600"/>
          </a:xfrm>
        </p:grpSpPr>
        <p:sp>
          <p:nvSpPr>
            <p:cNvPr id="78" name="Google Shape;78;p15"/>
            <p:cNvSpPr/>
            <p:nvPr/>
          </p:nvSpPr>
          <p:spPr>
            <a:xfrm>
              <a:off x="0" y="0"/>
              <a:ext cx="228600" cy="190500"/>
            </a:xfrm>
            <a:prstGeom prst="roundRect">
              <a:avLst>
                <a:gd fmla="val 15000" name="adj"/>
              </a:avLst>
            </a:prstGeom>
            <a:solidFill>
              <a:srgbClr val="1C3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5"/>
            <p:cNvSpPr txBox="1"/>
            <p:nvPr/>
          </p:nvSpPr>
          <p:spPr>
            <a:xfrm>
              <a:off x="0" y="0"/>
              <a:ext cx="228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5"/>
            <p:cNvSpPr txBox="1"/>
            <p:nvPr/>
          </p:nvSpPr>
          <p:spPr>
            <a:xfrm>
              <a:off x="323850" y="0"/>
              <a:ext cx="22098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925">
                  <a:solidFill>
                    <a:srgbClr val="1C3A5F"/>
                  </a:solidFill>
                  <a:latin typeface="Arial"/>
                  <a:ea typeface="Arial"/>
                  <a:cs typeface="Arial"/>
                  <a:sym typeface="Arial"/>
                </a:rPr>
                <a:t>重度依賴判斷 (Judgment-heavy)</a:t>
              </a:r>
              <a:br>
                <a:rPr b="0" lang="en" sz="92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92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處理過程需仰賴邏輯推理與判斷，而非單純套用固定規則。</a:t>
              </a:r>
              <a:endParaRPr b="0" sz="9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" name="Google Shape;81;p15"/>
          <p:cNvGrpSpPr/>
          <p:nvPr/>
        </p:nvGrpSpPr>
        <p:grpSpPr>
          <a:xfrm>
            <a:off x="2971800" y="2228850"/>
            <a:ext cx="2724150" cy="609600"/>
            <a:chOff x="0" y="0"/>
            <a:chExt cx="2724150" cy="609600"/>
          </a:xfrm>
        </p:grpSpPr>
        <p:sp>
          <p:nvSpPr>
            <p:cNvPr id="82" name="Google Shape;82;p15"/>
            <p:cNvSpPr/>
            <p:nvPr/>
          </p:nvSpPr>
          <p:spPr>
            <a:xfrm>
              <a:off x="0" y="0"/>
              <a:ext cx="228600" cy="190500"/>
            </a:xfrm>
            <a:prstGeom prst="roundRect">
              <a:avLst>
                <a:gd fmla="val 15000" name="adj"/>
              </a:avLst>
            </a:prstGeom>
            <a:solidFill>
              <a:srgbClr val="1C3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15"/>
            <p:cNvSpPr txBox="1"/>
            <p:nvPr/>
          </p:nvSpPr>
          <p:spPr>
            <a:xfrm>
              <a:off x="0" y="0"/>
              <a:ext cx="228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5"/>
            <p:cNvSpPr txBox="1"/>
            <p:nvPr/>
          </p:nvSpPr>
          <p:spPr>
            <a:xfrm>
              <a:off x="323850" y="0"/>
              <a:ext cx="2400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925">
                  <a:solidFill>
                    <a:srgbClr val="1C3A5F"/>
                  </a:solidFill>
                  <a:latin typeface="Arial"/>
                  <a:ea typeface="Arial"/>
                  <a:cs typeface="Arial"/>
                  <a:sym typeface="Arial"/>
                </a:rPr>
                <a:t>產出導向 (Deliverable-oriented)</a:t>
              </a:r>
              <a:br>
                <a:rPr b="0" lang="en" sz="92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92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有明確交付物 (如簡報、報告、Excel 數據表或系統更新)。</a:t>
              </a:r>
              <a:endParaRPr b="0" sz="9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" name="Google Shape;85;p15"/>
          <p:cNvGrpSpPr/>
          <p:nvPr/>
        </p:nvGrpSpPr>
        <p:grpSpPr>
          <a:xfrm>
            <a:off x="381000" y="2990850"/>
            <a:ext cx="2533650" cy="609600"/>
            <a:chOff x="0" y="0"/>
            <a:chExt cx="2533650" cy="609600"/>
          </a:xfrm>
        </p:grpSpPr>
        <p:sp>
          <p:nvSpPr>
            <p:cNvPr id="86" name="Google Shape;86;p15"/>
            <p:cNvSpPr/>
            <p:nvPr/>
          </p:nvSpPr>
          <p:spPr>
            <a:xfrm>
              <a:off x="0" y="0"/>
              <a:ext cx="228600" cy="190500"/>
            </a:xfrm>
            <a:prstGeom prst="roundRect">
              <a:avLst>
                <a:gd fmla="val 15000" name="adj"/>
              </a:avLst>
            </a:prstGeom>
            <a:solidFill>
              <a:srgbClr val="1C3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5"/>
            <p:cNvSpPr txBox="1"/>
            <p:nvPr/>
          </p:nvSpPr>
          <p:spPr>
            <a:xfrm>
              <a:off x="0" y="0"/>
              <a:ext cx="228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5"/>
            <p:cNvSpPr txBox="1"/>
            <p:nvPr/>
          </p:nvSpPr>
          <p:spPr>
            <a:xfrm>
              <a:off x="323850" y="0"/>
              <a:ext cx="22098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925">
                  <a:solidFill>
                    <a:srgbClr val="1C3A5F"/>
                  </a:solidFill>
                  <a:latin typeface="Arial"/>
                  <a:ea typeface="Arial"/>
                  <a:cs typeface="Arial"/>
                  <a:sym typeface="Arial"/>
                </a:rPr>
                <a:t>人工覆核 (Human-reviewable)</a:t>
              </a:r>
              <a:br>
                <a:rPr b="0" lang="en" sz="92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92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AI 執行 80–95% 的前置作業，最終由人工進行審查與決策。</a:t>
              </a:r>
              <a:endParaRPr b="0" sz="9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15"/>
          <p:cNvGrpSpPr/>
          <p:nvPr/>
        </p:nvGrpSpPr>
        <p:grpSpPr>
          <a:xfrm>
            <a:off x="2971800" y="2990850"/>
            <a:ext cx="2724150" cy="609600"/>
            <a:chOff x="0" y="0"/>
            <a:chExt cx="2724150" cy="609600"/>
          </a:xfrm>
        </p:grpSpPr>
        <p:sp>
          <p:nvSpPr>
            <p:cNvPr id="90" name="Google Shape;90;p15"/>
            <p:cNvSpPr/>
            <p:nvPr/>
          </p:nvSpPr>
          <p:spPr>
            <a:xfrm>
              <a:off x="0" y="0"/>
              <a:ext cx="228600" cy="190500"/>
            </a:xfrm>
            <a:prstGeom prst="roundRect">
              <a:avLst>
                <a:gd fmla="val 15000" name="adj"/>
              </a:avLst>
            </a:prstGeom>
            <a:solidFill>
              <a:srgbClr val="1C3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5"/>
            <p:cNvSpPr txBox="1"/>
            <p:nvPr/>
          </p:nvSpPr>
          <p:spPr>
            <a:xfrm>
              <a:off x="0" y="0"/>
              <a:ext cx="228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9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1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23850" y="0"/>
              <a:ext cx="24003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925">
                  <a:solidFill>
                    <a:srgbClr val="1C3A5F"/>
                  </a:solidFill>
                  <a:latin typeface="Arial"/>
                  <a:ea typeface="Arial"/>
                  <a:cs typeface="Arial"/>
                  <a:sym typeface="Arial"/>
                </a:rPr>
                <a:t>週期或事件觸發 (Recurrent)</a:t>
              </a:r>
              <a:br>
                <a:rPr b="0" lang="en" sz="92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" sz="925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可設定於特定時間 (週/月) 或事件 (收信、會前) 自動執行。</a:t>
              </a:r>
              <a:endParaRPr b="0" sz="9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p15"/>
          <p:cNvSpPr/>
          <p:nvPr/>
        </p:nvSpPr>
        <p:spPr>
          <a:xfrm>
            <a:off x="5981700" y="914400"/>
            <a:ext cx="2933700" cy="1619100"/>
          </a:xfrm>
          <a:prstGeom prst="roundRect">
            <a:avLst>
              <a:gd fmla="val 2352" name="adj"/>
            </a:avLst>
          </a:prstGeom>
          <a:solidFill>
            <a:srgbClr val="FFFFFF"/>
          </a:solidFill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" name="Google Shape;94;p15"/>
          <p:cNvCxnSpPr/>
          <p:nvPr/>
        </p:nvCxnSpPr>
        <p:spPr>
          <a:xfrm>
            <a:off x="5981700" y="1314450"/>
            <a:ext cx="2933700" cy="0"/>
          </a:xfrm>
          <a:prstGeom prst="straightConnector1">
            <a:avLst/>
          </a:prstGeom>
          <a:solidFill>
            <a:srgbClr val="FFFFFF"/>
          </a:solidFill>
          <a:ln cap="flat" cmpd="sng" w="1905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15"/>
          <p:cNvSpPr txBox="1"/>
          <p:nvPr/>
        </p:nvSpPr>
        <p:spPr>
          <a:xfrm>
            <a:off x="6134100" y="1028700"/>
            <a:ext cx="2628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lang="en" sz="105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優先排除的三類不適用場景</a:t>
            </a:r>
            <a:endParaRPr b="1" sz="1050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5"/>
          <p:cNvSpPr txBox="1"/>
          <p:nvPr/>
        </p:nvSpPr>
        <p:spPr>
          <a:xfrm>
            <a:off x="6134100" y="1466850"/>
            <a:ext cx="2628900" cy="9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25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✕ 單一 Prompt 即可完成之工作</a:t>
            </a:r>
            <a:br>
              <a:rPr b="0" lang="en" sz="9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" sz="9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 → 直接使用 Copilot Chat 即可解決</a:t>
            </a:r>
            <a:endParaRPr b="0" sz="925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925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✕ 高度確定性、固定流程之工作</a:t>
            </a:r>
            <a:br>
              <a:rPr b="0" lang="en" sz="9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" sz="9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 → 使用 RPA / Specialized Agent 更合算</a:t>
            </a:r>
            <a:endParaRPr b="0" sz="925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" sz="925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✕ 高風險且不可逆之關鍵決策</a:t>
            </a:r>
            <a:br>
              <a:rPr b="0" lang="en" sz="9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lang="en" sz="925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 → 不適合作為首批 Cowork 試點項目</a:t>
            </a:r>
            <a:endParaRPr b="0" sz="925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5981700" y="2705100"/>
            <a:ext cx="2933700" cy="1619100"/>
          </a:xfrm>
          <a:prstGeom prst="roundRect">
            <a:avLst>
              <a:gd fmla="val 2352" name="adj"/>
            </a:avLst>
          </a:prstGeom>
          <a:solidFill>
            <a:srgbClr val="1C3A5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6134100" y="2838450"/>
            <a:ext cx="2628900" cy="13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微軟導入核心原則：Lean before agents</a:t>
            </a:r>
            <a:endParaRPr b="1" sz="11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在自動化之前，必須「重新設計」工作流。切忌將 AI 直接疊加在原本就混亂無效率的既有流程上。</a:t>
            </a:r>
            <a:endParaRPr b="0" sz="9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300"/>
              </a:spcAft>
              <a:buNone/>
            </a:pPr>
            <a:r>
              <a:rPr b="1" lang="en" sz="950">
                <a:solidFill>
                  <a:srgbClr val="FFD700"/>
                </a:solidFill>
                <a:latin typeface="Arial"/>
                <a:ea typeface="Arial"/>
                <a:cs typeface="Arial"/>
                <a:sym typeface="Arial"/>
              </a:rPr>
              <a:t>實例研究：</a:t>
            </a:r>
            <a:r>
              <a:rPr b="0" lang="en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Microsoft 雲端供應鏈團隊在導入 70+ 個智慧 Agent 之前，先將 6 個端到端工作流進行了深度簡化與再造。</a:t>
            </a:r>
            <a:endParaRPr b="0" sz="9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228600" y="4457700"/>
            <a:ext cx="8686800" cy="342900"/>
          </a:xfrm>
          <a:prstGeom prst="roundRect">
            <a:avLst>
              <a:gd fmla="val 11111" name="adj"/>
            </a:avLst>
          </a:prstGeom>
          <a:solidFill>
            <a:srgbClr val="1C3A5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381000" y="4543425"/>
            <a:ext cx="8382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心法：先精簡流程 (Lean)，再建立協作 (Cowork) ✕ 聚焦高判斷與跨情境，排除單一與低價值工作</a:t>
            </a:r>
            <a:endParaRPr b="1" sz="11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285750" y="114300"/>
            <a:ext cx="857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lang="en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優質 Cowork 案例的特徵與導入先決原則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0" y="685800"/>
            <a:ext cx="9144000" cy="477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285750" y="95250"/>
            <a:ext cx="8572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依據 Cowork 適用特徵，建議第一波聚焦 4 類高價值知識工作場景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" name="Google Shape;110;p16"/>
          <p:cNvGrpSpPr/>
          <p:nvPr/>
        </p:nvGrpSpPr>
        <p:grpSpPr>
          <a:xfrm>
            <a:off x="285750" y="1047750"/>
            <a:ext cx="5810100" cy="228600"/>
            <a:chOff x="285750" y="1047750"/>
            <a:chExt cx="5810100" cy="228600"/>
          </a:xfrm>
        </p:grpSpPr>
        <p:sp>
          <p:nvSpPr>
            <p:cNvPr id="111" name="Google Shape;111;p16"/>
            <p:cNvSpPr/>
            <p:nvPr/>
          </p:nvSpPr>
          <p:spPr>
            <a:xfrm>
              <a:off x="285750" y="1047750"/>
              <a:ext cx="1809600" cy="228600"/>
            </a:xfrm>
            <a:prstGeom prst="roundRect">
              <a:avLst>
                <a:gd fmla="val 50000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6"/>
            <p:cNvSpPr txBox="1"/>
            <p:nvPr/>
          </p:nvSpPr>
          <p:spPr>
            <a:xfrm>
              <a:off x="285750" y="1047750"/>
              <a:ext cx="1809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研究 / 準備</a:t>
              </a:r>
              <a:endParaRPr b="1" sz="90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6"/>
            <p:cNvSpPr/>
            <p:nvPr/>
          </p:nvSpPr>
          <p:spPr>
            <a:xfrm>
              <a:off x="2286000" y="1047750"/>
              <a:ext cx="1809600" cy="228600"/>
            </a:xfrm>
            <a:prstGeom prst="roundRect">
              <a:avLst>
                <a:gd fmla="val 50000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6"/>
            <p:cNvSpPr txBox="1"/>
            <p:nvPr/>
          </p:nvSpPr>
          <p:spPr>
            <a:xfrm>
              <a:off x="2286000" y="1047750"/>
              <a:ext cx="1809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協作 / 決策</a:t>
              </a:r>
              <a:endParaRPr b="1" sz="90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6"/>
            <p:cNvSpPr/>
            <p:nvPr/>
          </p:nvSpPr>
          <p:spPr>
            <a:xfrm>
              <a:off x="4286250" y="1047750"/>
              <a:ext cx="1809600" cy="228600"/>
            </a:xfrm>
            <a:prstGeom prst="roundRect">
              <a:avLst>
                <a:gd fmla="val 50000" name="adj"/>
              </a:avLst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6"/>
            <p:cNvSpPr txBox="1"/>
            <p:nvPr/>
          </p:nvSpPr>
          <p:spPr>
            <a:xfrm>
              <a:off x="4286250" y="1047750"/>
              <a:ext cx="1809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執行 / 推進</a:t>
              </a:r>
              <a:endParaRPr b="1" sz="90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16"/>
          <p:cNvSpPr txBox="1"/>
          <p:nvPr/>
        </p:nvSpPr>
        <p:spPr>
          <a:xfrm>
            <a:off x="285750" y="40005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選取涵蓋研究、會議、專案管理與知識調用的代表性場景，後續逐一驗證其業務價值與導入可行性</a:t>
            </a:r>
            <a:endParaRPr b="1" sz="9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16"/>
          <p:cNvGrpSpPr/>
          <p:nvPr/>
        </p:nvGrpSpPr>
        <p:grpSpPr>
          <a:xfrm>
            <a:off x="285750" y="1381125"/>
            <a:ext cx="5810100" cy="1524000"/>
            <a:chOff x="285750" y="1381125"/>
            <a:chExt cx="5810100" cy="1524000"/>
          </a:xfrm>
        </p:grpSpPr>
        <p:sp>
          <p:nvSpPr>
            <p:cNvPr id="119" name="Google Shape;119;p16"/>
            <p:cNvSpPr/>
            <p:nvPr/>
          </p:nvSpPr>
          <p:spPr>
            <a:xfrm>
              <a:off x="285750" y="1381125"/>
              <a:ext cx="1809600" cy="1524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4300">
              <a:solidFill>
                <a:srgbClr val="005A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6"/>
            <p:cNvSpPr txBox="1"/>
            <p:nvPr/>
          </p:nvSpPr>
          <p:spPr>
            <a:xfrm>
              <a:off x="381000" y="1476375"/>
              <a:ext cx="16191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1" sz="180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Research Agent</a:t>
              </a:r>
              <a:endParaRPr b="1" sz="110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找得到</a:t>
              </a:r>
              <a:endParaRPr b="1" sz="90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🔎 搜尋 / 閱讀</a:t>
              </a:r>
              <a:endParaRPr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📊 分析 / 初稿</a:t>
              </a:r>
              <a:endParaRPr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2286000" y="1381125"/>
              <a:ext cx="1809600" cy="1524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4300">
              <a:solidFill>
                <a:srgbClr val="005A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6"/>
            <p:cNvSpPr txBox="1"/>
            <p:nvPr/>
          </p:nvSpPr>
          <p:spPr>
            <a:xfrm>
              <a:off x="2381250" y="1476375"/>
              <a:ext cx="16191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1" sz="180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Meeting Record Agent</a:t>
              </a:r>
              <a:endParaRPr b="1" sz="110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記錄得到</a:t>
              </a:r>
              <a:endParaRPr b="1" sz="90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🎙 討論 / 決議</a:t>
              </a:r>
              <a:endParaRPr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📝 Action Item</a:t>
              </a:r>
              <a:endParaRPr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6"/>
            <p:cNvSpPr/>
            <p:nvPr/>
          </p:nvSpPr>
          <p:spPr>
            <a:xfrm>
              <a:off x="4286250" y="1381125"/>
              <a:ext cx="1809600" cy="1524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14300">
              <a:solidFill>
                <a:srgbClr val="005A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6"/>
            <p:cNvSpPr txBox="1"/>
            <p:nvPr/>
          </p:nvSpPr>
          <p:spPr>
            <a:xfrm>
              <a:off x="4381500" y="1476375"/>
              <a:ext cx="16191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1" sz="180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PMO Agent</a:t>
              </a:r>
              <a:endParaRPr b="1" sz="110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90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追得到</a:t>
              </a:r>
              <a:endParaRPr b="1" sz="90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📍 進度 / Owner</a:t>
              </a:r>
              <a:endParaRPr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⚠️ Risk / Status</a:t>
              </a:r>
              <a:endParaRPr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16"/>
          <p:cNvSpPr txBox="1"/>
          <p:nvPr/>
        </p:nvSpPr>
        <p:spPr>
          <a:xfrm>
            <a:off x="285750" y="809625"/>
            <a:ext cx="6381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前述條件並非抽象原則，而可落到知識工作者每天實際發生的四類高頻工作。</a:t>
            </a:r>
            <a:endParaRPr b="1" sz="85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" name="Google Shape;126;p16"/>
          <p:cNvGrpSpPr/>
          <p:nvPr/>
        </p:nvGrpSpPr>
        <p:grpSpPr>
          <a:xfrm>
            <a:off x="6286500" y="1047752"/>
            <a:ext cx="2571900" cy="3048608"/>
            <a:chOff x="6286500" y="1047750"/>
            <a:chExt cx="2571900" cy="3286200"/>
          </a:xfrm>
        </p:grpSpPr>
        <p:sp>
          <p:nvSpPr>
            <p:cNvPr id="127" name="Google Shape;127;p16"/>
            <p:cNvSpPr/>
            <p:nvPr/>
          </p:nvSpPr>
          <p:spPr>
            <a:xfrm>
              <a:off x="6286500" y="1047750"/>
              <a:ext cx="2571900" cy="3286200"/>
            </a:xfrm>
            <a:prstGeom prst="roundRect">
              <a:avLst>
                <a:gd fmla="val 4444" name="adj"/>
              </a:avLst>
            </a:prstGeom>
            <a:solidFill>
              <a:srgbClr val="EBF3F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6"/>
            <p:cNvSpPr txBox="1"/>
            <p:nvPr/>
          </p:nvSpPr>
          <p:spPr>
            <a:xfrm>
              <a:off x="6457950" y="1238250"/>
              <a:ext cx="2229000" cy="29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💡 後續將逐案回答 3 個問題</a:t>
              </a:r>
              <a:endParaRPr b="1" sz="110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① Value｜為何值得做？</a:t>
              </a:r>
              <a:endParaRPr b="1" sz="95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能消除哪些痛點、釋放哪些高價值工時</a:t>
              </a:r>
              <a:endParaRPr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② Cowork Design｜如何做到？</a:t>
              </a:r>
              <a:endParaRPr b="1" sz="95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需要哪些 Context, Skills, Trigger 與 Output</a:t>
              </a:r>
              <a:endParaRPr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③ Transformation｜工作如何改變？</a:t>
              </a:r>
              <a:endParaRPr b="1" sz="95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lnSpc>
                  <a:spcPct val="200000"/>
                </a:lnSpc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用 As-is → To-be 具體呈現導入前後流程</a:t>
              </a:r>
              <a:endParaRPr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" name="Google Shape;129;p16"/>
          <p:cNvGrpSpPr/>
          <p:nvPr/>
        </p:nvGrpSpPr>
        <p:grpSpPr>
          <a:xfrm>
            <a:off x="285750" y="4476750"/>
            <a:ext cx="8572500" cy="400200"/>
            <a:chOff x="285750" y="4476750"/>
            <a:chExt cx="8572500" cy="400200"/>
          </a:xfrm>
        </p:grpSpPr>
        <p:sp>
          <p:nvSpPr>
            <p:cNvPr id="130" name="Google Shape;130;p16"/>
            <p:cNvSpPr/>
            <p:nvPr/>
          </p:nvSpPr>
          <p:spPr>
            <a:xfrm>
              <a:off x="285750" y="4476750"/>
              <a:ext cx="8572500" cy="400200"/>
            </a:xfrm>
            <a:prstGeom prst="roundRect">
              <a:avLst>
                <a:gd fmla="val 14285" name="adj"/>
              </a:avLst>
            </a:prstGeom>
            <a:solidFill>
              <a:srgbClr val="122B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  <p:sp>
          <p:nvSpPr>
            <p:cNvPr id="131" name="Google Shape;131;p16"/>
            <p:cNvSpPr txBox="1"/>
            <p:nvPr/>
          </p:nvSpPr>
          <p:spPr>
            <a:xfrm>
              <a:off x="476250" y="4476750"/>
              <a:ext cx="819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四項場景兼具高知識密度、多步驟協作與明確產出，可作為 Cowork 第一波 PoC 候選。</a:t>
              </a:r>
              <a:endParaRPr b="1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" name="Google Shape;132;p16"/>
          <p:cNvSpPr/>
          <p:nvPr/>
        </p:nvSpPr>
        <p:spPr>
          <a:xfrm>
            <a:off x="2139462" y="2143125"/>
            <a:ext cx="9540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9050">
            <a:solidFill>
              <a:srgbClr val="005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3" name="Google Shape;133;p16"/>
          <p:cNvGrpSpPr/>
          <p:nvPr/>
        </p:nvGrpSpPr>
        <p:grpSpPr>
          <a:xfrm>
            <a:off x="285600" y="3216685"/>
            <a:ext cx="5810400" cy="714300"/>
            <a:chOff x="285750" y="3048000"/>
            <a:chExt cx="5810400" cy="714300"/>
          </a:xfrm>
        </p:grpSpPr>
        <p:sp>
          <p:nvSpPr>
            <p:cNvPr id="134" name="Google Shape;134;p16"/>
            <p:cNvSpPr/>
            <p:nvPr/>
          </p:nvSpPr>
          <p:spPr>
            <a:xfrm>
              <a:off x="285750" y="3048000"/>
              <a:ext cx="5810400" cy="714300"/>
            </a:xfrm>
            <a:prstGeom prst="roundRect">
              <a:avLst>
                <a:gd fmla="val 10666" name="adj"/>
              </a:avLst>
            </a:prstGeom>
            <a:solidFill>
              <a:srgbClr val="FFFFFF"/>
            </a:solidFill>
            <a:ln cap="flat" cmpd="sng" w="19050">
              <a:solidFill>
                <a:srgbClr val="005A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6"/>
            <p:cNvSpPr txBox="1"/>
            <p:nvPr/>
          </p:nvSpPr>
          <p:spPr>
            <a:xfrm>
              <a:off x="476250" y="3143250"/>
              <a:ext cx="54294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0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04 </a:t>
              </a:r>
              <a:r>
                <a:rPr b="1" lang="en" sz="12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Knowledge Management Agent </a:t>
              </a:r>
              <a:r>
                <a:rPr b="0" lang="en" sz="1200">
                  <a:solidFill>
                    <a:srgbClr val="A0AEC0"/>
                  </a:solidFill>
                  <a:latin typeface="Arial"/>
                  <a:ea typeface="Arial"/>
                  <a:cs typeface="Arial"/>
                  <a:sym typeface="Arial"/>
                </a:rPr>
                <a:t>|</a:t>
              </a:r>
              <a:r>
                <a:rPr b="1" lang="en" sz="12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lang="en" sz="110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問得到</a:t>
              </a:r>
              <a:endParaRPr b="1" sz="120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🧠 跨專案、文件、會議與工作成果，提供可追溯的即時知識調用</a:t>
              </a:r>
              <a:endParaRPr sz="9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" name="Google Shape;136;p16"/>
          <p:cNvSpPr/>
          <p:nvPr/>
        </p:nvSpPr>
        <p:spPr>
          <a:xfrm>
            <a:off x="2215662" y="2114550"/>
            <a:ext cx="47700" cy="5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05A9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4128721" y="2143125"/>
            <a:ext cx="95400" cy="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9050">
            <a:solidFill>
              <a:srgbClr val="005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4204921" y="2114550"/>
            <a:ext cx="47700" cy="57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6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005A9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" name="Google Shape;139;p16"/>
          <p:cNvGrpSpPr/>
          <p:nvPr/>
        </p:nvGrpSpPr>
        <p:grpSpPr>
          <a:xfrm>
            <a:off x="1228725" y="2933700"/>
            <a:ext cx="4305300" cy="219150"/>
            <a:chOff x="942975" y="1933575"/>
            <a:chExt cx="4305300" cy="219150"/>
          </a:xfrm>
        </p:grpSpPr>
        <p:pic>
          <p:nvPicPr>
            <p:cNvPr id="140" name="Google Shape;140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42975" y="1933575"/>
              <a:ext cx="4305300" cy="123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086100" y="2047875"/>
              <a:ext cx="19200" cy="8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6"/>
            <p:cNvSpPr/>
            <p:nvPr/>
          </p:nvSpPr>
          <p:spPr>
            <a:xfrm>
              <a:off x="3067050" y="210502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A0AEC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3" name="Google Shape;143;p16"/>
          <p:cNvSpPr/>
          <p:nvPr/>
        </p:nvSpPr>
        <p:spPr>
          <a:xfrm>
            <a:off x="1097975" y="1452025"/>
            <a:ext cx="911700" cy="228600"/>
          </a:xfrm>
          <a:prstGeom prst="rect">
            <a:avLst/>
          </a:prstGeom>
          <a:solidFill>
            <a:srgbClr val="FFD700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AI </a:t>
            </a:r>
            <a:r>
              <a:rPr b="1" lang="en" sz="1200"/>
              <a:t>研究員</a:t>
            </a:r>
            <a:endParaRPr b="1" sz="1200"/>
          </a:p>
        </p:txBody>
      </p:sp>
      <p:sp>
        <p:nvSpPr>
          <p:cNvPr id="144" name="Google Shape;144;p16"/>
          <p:cNvSpPr/>
          <p:nvPr/>
        </p:nvSpPr>
        <p:spPr>
          <a:xfrm>
            <a:off x="3087325" y="1452025"/>
            <a:ext cx="911700" cy="228600"/>
          </a:xfrm>
          <a:prstGeom prst="rect">
            <a:avLst/>
          </a:prstGeom>
          <a:solidFill>
            <a:srgbClr val="FFD700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AI </a:t>
            </a:r>
            <a:r>
              <a:rPr b="1" lang="en" sz="1200"/>
              <a:t>記錄員</a:t>
            </a:r>
            <a:endParaRPr b="1" sz="1200"/>
          </a:p>
        </p:txBody>
      </p:sp>
      <p:sp>
        <p:nvSpPr>
          <p:cNvPr id="145" name="Google Shape;145;p16"/>
          <p:cNvSpPr/>
          <p:nvPr/>
        </p:nvSpPr>
        <p:spPr>
          <a:xfrm>
            <a:off x="5234500" y="1452025"/>
            <a:ext cx="753900" cy="228600"/>
          </a:xfrm>
          <a:prstGeom prst="rect">
            <a:avLst/>
          </a:prstGeom>
          <a:solidFill>
            <a:srgbClr val="FFD700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AI PM</a:t>
            </a:r>
            <a:endParaRPr b="1" sz="1200"/>
          </a:p>
        </p:txBody>
      </p:sp>
      <p:sp>
        <p:nvSpPr>
          <p:cNvPr id="146" name="Google Shape;146;p16"/>
          <p:cNvSpPr/>
          <p:nvPr/>
        </p:nvSpPr>
        <p:spPr>
          <a:xfrm>
            <a:off x="4918900" y="3286125"/>
            <a:ext cx="1069500" cy="400200"/>
          </a:xfrm>
          <a:prstGeom prst="rect">
            <a:avLst/>
          </a:prstGeom>
          <a:solidFill>
            <a:srgbClr val="FFD700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AI </a:t>
            </a:r>
            <a:r>
              <a:rPr b="1" lang="en" sz="1200"/>
              <a:t>凱證老臣</a:t>
            </a:r>
            <a:endParaRPr b="1"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（萬事通）</a:t>
            </a:r>
            <a:endParaRPr b="1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0" y="685800"/>
            <a:ext cx="9144000" cy="477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285750" y="114300"/>
            <a:ext cx="857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01｜Research Agent — 從「找資料」轉向「直接開始判斷」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" name="Google Shape;155;p17"/>
          <p:cNvGrpSpPr/>
          <p:nvPr/>
        </p:nvGrpSpPr>
        <p:grpSpPr>
          <a:xfrm>
            <a:off x="285750" y="904875"/>
            <a:ext cx="4143300" cy="1428900"/>
            <a:chOff x="0" y="0"/>
            <a:chExt cx="4143300" cy="1428900"/>
          </a:xfrm>
        </p:grpSpPr>
        <p:sp>
          <p:nvSpPr>
            <p:cNvPr id="156" name="Google Shape;156;p17"/>
            <p:cNvSpPr/>
            <p:nvPr/>
          </p:nvSpPr>
          <p:spPr>
            <a:xfrm>
              <a:off x="0" y="0"/>
              <a:ext cx="4143300" cy="1428900"/>
            </a:xfrm>
            <a:prstGeom prst="roundRect">
              <a:avLst>
                <a:gd fmla="val 2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0" y="0"/>
              <a:ext cx="4143300" cy="304800"/>
            </a:xfrm>
            <a:custGeom>
              <a:rect b="b" l="l" r="r" t="t"/>
              <a:pathLst>
                <a:path extrusionOk="0" h="120000" w="120000">
                  <a:moveTo>
                    <a:pt x="0" y="15000"/>
                  </a:moveTo>
                  <a:lnTo>
                    <a:pt x="1103" y="0"/>
                  </a:lnTo>
                  <a:lnTo>
                    <a:pt x="118897" y="0"/>
                  </a:lnTo>
                  <a:lnTo>
                    <a:pt x="120000" y="15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22B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17"/>
            <p:cNvSpPr txBox="1"/>
            <p:nvPr/>
          </p:nvSpPr>
          <p:spPr>
            <a:xfrm>
              <a:off x="142875" y="57150"/>
              <a:ext cx="3857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核心價值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7"/>
            <p:cNvSpPr txBox="1"/>
            <p:nvPr/>
          </p:nvSpPr>
          <p:spPr>
            <a:xfrm>
              <a:off x="142875" y="419100"/>
              <a:ext cx="38577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將研究工作中大量的「搜尋、閱讀、整理、交叉驗證與格式化」交由 Cowork，自動形成具來源、具架構的研究初稿。</a:t>
              </a:r>
              <a:endParaRPr sz="100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100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使同仁的工作核心從 information gathering 轉向 framing、judgment 與 recommendation。</a:t>
              </a:r>
              <a:endParaRPr b="0" sz="100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" name="Google Shape;160;p17"/>
          <p:cNvGrpSpPr/>
          <p:nvPr/>
        </p:nvGrpSpPr>
        <p:grpSpPr>
          <a:xfrm>
            <a:off x="285750" y="2476500"/>
            <a:ext cx="4143300" cy="2517616"/>
            <a:chOff x="0" y="0"/>
            <a:chExt cx="4143300" cy="2381400"/>
          </a:xfrm>
        </p:grpSpPr>
        <p:sp>
          <p:nvSpPr>
            <p:cNvPr id="161" name="Google Shape;161;p17"/>
            <p:cNvSpPr/>
            <p:nvPr/>
          </p:nvSpPr>
          <p:spPr>
            <a:xfrm>
              <a:off x="0" y="0"/>
              <a:ext cx="4143300" cy="2381400"/>
            </a:xfrm>
            <a:prstGeom prst="roundRect">
              <a:avLst>
                <a:gd fmla="val 16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0" y="0"/>
              <a:ext cx="4143300" cy="304800"/>
            </a:xfrm>
            <a:custGeom>
              <a:rect b="b" l="l" r="r" t="t"/>
              <a:pathLst>
                <a:path extrusionOk="0" h="120000" w="120000">
                  <a:moveTo>
                    <a:pt x="0" y="15000"/>
                  </a:moveTo>
                  <a:lnTo>
                    <a:pt x="1103" y="0"/>
                  </a:lnTo>
                  <a:lnTo>
                    <a:pt x="118897" y="0"/>
                  </a:lnTo>
                  <a:lnTo>
                    <a:pt x="120000" y="15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22B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7"/>
            <p:cNvSpPr txBox="1"/>
            <p:nvPr/>
          </p:nvSpPr>
          <p:spPr>
            <a:xfrm>
              <a:off x="142875" y="57150"/>
              <a:ext cx="3857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Cowork 架構設定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7"/>
            <p:cNvSpPr txBox="1"/>
            <p:nvPr/>
          </p:nvSpPr>
          <p:spPr>
            <a:xfrm>
              <a:off x="142875" y="400050"/>
              <a:ext cx="3857700" cy="188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889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122B46"/>
                </a:buClr>
                <a:buSzPts val="950"/>
                <a:buFont typeface="Arial"/>
                <a:buChar char="●"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Context：</a:t>
              </a:r>
              <a:r>
                <a:rPr lang="en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指定 SharePoint / OneDrive / Teams / 外部研究來源</a:t>
              </a:r>
              <a:endParaRPr sz="95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89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122B46"/>
                </a:buClr>
                <a:buSzPts val="950"/>
                <a:buFont typeface="Arial"/>
                <a:buChar char="●"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Custom Skill：</a:t>
              </a:r>
              <a:r>
                <a:rPr lang="en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公司 Research Framework、source hierarchy、分析維度、引用規則、output template</a:t>
              </a:r>
              <a:endParaRPr sz="95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89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122B46"/>
                </a:buClr>
                <a:buSzPts val="950"/>
                <a:buFont typeface="Arial"/>
                <a:buChar char="●"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Built-in Skills：</a:t>
              </a:r>
              <a:r>
                <a:rPr lang="en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Deep Research、Enterprise Search、Word / Excel / PowerPoint</a:t>
              </a:r>
              <a:endParaRPr sz="95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89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122B46"/>
                </a:buClr>
                <a:buSzPts val="950"/>
                <a:buFont typeface="Arial"/>
                <a:buChar char="●"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Guardrails：</a:t>
              </a:r>
              <a:r>
                <a:rPr lang="en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來源可信度、需交叉驗證事項、不得推論項目、人工 review checkpoint</a:t>
              </a:r>
              <a:endParaRPr sz="95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892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122B46"/>
                </a:buClr>
                <a:buSzPts val="950"/>
                <a:buFont typeface="Arial"/>
                <a:buChar char="●"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Output：</a:t>
              </a:r>
              <a:r>
                <a:rPr lang="en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Research memo / benchmark table / management deck 初稿</a:t>
              </a:r>
              <a:endParaRPr sz="95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334455"/>
                  </a:solidFill>
                  <a:highlight>
                    <a:srgbClr val="F0F4F8"/>
                  </a:highlight>
                  <a:latin typeface="Arial"/>
                  <a:ea typeface="Arial"/>
                  <a:cs typeface="Arial"/>
                  <a:sym typeface="Arial"/>
                </a:rPr>
                <a:t>Cowork 的 skills 可以把「怎麼研究、怎麼寫」固化成 reusable workflow。</a:t>
              </a:r>
              <a:endParaRPr sz="900">
                <a:solidFill>
                  <a:srgbClr val="334455"/>
                </a:solidFill>
                <a:highlight>
                  <a:srgbClr val="F0F4F8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" name="Google Shape;165;p17"/>
          <p:cNvGrpSpPr/>
          <p:nvPr/>
        </p:nvGrpSpPr>
        <p:grpSpPr>
          <a:xfrm>
            <a:off x="4619625" y="904875"/>
            <a:ext cx="4238700" cy="4089241"/>
            <a:chOff x="0" y="0"/>
            <a:chExt cx="4238700" cy="4861200"/>
          </a:xfrm>
        </p:grpSpPr>
        <p:sp>
          <p:nvSpPr>
            <p:cNvPr id="166" name="Google Shape;166;p17"/>
            <p:cNvSpPr/>
            <p:nvPr/>
          </p:nvSpPr>
          <p:spPr>
            <a:xfrm>
              <a:off x="0" y="0"/>
              <a:ext cx="4238700" cy="4861200"/>
            </a:xfrm>
            <a:prstGeom prst="roundRect">
              <a:avLst>
                <a:gd fmla="val 9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7"/>
            <p:cNvSpPr/>
            <p:nvPr/>
          </p:nvSpPr>
          <p:spPr>
            <a:xfrm>
              <a:off x="0" y="0"/>
              <a:ext cx="4238700" cy="304800"/>
            </a:xfrm>
            <a:custGeom>
              <a:rect b="b" l="l" r="r" t="t"/>
              <a:pathLst>
                <a:path extrusionOk="0" h="120000" w="120000">
                  <a:moveTo>
                    <a:pt x="0" y="15000"/>
                  </a:moveTo>
                  <a:lnTo>
                    <a:pt x="1079" y="0"/>
                  </a:lnTo>
                  <a:lnTo>
                    <a:pt x="118921" y="0"/>
                  </a:lnTo>
                  <a:lnTo>
                    <a:pt x="120000" y="15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22B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17"/>
            <p:cNvSpPr txBox="1"/>
            <p:nvPr/>
          </p:nvSpPr>
          <p:spPr>
            <a:xfrm>
              <a:off x="142875" y="57150"/>
              <a:ext cx="3952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流程對照 AS-IS vs. TO-BE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7"/>
            <p:cNvSpPr/>
            <p:nvPr/>
          </p:nvSpPr>
          <p:spPr>
            <a:xfrm>
              <a:off x="190500" y="419100"/>
              <a:ext cx="1809600" cy="228600"/>
            </a:xfrm>
            <a:prstGeom prst="roundRect">
              <a:avLst>
                <a:gd fmla="val 12500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17"/>
            <p:cNvSpPr txBox="1"/>
            <p:nvPr/>
          </p:nvSpPr>
          <p:spPr>
            <a:xfrm>
              <a:off x="190500" y="419100"/>
              <a:ext cx="1809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991B1B"/>
                  </a:solidFill>
                  <a:latin typeface="Arial"/>
                  <a:ea typeface="Arial"/>
                  <a:cs typeface="Arial"/>
                  <a:sym typeface="Arial"/>
                </a:rPr>
                <a:t>AS-IS (傳統流程)</a:t>
              </a:r>
              <a:endParaRPr b="1" sz="950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1" name="Google Shape;171;p17"/>
            <p:cNvGrpSpPr/>
            <p:nvPr/>
          </p:nvGrpSpPr>
          <p:grpSpPr>
            <a:xfrm>
              <a:off x="190500" y="742950"/>
              <a:ext cx="1809600" cy="362100"/>
              <a:chOff x="0" y="0"/>
              <a:chExt cx="1809600" cy="362100"/>
            </a:xfrm>
          </p:grpSpPr>
          <p:sp>
            <p:nvSpPr>
              <p:cNvPr id="172" name="Google Shape;172;p17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7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定義研究問題</a:t>
                </a:r>
                <a:endParaRPr b="0"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4" name="Google Shape;174;p17"/>
            <p:cNvSpPr/>
            <p:nvPr/>
          </p:nvSpPr>
          <p:spPr>
            <a:xfrm>
              <a:off x="1095375" y="1104900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17"/>
            <p:cNvSpPr/>
            <p:nvPr/>
          </p:nvSpPr>
          <p:spPr>
            <a:xfrm>
              <a:off x="1066800" y="1181100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6" name="Google Shape;176;p17"/>
            <p:cNvGrpSpPr/>
            <p:nvPr/>
          </p:nvGrpSpPr>
          <p:grpSpPr>
            <a:xfrm>
              <a:off x="190500" y="1247775"/>
              <a:ext cx="1809600" cy="362100"/>
              <a:chOff x="0" y="0"/>
              <a:chExt cx="1809600" cy="362100"/>
            </a:xfrm>
          </p:grpSpPr>
          <p:sp>
            <p:nvSpPr>
              <p:cNvPr id="177" name="Google Shape;177;p17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7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搜尋內外部資料</a:t>
                </a:r>
                <a:endParaRPr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9" name="Google Shape;179;p17"/>
            <p:cNvSpPr/>
            <p:nvPr/>
          </p:nvSpPr>
          <p:spPr>
            <a:xfrm>
              <a:off x="1095375" y="1609725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17"/>
            <p:cNvSpPr/>
            <p:nvPr/>
          </p:nvSpPr>
          <p:spPr>
            <a:xfrm>
              <a:off x="1066800" y="168592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1" name="Google Shape;181;p17"/>
            <p:cNvGrpSpPr/>
            <p:nvPr/>
          </p:nvGrpSpPr>
          <p:grpSpPr>
            <a:xfrm>
              <a:off x="190500" y="1752600"/>
              <a:ext cx="1809600" cy="362100"/>
              <a:chOff x="0" y="0"/>
              <a:chExt cx="1809600" cy="362100"/>
            </a:xfrm>
          </p:grpSpPr>
          <p:sp>
            <p:nvSpPr>
              <p:cNvPr id="182" name="Google Shape;182;p17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7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逐份下載、閱讀</a:t>
                </a:r>
                <a:endParaRPr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4" name="Google Shape;184;p17"/>
            <p:cNvSpPr/>
            <p:nvPr/>
          </p:nvSpPr>
          <p:spPr>
            <a:xfrm>
              <a:off x="1095375" y="2114550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7"/>
            <p:cNvSpPr/>
            <p:nvPr/>
          </p:nvSpPr>
          <p:spPr>
            <a:xfrm>
              <a:off x="1066800" y="2190750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6" name="Google Shape;186;p17"/>
            <p:cNvGrpSpPr/>
            <p:nvPr/>
          </p:nvGrpSpPr>
          <p:grpSpPr>
            <a:xfrm>
              <a:off x="190500" y="2257425"/>
              <a:ext cx="1809600" cy="362100"/>
              <a:chOff x="0" y="0"/>
              <a:chExt cx="1809600" cy="362100"/>
            </a:xfrm>
          </p:grpSpPr>
          <p:sp>
            <p:nvSpPr>
              <p:cNvPr id="187" name="Google Shape;187;p17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7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手動摘錄重點</a:t>
                </a:r>
                <a:endParaRPr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9" name="Google Shape;189;p17"/>
            <p:cNvSpPr/>
            <p:nvPr/>
          </p:nvSpPr>
          <p:spPr>
            <a:xfrm>
              <a:off x="1095375" y="2619375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7"/>
            <p:cNvSpPr/>
            <p:nvPr/>
          </p:nvSpPr>
          <p:spPr>
            <a:xfrm>
              <a:off x="1066800" y="26955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1" name="Google Shape;191;p17"/>
            <p:cNvGrpSpPr/>
            <p:nvPr/>
          </p:nvGrpSpPr>
          <p:grpSpPr>
            <a:xfrm>
              <a:off x="190500" y="2762250"/>
              <a:ext cx="1809600" cy="362100"/>
              <a:chOff x="0" y="0"/>
              <a:chExt cx="1809600" cy="362100"/>
            </a:xfrm>
          </p:grpSpPr>
          <p:sp>
            <p:nvSpPr>
              <p:cNvPr id="192" name="Google Shape;192;p17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7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建 Excel / comparison table</a:t>
                </a:r>
                <a:endParaRPr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4" name="Google Shape;194;p17"/>
            <p:cNvSpPr/>
            <p:nvPr/>
          </p:nvSpPr>
          <p:spPr>
            <a:xfrm>
              <a:off x="1095375" y="3124200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1066800" y="3200400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6" name="Google Shape;196;p17"/>
            <p:cNvGrpSpPr/>
            <p:nvPr/>
          </p:nvGrpSpPr>
          <p:grpSpPr>
            <a:xfrm>
              <a:off x="190500" y="3267075"/>
              <a:ext cx="1809600" cy="362100"/>
              <a:chOff x="0" y="0"/>
              <a:chExt cx="1809600" cy="362100"/>
            </a:xfrm>
          </p:grpSpPr>
          <p:sp>
            <p:nvSpPr>
              <p:cNvPr id="197" name="Google Shape;197;p17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17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開始分析</a:t>
                </a:r>
                <a:endParaRPr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9" name="Google Shape;199;p17"/>
            <p:cNvSpPr/>
            <p:nvPr/>
          </p:nvSpPr>
          <p:spPr>
            <a:xfrm>
              <a:off x="1095375" y="3629025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1066800" y="370522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1" name="Google Shape;201;p17"/>
            <p:cNvGrpSpPr/>
            <p:nvPr/>
          </p:nvGrpSpPr>
          <p:grpSpPr>
            <a:xfrm>
              <a:off x="190500" y="3771900"/>
              <a:ext cx="1809600" cy="362100"/>
              <a:chOff x="0" y="0"/>
              <a:chExt cx="1809600" cy="362100"/>
            </a:xfrm>
          </p:grpSpPr>
          <p:sp>
            <p:nvSpPr>
              <p:cNvPr id="202" name="Google Shape;202;p17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7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寫 Memo / PPT</a:t>
                </a:r>
                <a:endParaRPr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4" name="Google Shape;204;p17"/>
            <p:cNvSpPr/>
            <p:nvPr/>
          </p:nvSpPr>
          <p:spPr>
            <a:xfrm>
              <a:off x="1095375" y="4133850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1066800" y="4210050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6" name="Google Shape;206;p17"/>
            <p:cNvGrpSpPr/>
            <p:nvPr/>
          </p:nvGrpSpPr>
          <p:grpSpPr>
            <a:xfrm>
              <a:off x="190500" y="4276725"/>
              <a:ext cx="1809600" cy="362100"/>
              <a:chOff x="0" y="0"/>
              <a:chExt cx="1809600" cy="362100"/>
            </a:xfrm>
          </p:grpSpPr>
          <p:sp>
            <p:nvSpPr>
              <p:cNvPr id="207" name="Google Shape;207;p17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CA5A5"/>
              </a:solidFill>
              <a:ln cap="flat" cmpd="sng" w="9525">
                <a:solidFill>
                  <a:srgbClr val="F8717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8" name="Google Shape;208;p17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Final recommendation</a:t>
                </a:r>
                <a:endParaRPr b="1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209" name="Google Shape;209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14550" y="419100"/>
              <a:ext cx="9600" cy="4219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17"/>
            <p:cNvSpPr/>
            <p:nvPr/>
          </p:nvSpPr>
          <p:spPr>
            <a:xfrm>
              <a:off x="2238375" y="419100"/>
              <a:ext cx="1809600" cy="228600"/>
            </a:xfrm>
            <a:prstGeom prst="roundRect">
              <a:avLst>
                <a:gd fmla="val 12500" name="adj"/>
              </a:avLst>
            </a:prstGeom>
            <a:solidFill>
              <a:srgbClr val="DCFC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7"/>
            <p:cNvSpPr txBox="1"/>
            <p:nvPr/>
          </p:nvSpPr>
          <p:spPr>
            <a:xfrm>
              <a:off x="2238375" y="419100"/>
              <a:ext cx="18096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rPr>
                <a:t>TO-BE (</a:t>
              </a:r>
              <a:r>
                <a:rPr b="1" lang="en" sz="9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rPr>
                <a:t>Cowork</a:t>
              </a:r>
              <a:r>
                <a:rPr b="1" lang="en" sz="95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rPr>
                <a:t> 協作)</a:t>
              </a:r>
              <a:endParaRPr b="1" sz="950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2" name="Google Shape;212;p17"/>
            <p:cNvGrpSpPr/>
            <p:nvPr/>
          </p:nvGrpSpPr>
          <p:grpSpPr>
            <a:xfrm>
              <a:off x="2238375" y="742950"/>
              <a:ext cx="1809600" cy="362100"/>
              <a:chOff x="0" y="0"/>
              <a:chExt cx="1809600" cy="362100"/>
            </a:xfrm>
          </p:grpSpPr>
          <p:sp>
            <p:nvSpPr>
              <p:cNvPr id="213" name="Google Shape;213;p17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0FDF4"/>
              </a:solidFill>
              <a:ln cap="flat" cmpd="sng" w="9525">
                <a:solidFill>
                  <a:srgbClr val="BBF7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7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定義研究問題 / outcome</a:t>
                </a:r>
                <a:endParaRPr b="0"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5" name="Google Shape;215;p17"/>
            <p:cNvSpPr/>
            <p:nvPr/>
          </p:nvSpPr>
          <p:spPr>
            <a:xfrm>
              <a:off x="3143250" y="1104900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7"/>
            <p:cNvSpPr/>
            <p:nvPr/>
          </p:nvSpPr>
          <p:spPr>
            <a:xfrm>
              <a:off x="3114675" y="1181100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7" name="Google Shape;217;p17"/>
            <p:cNvGrpSpPr/>
            <p:nvPr/>
          </p:nvGrpSpPr>
          <p:grpSpPr>
            <a:xfrm>
              <a:off x="2238375" y="1247775"/>
              <a:ext cx="1809600" cy="866700"/>
              <a:chOff x="0" y="0"/>
              <a:chExt cx="1809600" cy="866700"/>
            </a:xfrm>
          </p:grpSpPr>
          <p:sp>
            <p:nvSpPr>
              <p:cNvPr id="218" name="Google Shape;218;p17"/>
              <p:cNvSpPr/>
              <p:nvPr/>
            </p:nvSpPr>
            <p:spPr>
              <a:xfrm>
                <a:off x="0" y="0"/>
                <a:ext cx="1809600" cy="866700"/>
              </a:xfrm>
              <a:prstGeom prst="roundRect">
                <a:avLst>
                  <a:gd fmla="val 3296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17"/>
              <p:cNvSpPr txBox="1"/>
              <p:nvPr/>
            </p:nvSpPr>
            <p:spPr>
              <a:xfrm>
                <a:off x="0" y="0"/>
                <a:ext cx="1809600" cy="8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50">
                    <a:solidFill>
                      <a:srgbClr val="047857"/>
                    </a:solidFill>
                    <a:latin typeface="Arial"/>
                    <a:ea typeface="Arial"/>
                    <a:cs typeface="Arial"/>
                    <a:sym typeface="Arial"/>
                  </a:rPr>
                  <a:t>AI 自動處理 (70-80%)</a:t>
                </a:r>
                <a:endParaRPr b="1" sz="850">
                  <a:solidFill>
                    <a:srgbClr val="047857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自動搜尋內外部資料</a:t>
                </a:r>
                <a:endParaRPr sz="8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↓</a:t>
                </a:r>
                <a:endParaRPr sz="8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閱讀＋篩選＋交叉驗證</a:t>
                </a:r>
                <a:endParaRPr sz="8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0" name="Google Shape;220;p17"/>
            <p:cNvSpPr/>
            <p:nvPr/>
          </p:nvSpPr>
          <p:spPr>
            <a:xfrm>
              <a:off x="3143250" y="2114550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7"/>
            <p:cNvSpPr/>
            <p:nvPr/>
          </p:nvSpPr>
          <p:spPr>
            <a:xfrm>
              <a:off x="3114675" y="2190750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2" name="Google Shape;222;p17"/>
            <p:cNvGrpSpPr/>
            <p:nvPr/>
          </p:nvGrpSpPr>
          <p:grpSpPr>
            <a:xfrm>
              <a:off x="2238375" y="2257425"/>
              <a:ext cx="1809600" cy="362100"/>
              <a:chOff x="0" y="0"/>
              <a:chExt cx="1809600" cy="362100"/>
            </a:xfrm>
          </p:grpSpPr>
          <p:sp>
            <p:nvSpPr>
              <p:cNvPr id="223" name="Google Shape;223;p17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17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套用 Research Skill 分析</a:t>
                </a:r>
                <a:endParaRPr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25" name="Google Shape;225;p17"/>
            <p:cNvSpPr/>
            <p:nvPr/>
          </p:nvSpPr>
          <p:spPr>
            <a:xfrm>
              <a:off x="3143250" y="2619375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" name="Google Shape;226;p17"/>
            <p:cNvSpPr/>
            <p:nvPr/>
          </p:nvSpPr>
          <p:spPr>
            <a:xfrm>
              <a:off x="3114675" y="26955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7" name="Google Shape;227;p17"/>
            <p:cNvGrpSpPr/>
            <p:nvPr/>
          </p:nvGrpSpPr>
          <p:grpSpPr>
            <a:xfrm>
              <a:off x="2238375" y="2762250"/>
              <a:ext cx="1809600" cy="362100"/>
              <a:chOff x="0" y="0"/>
              <a:chExt cx="1809600" cy="362100"/>
            </a:xfrm>
          </p:grpSpPr>
          <p:sp>
            <p:nvSpPr>
              <p:cNvPr id="228" name="Google Shape;228;p17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17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形成有 citation 的初稿</a:t>
                </a:r>
                <a:endParaRPr b="0"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0" name="Google Shape;230;p17"/>
            <p:cNvSpPr/>
            <p:nvPr/>
          </p:nvSpPr>
          <p:spPr>
            <a:xfrm>
              <a:off x="3143250" y="3124200"/>
              <a:ext cx="0" cy="1905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17"/>
            <p:cNvSpPr/>
            <p:nvPr/>
          </p:nvSpPr>
          <p:spPr>
            <a:xfrm>
              <a:off x="3114675" y="33051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2" name="Google Shape;232;p17"/>
            <p:cNvGrpSpPr/>
            <p:nvPr/>
          </p:nvGrpSpPr>
          <p:grpSpPr>
            <a:xfrm>
              <a:off x="2238375" y="3352800"/>
              <a:ext cx="1809600" cy="790500"/>
              <a:chOff x="0" y="0"/>
              <a:chExt cx="1809600" cy="790500"/>
            </a:xfrm>
          </p:grpSpPr>
          <p:sp>
            <p:nvSpPr>
              <p:cNvPr id="233" name="Google Shape;233;p17"/>
              <p:cNvSpPr/>
              <p:nvPr/>
            </p:nvSpPr>
            <p:spPr>
              <a:xfrm>
                <a:off x="0" y="0"/>
                <a:ext cx="1809600" cy="790500"/>
              </a:xfrm>
              <a:prstGeom prst="roundRect">
                <a:avLst>
                  <a:gd fmla="val 3614" name="adj"/>
                </a:avLst>
              </a:prstGeom>
              <a:solidFill>
                <a:srgbClr val="F0FDF4"/>
              </a:solidFill>
              <a:ln cap="flat" cmpd="sng" w="9525">
                <a:solidFill>
                  <a:srgbClr val="BBF7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7"/>
              <p:cNvSpPr txBox="1"/>
              <p:nvPr/>
            </p:nvSpPr>
            <p:spPr>
              <a:xfrm>
                <a:off x="0" y="0"/>
                <a:ext cx="1809600" cy="7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00">
                    <a:solidFill>
                      <a:srgbClr val="15803D"/>
                    </a:solidFill>
                    <a:latin typeface="Arial"/>
                    <a:ea typeface="Arial"/>
                    <a:cs typeface="Arial"/>
                    <a:sym typeface="Arial"/>
                  </a:rPr>
                  <a:t>人員專注高價值判斷</a:t>
                </a:r>
                <a:endParaRPr b="1" sz="900">
                  <a:solidFill>
                    <a:srgbClr val="15803D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人員 Review / Judgment</a:t>
                </a:r>
                <a:endParaRPr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↓</a:t>
                </a:r>
                <a:endParaRPr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0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Review、補資料、重改</a:t>
                </a:r>
                <a:endParaRPr sz="9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5" name="Google Shape;235;p17"/>
            <p:cNvSpPr/>
            <p:nvPr/>
          </p:nvSpPr>
          <p:spPr>
            <a:xfrm>
              <a:off x="3143250" y="4143375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7"/>
            <p:cNvSpPr/>
            <p:nvPr/>
          </p:nvSpPr>
          <p:spPr>
            <a:xfrm>
              <a:off x="3114675" y="42195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7" name="Google Shape;237;p17"/>
            <p:cNvGrpSpPr/>
            <p:nvPr/>
          </p:nvGrpSpPr>
          <p:grpSpPr>
            <a:xfrm>
              <a:off x="2238375" y="4276725"/>
              <a:ext cx="1809600" cy="362100"/>
              <a:chOff x="0" y="0"/>
              <a:chExt cx="1809600" cy="362100"/>
            </a:xfrm>
          </p:grpSpPr>
          <p:sp>
            <p:nvSpPr>
              <p:cNvPr id="238" name="Google Shape;238;p17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86EFAC"/>
              </a:solidFill>
              <a:ln cap="flat" cmpd="sng" w="9525">
                <a:solidFill>
                  <a:srgbClr val="4ADE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17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Final recommendation</a:t>
                </a:r>
                <a:endParaRPr b="1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8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8"/>
          <p:cNvSpPr/>
          <p:nvPr/>
        </p:nvSpPr>
        <p:spPr>
          <a:xfrm>
            <a:off x="0" y="685800"/>
            <a:ext cx="9144000" cy="477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8"/>
          <p:cNvSpPr txBox="1"/>
          <p:nvPr/>
        </p:nvSpPr>
        <p:spPr>
          <a:xfrm>
            <a:off x="285750" y="114300"/>
            <a:ext cx="857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02｜Cross-functional PMO Agent — 從「人追進度」轉向「AI 管理例外」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8" name="Google Shape;248;p18"/>
          <p:cNvGrpSpPr/>
          <p:nvPr/>
        </p:nvGrpSpPr>
        <p:grpSpPr>
          <a:xfrm>
            <a:off x="285750" y="904875"/>
            <a:ext cx="4143300" cy="1285800"/>
            <a:chOff x="0" y="0"/>
            <a:chExt cx="4143300" cy="1285800"/>
          </a:xfrm>
        </p:grpSpPr>
        <p:sp>
          <p:nvSpPr>
            <p:cNvPr id="249" name="Google Shape;249;p18"/>
            <p:cNvSpPr/>
            <p:nvPr/>
          </p:nvSpPr>
          <p:spPr>
            <a:xfrm>
              <a:off x="0" y="0"/>
              <a:ext cx="4143300" cy="12858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8"/>
            <p:cNvSpPr/>
            <p:nvPr/>
          </p:nvSpPr>
          <p:spPr>
            <a:xfrm>
              <a:off x="0" y="0"/>
              <a:ext cx="4143300" cy="304800"/>
            </a:xfrm>
            <a:custGeom>
              <a:rect b="b" l="l" r="r" t="t"/>
              <a:pathLst>
                <a:path extrusionOk="0" h="120000" w="120000">
                  <a:moveTo>
                    <a:pt x="0" y="15000"/>
                  </a:moveTo>
                  <a:lnTo>
                    <a:pt x="1103" y="0"/>
                  </a:lnTo>
                  <a:lnTo>
                    <a:pt x="118897" y="0"/>
                  </a:lnTo>
                  <a:lnTo>
                    <a:pt x="120000" y="15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22B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8"/>
            <p:cNvSpPr txBox="1"/>
            <p:nvPr/>
          </p:nvSpPr>
          <p:spPr>
            <a:xfrm>
              <a:off x="0" y="0"/>
              <a:ext cx="4143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核心價值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8"/>
            <p:cNvSpPr txBox="1"/>
            <p:nvPr/>
          </p:nvSpPr>
          <p:spPr>
            <a:xfrm>
              <a:off x="142875" y="419100"/>
              <a:ext cx="38577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將 PMO 最耗時的催件、收件、更新 tracker、辨識落後項目與彙整報告交由 Cowork。</a:t>
              </a:r>
              <a:endParaRPr b="0" sz="893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PM 不再管理每一個 task，而只需介入 exception、dependency 與 management decision。</a:t>
              </a:r>
              <a:endParaRPr b="0" sz="893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3" name="Google Shape;253;p18"/>
          <p:cNvGrpSpPr/>
          <p:nvPr/>
        </p:nvGrpSpPr>
        <p:grpSpPr>
          <a:xfrm>
            <a:off x="285750" y="2333625"/>
            <a:ext cx="4143300" cy="2524200"/>
            <a:chOff x="0" y="0"/>
            <a:chExt cx="4143300" cy="2524200"/>
          </a:xfrm>
        </p:grpSpPr>
        <p:sp>
          <p:nvSpPr>
            <p:cNvPr id="254" name="Google Shape;254;p18"/>
            <p:cNvSpPr/>
            <p:nvPr/>
          </p:nvSpPr>
          <p:spPr>
            <a:xfrm>
              <a:off x="0" y="0"/>
              <a:ext cx="4143300" cy="2524200"/>
            </a:xfrm>
            <a:prstGeom prst="roundRect">
              <a:avLst>
                <a:gd fmla="val 150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8"/>
            <p:cNvSpPr/>
            <p:nvPr/>
          </p:nvSpPr>
          <p:spPr>
            <a:xfrm>
              <a:off x="0" y="0"/>
              <a:ext cx="4143300" cy="304800"/>
            </a:xfrm>
            <a:custGeom>
              <a:rect b="b" l="l" r="r" t="t"/>
              <a:pathLst>
                <a:path extrusionOk="0" h="120000" w="120000">
                  <a:moveTo>
                    <a:pt x="0" y="15000"/>
                  </a:moveTo>
                  <a:lnTo>
                    <a:pt x="1103" y="0"/>
                  </a:lnTo>
                  <a:lnTo>
                    <a:pt x="118897" y="0"/>
                  </a:lnTo>
                  <a:lnTo>
                    <a:pt x="120000" y="15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22B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8"/>
            <p:cNvSpPr txBox="1"/>
            <p:nvPr/>
          </p:nvSpPr>
          <p:spPr>
            <a:xfrm>
              <a:off x="0" y="0"/>
              <a:ext cx="4143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Cowork 架構設定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18"/>
            <p:cNvSpPr txBox="1"/>
            <p:nvPr/>
          </p:nvSpPr>
          <p:spPr>
            <a:xfrm>
              <a:off x="142875" y="419100"/>
              <a:ext cx="38577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95250" lvl="0" marL="9525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· Context：</a:t>
              </a:r>
              <a:r>
                <a:rPr b="0" lang="en" sz="89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Project plan、milestones、owner、歷史會議、Teams / Email、相關 deliverables</a:t>
              </a:r>
              <a:endParaRPr b="0" sz="893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952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· Custom Skill：</a:t>
              </a:r>
              <a:r>
                <a:rPr b="0" lang="en" sz="89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On-track / At-risk 定義、催收節奏、完成判定、escalation rule、report template</a:t>
              </a:r>
              <a:endParaRPr b="0" sz="893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952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· Automation：</a:t>
              </a:r>
              <a:r>
                <a:rPr b="0" lang="en" sz="89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Scheduled task 定期檢查；Email / Teams event trigger 接收更新</a:t>
              </a:r>
              <a:endParaRPr b="0" sz="893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952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· Built-in Skills：</a:t>
              </a:r>
              <a:r>
                <a:rPr b="0" lang="en" sz="89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Email、Communications、Enterprise Search、Excel、Adaptive Cards</a:t>
              </a:r>
              <a:endParaRPr b="0" sz="893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95250" lvl="0" marL="95250" marR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93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· Approval：</a:t>
              </a:r>
              <a:r>
                <a:rPr b="0" lang="en" sz="89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對外催件、修改 shared tracker、發 management update 前由人確認</a:t>
              </a:r>
              <a:endParaRPr b="0" sz="893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08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※ Cowork 可依時間或 Email / Teams 事件啟動；涉及傳送或修改 shared system 時預設可設 human approval。</a:t>
              </a:r>
              <a:endParaRPr b="0" sz="808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8" name="Google Shape;258;p18"/>
          <p:cNvGrpSpPr/>
          <p:nvPr/>
        </p:nvGrpSpPr>
        <p:grpSpPr>
          <a:xfrm>
            <a:off x="4619625" y="904875"/>
            <a:ext cx="4238700" cy="3953000"/>
            <a:chOff x="0" y="0"/>
            <a:chExt cx="4238700" cy="4677000"/>
          </a:xfrm>
        </p:grpSpPr>
        <p:sp>
          <p:nvSpPr>
            <p:cNvPr id="259" name="Google Shape;259;p18"/>
            <p:cNvSpPr/>
            <p:nvPr/>
          </p:nvSpPr>
          <p:spPr>
            <a:xfrm>
              <a:off x="0" y="0"/>
              <a:ext cx="4238700" cy="4677000"/>
            </a:xfrm>
            <a:prstGeom prst="roundRect">
              <a:avLst>
                <a:gd fmla="val 9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18"/>
            <p:cNvSpPr/>
            <p:nvPr/>
          </p:nvSpPr>
          <p:spPr>
            <a:xfrm>
              <a:off x="0" y="0"/>
              <a:ext cx="4238700" cy="304800"/>
            </a:xfrm>
            <a:custGeom>
              <a:rect b="b" l="l" r="r" t="t"/>
              <a:pathLst>
                <a:path extrusionOk="0" h="120000" w="120000">
                  <a:moveTo>
                    <a:pt x="0" y="15000"/>
                  </a:moveTo>
                  <a:lnTo>
                    <a:pt x="1079" y="0"/>
                  </a:lnTo>
                  <a:lnTo>
                    <a:pt x="118921" y="0"/>
                  </a:lnTo>
                  <a:lnTo>
                    <a:pt x="120000" y="15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22B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18"/>
            <p:cNvSpPr txBox="1"/>
            <p:nvPr/>
          </p:nvSpPr>
          <p:spPr>
            <a:xfrm>
              <a:off x="0" y="0"/>
              <a:ext cx="4238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流程對照 AS-IS vs. TO-BE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2" name="Google Shape;262;p18"/>
            <p:cNvGrpSpPr/>
            <p:nvPr/>
          </p:nvGrpSpPr>
          <p:grpSpPr>
            <a:xfrm>
              <a:off x="190500" y="419100"/>
              <a:ext cx="1809600" cy="228600"/>
              <a:chOff x="0" y="0"/>
              <a:chExt cx="1809600" cy="228600"/>
            </a:xfrm>
          </p:grpSpPr>
          <p:sp>
            <p:nvSpPr>
              <p:cNvPr id="263" name="Google Shape;263;p18"/>
              <p:cNvSpPr/>
              <p:nvPr/>
            </p:nvSpPr>
            <p:spPr>
              <a:xfrm>
                <a:off x="0" y="0"/>
                <a:ext cx="1809600" cy="228600"/>
              </a:xfrm>
              <a:prstGeom prst="roundRect">
                <a:avLst>
                  <a:gd fmla="val 12500" name="adj"/>
                </a:avLst>
              </a:prstGeom>
              <a:solidFill>
                <a:srgbClr val="FEE2E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18"/>
              <p:cNvSpPr txBox="1"/>
              <p:nvPr/>
            </p:nvSpPr>
            <p:spPr>
              <a:xfrm>
                <a:off x="0" y="0"/>
                <a:ext cx="1809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9525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8">
                    <a:solidFill>
                      <a:srgbClr val="991B1B"/>
                    </a:solidFill>
                    <a:latin typeface="Arial"/>
                    <a:ea typeface="Arial"/>
                    <a:cs typeface="Arial"/>
                    <a:sym typeface="Arial"/>
                  </a:rPr>
                  <a:t>AS-IS (傳統流程)</a:t>
                </a:r>
                <a:endParaRPr b="1" sz="808">
                  <a:solidFill>
                    <a:srgbClr val="991B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5" name="Google Shape;265;p18"/>
            <p:cNvGrpSpPr/>
            <p:nvPr/>
          </p:nvGrpSpPr>
          <p:grpSpPr>
            <a:xfrm>
              <a:off x="190500" y="742950"/>
              <a:ext cx="1809600" cy="324000"/>
              <a:chOff x="0" y="0"/>
              <a:chExt cx="1809600" cy="324000"/>
            </a:xfrm>
          </p:grpSpPr>
          <p:sp>
            <p:nvSpPr>
              <p:cNvPr id="266" name="Google Shape;266;p18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8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8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打開 Project Plan</a:t>
                </a:r>
                <a:endParaRPr b="0" sz="808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8" name="Google Shape;268;p18"/>
            <p:cNvSpPr/>
            <p:nvPr/>
          </p:nvSpPr>
          <p:spPr>
            <a:xfrm>
              <a:off x="1066800" y="11334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9" name="Google Shape;269;p18"/>
            <p:cNvGrpSpPr/>
            <p:nvPr/>
          </p:nvGrpSpPr>
          <p:grpSpPr>
            <a:xfrm>
              <a:off x="190500" y="1238250"/>
              <a:ext cx="1809600" cy="324000"/>
              <a:chOff x="0" y="0"/>
              <a:chExt cx="1809600" cy="324000"/>
            </a:xfrm>
          </p:grpSpPr>
          <p:sp>
            <p:nvSpPr>
              <p:cNvPr id="270" name="Google Shape;270;p18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18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8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找哪些項目快到期</a:t>
                </a:r>
                <a:endParaRPr b="0" sz="808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2" name="Google Shape;272;p18"/>
            <p:cNvSpPr/>
            <p:nvPr/>
          </p:nvSpPr>
          <p:spPr>
            <a:xfrm>
              <a:off x="1066800" y="16287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3" name="Google Shape;273;p18"/>
            <p:cNvGrpSpPr/>
            <p:nvPr/>
          </p:nvGrpSpPr>
          <p:grpSpPr>
            <a:xfrm>
              <a:off x="190500" y="1733550"/>
              <a:ext cx="1809600" cy="324000"/>
              <a:chOff x="0" y="0"/>
              <a:chExt cx="1809600" cy="324000"/>
            </a:xfrm>
          </p:grpSpPr>
          <p:sp>
            <p:nvSpPr>
              <p:cNvPr id="274" name="Google Shape;274;p18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18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8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寄信 / Teams 問 Owner</a:t>
                </a:r>
                <a:endParaRPr b="0" sz="808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6" name="Google Shape;276;p18"/>
            <p:cNvSpPr/>
            <p:nvPr/>
          </p:nvSpPr>
          <p:spPr>
            <a:xfrm>
              <a:off x="1066800" y="21240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7" name="Google Shape;277;p18"/>
            <p:cNvGrpSpPr/>
            <p:nvPr/>
          </p:nvGrpSpPr>
          <p:grpSpPr>
            <a:xfrm>
              <a:off x="190500" y="2228850"/>
              <a:ext cx="1809600" cy="324000"/>
              <a:chOff x="0" y="0"/>
              <a:chExt cx="1809600" cy="324000"/>
            </a:xfrm>
          </p:grpSpPr>
          <p:sp>
            <p:nvSpPr>
              <p:cNvPr id="278" name="Google Shape;278;p18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18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8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等回覆</a:t>
                </a:r>
                <a:endParaRPr b="0" sz="808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0" name="Google Shape;280;p18"/>
            <p:cNvSpPr/>
            <p:nvPr/>
          </p:nvSpPr>
          <p:spPr>
            <a:xfrm>
              <a:off x="1066800" y="26193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1" name="Google Shape;281;p18"/>
            <p:cNvGrpSpPr/>
            <p:nvPr/>
          </p:nvGrpSpPr>
          <p:grpSpPr>
            <a:xfrm>
              <a:off x="190500" y="2724150"/>
              <a:ext cx="1809600" cy="324000"/>
              <a:chOff x="0" y="0"/>
              <a:chExt cx="1809600" cy="324000"/>
            </a:xfrm>
          </p:grpSpPr>
          <p:sp>
            <p:nvSpPr>
              <p:cNvPr id="282" name="Google Shape;282;p18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18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8">
                    <a:solidFill>
                      <a:srgbClr val="122B46"/>
                    </a:solidFill>
                  </a:rPr>
                  <a:t>Clarify 回覆的內容</a:t>
                </a:r>
                <a:endParaRPr b="0" sz="808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84" name="Google Shape;284;p18"/>
            <p:cNvSpPr/>
            <p:nvPr/>
          </p:nvSpPr>
          <p:spPr>
            <a:xfrm>
              <a:off x="1066800" y="31146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5" name="Google Shape;285;p18"/>
            <p:cNvGrpSpPr/>
            <p:nvPr/>
          </p:nvGrpSpPr>
          <p:grpSpPr>
            <a:xfrm>
              <a:off x="190500" y="3219450"/>
              <a:ext cx="1809600" cy="324000"/>
              <a:chOff x="0" y="0"/>
              <a:chExt cx="1809600" cy="324000"/>
            </a:xfrm>
          </p:grpSpPr>
          <p:sp>
            <p:nvSpPr>
              <p:cNvPr id="286" name="Google Shape;286;p18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18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8">
                    <a:solidFill>
                      <a:srgbClr val="122B46"/>
                    </a:solidFill>
                  </a:rPr>
                  <a:t>再追一次</a:t>
                </a:r>
                <a:endParaRPr sz="808">
                  <a:solidFill>
                    <a:srgbClr val="122B46"/>
                  </a:solidFill>
                </a:endParaRPr>
              </a:p>
            </p:txBody>
          </p:sp>
        </p:grpSp>
        <p:sp>
          <p:nvSpPr>
            <p:cNvPr id="288" name="Google Shape;288;p18"/>
            <p:cNvSpPr/>
            <p:nvPr/>
          </p:nvSpPr>
          <p:spPr>
            <a:xfrm>
              <a:off x="1066800" y="36099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89" name="Google Shape;289;p18"/>
            <p:cNvGrpSpPr/>
            <p:nvPr/>
          </p:nvGrpSpPr>
          <p:grpSpPr>
            <a:xfrm>
              <a:off x="190500" y="3714750"/>
              <a:ext cx="1809600" cy="324000"/>
              <a:chOff x="0" y="0"/>
              <a:chExt cx="1809600" cy="324000"/>
            </a:xfrm>
          </p:grpSpPr>
          <p:sp>
            <p:nvSpPr>
              <p:cNvPr id="290" name="Google Shape;290;p18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18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8">
                    <a:solidFill>
                      <a:srgbClr val="122B46"/>
                    </a:solidFill>
                  </a:rPr>
                  <a:t>手動記錄更新狀況</a:t>
                </a:r>
                <a:endParaRPr sz="808">
                  <a:solidFill>
                    <a:srgbClr val="122B46"/>
                  </a:solidFill>
                </a:endParaRPr>
              </a:p>
            </p:txBody>
          </p:sp>
        </p:grpSp>
        <p:sp>
          <p:nvSpPr>
            <p:cNvPr id="292" name="Google Shape;292;p18"/>
            <p:cNvSpPr/>
            <p:nvPr/>
          </p:nvSpPr>
          <p:spPr>
            <a:xfrm>
              <a:off x="1066800" y="41052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93" name="Google Shape;293;p18"/>
            <p:cNvGrpSpPr/>
            <p:nvPr/>
          </p:nvGrpSpPr>
          <p:grpSpPr>
            <a:xfrm>
              <a:off x="190500" y="4210050"/>
              <a:ext cx="1809600" cy="400200"/>
              <a:chOff x="0" y="0"/>
              <a:chExt cx="1809600" cy="400200"/>
            </a:xfrm>
          </p:grpSpPr>
          <p:sp>
            <p:nvSpPr>
              <p:cNvPr id="294" name="Google Shape;294;p18"/>
              <p:cNvSpPr/>
              <p:nvPr/>
            </p:nvSpPr>
            <p:spPr>
              <a:xfrm>
                <a:off x="0" y="0"/>
                <a:ext cx="1809600" cy="400200"/>
              </a:xfrm>
              <a:prstGeom prst="roundRect">
                <a:avLst>
                  <a:gd fmla="val 7142" name="adj"/>
                </a:avLst>
              </a:prstGeom>
              <a:solidFill>
                <a:srgbClr val="FCA5A5"/>
              </a:solidFill>
              <a:ln cap="flat" cmpd="sng" w="9525">
                <a:solidFill>
                  <a:srgbClr val="F8717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18"/>
              <p:cNvSpPr txBox="1"/>
              <p:nvPr/>
            </p:nvSpPr>
            <p:spPr>
              <a:xfrm>
                <a:off x="0" y="0"/>
                <a:ext cx="18096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8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下週全部再做一次</a:t>
                </a:r>
                <a:endParaRPr b="0" sz="808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296" name="Google Shape;296;p18"/>
            <p:cNvCxnSpPr/>
            <p:nvPr/>
          </p:nvCxnSpPr>
          <p:spPr>
            <a:xfrm>
              <a:off x="2109788" y="419100"/>
              <a:ext cx="0" cy="41529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97" name="Google Shape;297;p18"/>
            <p:cNvGrpSpPr/>
            <p:nvPr/>
          </p:nvGrpSpPr>
          <p:grpSpPr>
            <a:xfrm>
              <a:off x="2238375" y="419100"/>
              <a:ext cx="1809600" cy="228600"/>
              <a:chOff x="0" y="0"/>
              <a:chExt cx="1809600" cy="228600"/>
            </a:xfrm>
          </p:grpSpPr>
          <p:sp>
            <p:nvSpPr>
              <p:cNvPr id="298" name="Google Shape;298;p18"/>
              <p:cNvSpPr/>
              <p:nvPr/>
            </p:nvSpPr>
            <p:spPr>
              <a:xfrm>
                <a:off x="0" y="0"/>
                <a:ext cx="1809600" cy="228600"/>
              </a:xfrm>
              <a:prstGeom prst="roundRect">
                <a:avLst>
                  <a:gd fmla="val 12500" name="adj"/>
                </a:avLst>
              </a:prstGeom>
              <a:solidFill>
                <a:srgbClr val="DCFCE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18"/>
              <p:cNvSpPr txBox="1"/>
              <p:nvPr/>
            </p:nvSpPr>
            <p:spPr>
              <a:xfrm>
                <a:off x="0" y="0"/>
                <a:ext cx="1809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9525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8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TO-BE (Cowork 協作)</a:t>
                </a:r>
                <a:endParaRPr b="1" sz="808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0" name="Google Shape;300;p18"/>
            <p:cNvGrpSpPr/>
            <p:nvPr/>
          </p:nvGrpSpPr>
          <p:grpSpPr>
            <a:xfrm>
              <a:off x="2238375" y="742950"/>
              <a:ext cx="1809600" cy="324000"/>
              <a:chOff x="0" y="0"/>
              <a:chExt cx="1809600" cy="324000"/>
            </a:xfrm>
          </p:grpSpPr>
          <p:sp>
            <p:nvSpPr>
              <p:cNvPr id="301" name="Google Shape;301;p18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18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8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Cowork 定期讀取 Project Plan</a:t>
                </a:r>
                <a:endParaRPr b="0" sz="808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3" name="Google Shape;303;p18"/>
            <p:cNvSpPr/>
            <p:nvPr/>
          </p:nvSpPr>
          <p:spPr>
            <a:xfrm>
              <a:off x="3114675" y="11334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4" name="Google Shape;304;p18"/>
            <p:cNvGrpSpPr/>
            <p:nvPr/>
          </p:nvGrpSpPr>
          <p:grpSpPr>
            <a:xfrm>
              <a:off x="2238375" y="1238250"/>
              <a:ext cx="1809600" cy="324000"/>
              <a:chOff x="0" y="0"/>
              <a:chExt cx="1809600" cy="324000"/>
            </a:xfrm>
          </p:grpSpPr>
          <p:sp>
            <p:nvSpPr>
              <p:cNvPr id="305" name="Google Shape;305;p18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18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8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自動辨識 overdue / at-risk</a:t>
                </a:r>
                <a:endParaRPr b="0" sz="808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07" name="Google Shape;307;p18"/>
            <p:cNvSpPr/>
            <p:nvPr/>
          </p:nvSpPr>
          <p:spPr>
            <a:xfrm>
              <a:off x="3114675" y="16287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8" name="Google Shape;308;p18"/>
            <p:cNvGrpSpPr/>
            <p:nvPr/>
          </p:nvGrpSpPr>
          <p:grpSpPr>
            <a:xfrm>
              <a:off x="2238375" y="1733550"/>
              <a:ext cx="1809600" cy="324000"/>
              <a:chOff x="0" y="0"/>
              <a:chExt cx="1809600" cy="324000"/>
            </a:xfrm>
          </p:grpSpPr>
          <p:sp>
            <p:nvSpPr>
              <p:cNvPr id="309" name="Google Shape;309;p18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18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8">
                    <a:solidFill>
                      <a:srgbClr val="005A9C"/>
                    </a:solidFill>
                    <a:latin typeface="Arial"/>
                    <a:ea typeface="Arial"/>
                    <a:cs typeface="Arial"/>
                    <a:sym typeface="Arial"/>
                  </a:rPr>
                  <a:t>主動</a:t>
                </a:r>
                <a:r>
                  <a:rPr b="1" lang="en" sz="808">
                    <a:solidFill>
                      <a:srgbClr val="005A9C"/>
                    </a:solidFill>
                    <a:latin typeface="Arial"/>
                    <a:ea typeface="Arial"/>
                    <a:cs typeface="Arial"/>
                    <a:sym typeface="Arial"/>
                  </a:rPr>
                  <a:t>發訊 Email / Teams 詢問進度</a:t>
                </a:r>
                <a:endParaRPr b="1" sz="808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1" name="Google Shape;311;p18"/>
            <p:cNvSpPr/>
            <p:nvPr/>
          </p:nvSpPr>
          <p:spPr>
            <a:xfrm>
              <a:off x="3114675" y="21240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2" name="Google Shape;312;p18"/>
            <p:cNvGrpSpPr/>
            <p:nvPr/>
          </p:nvGrpSpPr>
          <p:grpSpPr>
            <a:xfrm>
              <a:off x="2238375" y="2228850"/>
              <a:ext cx="1809600" cy="324000"/>
              <a:chOff x="0" y="0"/>
              <a:chExt cx="1809600" cy="324000"/>
            </a:xfrm>
          </p:grpSpPr>
          <p:sp>
            <p:nvSpPr>
              <p:cNvPr id="313" name="Google Shape;313;p18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18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8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讀取回覆與最新文件</a:t>
                </a:r>
                <a:endParaRPr b="0" sz="808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5" name="Google Shape;315;p18"/>
            <p:cNvSpPr/>
            <p:nvPr/>
          </p:nvSpPr>
          <p:spPr>
            <a:xfrm>
              <a:off x="3114675" y="26193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6" name="Google Shape;316;p18"/>
            <p:cNvGrpSpPr/>
            <p:nvPr/>
          </p:nvGrpSpPr>
          <p:grpSpPr>
            <a:xfrm>
              <a:off x="2238375" y="2724150"/>
              <a:ext cx="1809600" cy="324000"/>
              <a:chOff x="0" y="0"/>
              <a:chExt cx="1809600" cy="324000"/>
            </a:xfrm>
          </p:grpSpPr>
          <p:sp>
            <p:nvSpPr>
              <p:cNvPr id="317" name="Google Shape;317;p18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18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8">
                    <a:solidFill>
                      <a:srgbClr val="005A9C"/>
                    </a:solidFill>
                    <a:latin typeface="Arial"/>
                    <a:ea typeface="Arial"/>
                    <a:cs typeface="Arial"/>
                    <a:sym typeface="Arial"/>
                  </a:rPr>
                  <a:t>主動 </a:t>
                </a:r>
                <a:r>
                  <a:rPr b="1" lang="en" sz="808">
                    <a:solidFill>
                      <a:srgbClr val="005A9C"/>
                    </a:solidFill>
                    <a:latin typeface="Arial"/>
                    <a:ea typeface="Arial"/>
                    <a:cs typeface="Arial"/>
                    <a:sym typeface="Arial"/>
                  </a:rPr>
                  <a:t>Clarify 回覆的內容</a:t>
                </a:r>
                <a:endParaRPr sz="808">
                  <a:solidFill>
                    <a:srgbClr val="122B46"/>
                  </a:solidFill>
                </a:endParaRPr>
              </a:p>
            </p:txBody>
          </p:sp>
        </p:grpSp>
        <p:sp>
          <p:nvSpPr>
            <p:cNvPr id="319" name="Google Shape;319;p18"/>
            <p:cNvSpPr/>
            <p:nvPr/>
          </p:nvSpPr>
          <p:spPr>
            <a:xfrm>
              <a:off x="3114675" y="31146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0" name="Google Shape;320;p18"/>
            <p:cNvGrpSpPr/>
            <p:nvPr/>
          </p:nvGrpSpPr>
          <p:grpSpPr>
            <a:xfrm>
              <a:off x="2238375" y="3219450"/>
              <a:ext cx="1809600" cy="324000"/>
              <a:chOff x="0" y="0"/>
              <a:chExt cx="1809600" cy="324000"/>
            </a:xfrm>
          </p:grpSpPr>
          <p:sp>
            <p:nvSpPr>
              <p:cNvPr id="321" name="Google Shape;321;p18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18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8">
                    <a:solidFill>
                      <a:srgbClr val="122B46"/>
                    </a:solidFill>
                  </a:rPr>
                  <a:t>判斷 completeness / gap</a:t>
                </a:r>
                <a:endParaRPr sz="808">
                  <a:solidFill>
                    <a:srgbClr val="122B46"/>
                  </a:solidFill>
                </a:endParaRPr>
              </a:p>
            </p:txBody>
          </p:sp>
        </p:grpSp>
        <p:sp>
          <p:nvSpPr>
            <p:cNvPr id="323" name="Google Shape;323;p18"/>
            <p:cNvSpPr/>
            <p:nvPr/>
          </p:nvSpPr>
          <p:spPr>
            <a:xfrm>
              <a:off x="3114675" y="36099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4" name="Google Shape;324;p18"/>
            <p:cNvGrpSpPr/>
            <p:nvPr/>
          </p:nvGrpSpPr>
          <p:grpSpPr>
            <a:xfrm>
              <a:off x="2238375" y="3714750"/>
              <a:ext cx="1809600" cy="324000"/>
              <a:chOff x="0" y="0"/>
              <a:chExt cx="1809600" cy="324000"/>
            </a:xfrm>
          </p:grpSpPr>
          <p:sp>
            <p:nvSpPr>
              <p:cNvPr id="325" name="Google Shape;325;p18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18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8">
                    <a:solidFill>
                      <a:srgbClr val="005A9C"/>
                    </a:solidFill>
                    <a:latin typeface="Arial"/>
                    <a:ea typeface="Arial"/>
                    <a:cs typeface="Arial"/>
                    <a:sym typeface="Arial"/>
                  </a:rPr>
                  <a:t>主動</a:t>
                </a:r>
                <a:r>
                  <a:rPr b="1" lang="en" sz="808">
                    <a:solidFill>
                      <a:srgbClr val="005A9C"/>
                    </a:solidFill>
                    <a:latin typeface="Arial"/>
                    <a:ea typeface="Arial"/>
                    <a:cs typeface="Arial"/>
                    <a:sym typeface="Arial"/>
                  </a:rPr>
                  <a:t>更新 Tracker / status pack</a:t>
                </a:r>
                <a:endParaRPr b="1" sz="808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7" name="Google Shape;327;p18"/>
            <p:cNvSpPr/>
            <p:nvPr/>
          </p:nvSpPr>
          <p:spPr>
            <a:xfrm>
              <a:off x="3114675" y="41052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8" name="Google Shape;328;p18"/>
            <p:cNvGrpSpPr/>
            <p:nvPr/>
          </p:nvGrpSpPr>
          <p:grpSpPr>
            <a:xfrm>
              <a:off x="2238375" y="4210050"/>
              <a:ext cx="1809600" cy="400200"/>
              <a:chOff x="0" y="0"/>
              <a:chExt cx="1809600" cy="400200"/>
            </a:xfrm>
          </p:grpSpPr>
          <p:sp>
            <p:nvSpPr>
              <p:cNvPr id="329" name="Google Shape;329;p18"/>
              <p:cNvSpPr/>
              <p:nvPr/>
            </p:nvSpPr>
            <p:spPr>
              <a:xfrm>
                <a:off x="0" y="0"/>
                <a:ext cx="1809600" cy="400200"/>
              </a:xfrm>
              <a:prstGeom prst="roundRect">
                <a:avLst>
                  <a:gd fmla="val 7142" name="adj"/>
                </a:avLst>
              </a:prstGeom>
              <a:solidFill>
                <a:srgbClr val="86EFAC"/>
              </a:solidFill>
              <a:ln cap="flat" cmpd="sng" w="9525">
                <a:solidFill>
                  <a:srgbClr val="4ADE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18"/>
              <p:cNvSpPr txBox="1"/>
              <p:nvPr/>
            </p:nvSpPr>
            <p:spPr>
              <a:xfrm>
                <a:off x="0" y="0"/>
                <a:ext cx="18096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08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PM Review / Decision</a:t>
                </a:r>
                <a:endParaRPr b="0" sz="808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9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9"/>
          <p:cNvSpPr/>
          <p:nvPr/>
        </p:nvSpPr>
        <p:spPr>
          <a:xfrm>
            <a:off x="0" y="685800"/>
            <a:ext cx="9144000" cy="477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9"/>
          <p:cNvSpPr txBox="1"/>
          <p:nvPr/>
        </p:nvSpPr>
        <p:spPr>
          <a:xfrm>
            <a:off x="285750" y="114300"/>
            <a:ext cx="857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03｜Meeting Record Agent — 從「做完會議紀錄」轉向「會議直接變成可執行知識」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9" name="Google Shape;339;p19"/>
          <p:cNvGrpSpPr/>
          <p:nvPr/>
        </p:nvGrpSpPr>
        <p:grpSpPr>
          <a:xfrm>
            <a:off x="285750" y="904875"/>
            <a:ext cx="4143300" cy="1428900"/>
            <a:chOff x="0" y="0"/>
            <a:chExt cx="4143300" cy="1428900"/>
          </a:xfrm>
        </p:grpSpPr>
        <p:sp>
          <p:nvSpPr>
            <p:cNvPr id="340" name="Google Shape;340;p19"/>
            <p:cNvSpPr/>
            <p:nvPr/>
          </p:nvSpPr>
          <p:spPr>
            <a:xfrm>
              <a:off x="0" y="0"/>
              <a:ext cx="4143300" cy="1428900"/>
            </a:xfrm>
            <a:prstGeom prst="roundRect">
              <a:avLst>
                <a:gd fmla="val 2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9"/>
            <p:cNvSpPr/>
            <p:nvPr/>
          </p:nvSpPr>
          <p:spPr>
            <a:xfrm>
              <a:off x="0" y="0"/>
              <a:ext cx="4143300" cy="304800"/>
            </a:xfrm>
            <a:custGeom>
              <a:rect b="b" l="l" r="r" t="t"/>
              <a:pathLst>
                <a:path extrusionOk="0" h="120000" w="120000">
                  <a:moveTo>
                    <a:pt x="0" y="15000"/>
                  </a:moveTo>
                  <a:lnTo>
                    <a:pt x="1103" y="0"/>
                  </a:lnTo>
                  <a:lnTo>
                    <a:pt x="118897" y="0"/>
                  </a:lnTo>
                  <a:lnTo>
                    <a:pt x="120000" y="15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22B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19"/>
            <p:cNvSpPr txBox="1"/>
            <p:nvPr/>
          </p:nvSpPr>
          <p:spPr>
            <a:xfrm>
              <a:off x="0" y="0"/>
              <a:ext cx="4143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核心價值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9"/>
            <p:cNvSpPr txBox="1"/>
            <p:nvPr/>
          </p:nvSpPr>
          <p:spPr>
            <a:xfrm>
              <a:off x="142875" y="438150"/>
              <a:ext cx="3857700" cy="8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讓錄音或逐字稿自動轉成公司標準格式的 Minutes、Decision 與 Action Items，並存放至正確位置。</a:t>
              </a:r>
              <a:endParaRPr sz="95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450"/>
                </a:spcAft>
                <a:buNone/>
              </a:pPr>
              <a:r>
                <a:rPr lang="en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會議資訊不再只是文字紀錄，而能直接進入 Knowledge Management 系統與後續的 PMO 專案管理執行 (execution)。</a:t>
              </a:r>
              <a:endParaRPr sz="95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4" name="Google Shape;344;p19"/>
          <p:cNvGrpSpPr/>
          <p:nvPr/>
        </p:nvGrpSpPr>
        <p:grpSpPr>
          <a:xfrm>
            <a:off x="285750" y="2476500"/>
            <a:ext cx="4143300" cy="2381400"/>
            <a:chOff x="0" y="0"/>
            <a:chExt cx="4143300" cy="2381400"/>
          </a:xfrm>
        </p:grpSpPr>
        <p:sp>
          <p:nvSpPr>
            <p:cNvPr id="345" name="Google Shape;345;p19"/>
            <p:cNvSpPr/>
            <p:nvPr/>
          </p:nvSpPr>
          <p:spPr>
            <a:xfrm>
              <a:off x="0" y="0"/>
              <a:ext cx="4143300" cy="2381400"/>
            </a:xfrm>
            <a:prstGeom prst="roundRect">
              <a:avLst>
                <a:gd fmla="val 16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19"/>
            <p:cNvSpPr/>
            <p:nvPr/>
          </p:nvSpPr>
          <p:spPr>
            <a:xfrm>
              <a:off x="0" y="0"/>
              <a:ext cx="4143300" cy="304800"/>
            </a:xfrm>
            <a:custGeom>
              <a:rect b="b" l="l" r="r" t="t"/>
              <a:pathLst>
                <a:path extrusionOk="0" h="120000" w="120000">
                  <a:moveTo>
                    <a:pt x="0" y="15000"/>
                  </a:moveTo>
                  <a:lnTo>
                    <a:pt x="1103" y="0"/>
                  </a:lnTo>
                  <a:lnTo>
                    <a:pt x="118897" y="0"/>
                  </a:lnTo>
                  <a:lnTo>
                    <a:pt x="120000" y="15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22B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19"/>
            <p:cNvSpPr txBox="1"/>
            <p:nvPr/>
          </p:nvSpPr>
          <p:spPr>
            <a:xfrm>
              <a:off x="0" y="0"/>
              <a:ext cx="41433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Cowork 架構設定</a:t>
              </a:r>
              <a:endParaRPr b="1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9"/>
            <p:cNvSpPr txBox="1"/>
            <p:nvPr/>
          </p:nvSpPr>
          <p:spPr>
            <a:xfrm>
              <a:off x="142875" y="419100"/>
              <a:ext cx="3857700" cy="188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114300" lvl="0" marL="1143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· Input：</a:t>
              </a:r>
              <a:r>
                <a:rPr b="0" lang="en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錄音檔 / transcript / Teams meeting content</a:t>
              </a:r>
              <a:endParaRPr b="1" sz="95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0" marL="114300" marR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· Custom Skill：</a:t>
              </a:r>
              <a:r>
                <a:rPr b="0" lang="en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固定格式、語氣、討論摘要、Decision、Action Item、Owner、Deadline</a:t>
              </a:r>
              <a:endParaRPr b="1" sz="95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0" marL="114300" marR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· Naming Rule：</a:t>
              </a:r>
              <a:r>
                <a:rPr b="0" lang="en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日期＋Project＋Meeting Type</a:t>
              </a:r>
              <a:endParaRPr b="1" sz="95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0" marL="114300" marR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· Storage Rule：</a:t>
              </a:r>
              <a:r>
                <a:rPr b="0" lang="en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依 project / department 自動放入指定 SharePoint / OneDrive</a:t>
              </a:r>
              <a:endParaRPr b="1" sz="95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0" marL="114300" marR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· Built-in Skills：</a:t>
              </a:r>
              <a:r>
                <a:rPr b="0" lang="en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Meetings、Word、Enterprise Search</a:t>
              </a:r>
              <a:endParaRPr b="1" sz="95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0" marL="114300" marR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· Optional Integration：</a:t>
              </a:r>
              <a:r>
                <a:rPr b="0" lang="en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Action Items → PMO tracker；Decision → Knowledge Base</a:t>
              </a:r>
              <a:endParaRPr b="1" sz="95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14300" lvl="0" marL="114300" marR="0" rtl="0" algn="l">
                <a:spcBef>
                  <a:spcPts val="375"/>
                </a:spcBef>
                <a:spcAft>
                  <a:spcPts val="375"/>
                </a:spcAft>
                <a:buNone/>
              </a:pPr>
              <a:r>
                <a:rPr b="1" lang="en" sz="9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· Human Checkpoint：</a:t>
              </a:r>
              <a:r>
                <a:rPr b="0" lang="en"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正式發布前，由人工確認敏感內容、Owner 與 Deadline</a:t>
              </a:r>
              <a:endParaRPr b="1" sz="95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9" name="Google Shape;349;p19"/>
          <p:cNvGrpSpPr/>
          <p:nvPr/>
        </p:nvGrpSpPr>
        <p:grpSpPr>
          <a:xfrm>
            <a:off x="4619625" y="904875"/>
            <a:ext cx="4238700" cy="3953033"/>
            <a:chOff x="0" y="0"/>
            <a:chExt cx="4238700" cy="4799700"/>
          </a:xfrm>
        </p:grpSpPr>
        <p:sp>
          <p:nvSpPr>
            <p:cNvPr id="350" name="Google Shape;350;p19"/>
            <p:cNvSpPr/>
            <p:nvPr/>
          </p:nvSpPr>
          <p:spPr>
            <a:xfrm>
              <a:off x="0" y="0"/>
              <a:ext cx="4238700" cy="4799700"/>
            </a:xfrm>
            <a:prstGeom prst="roundRect">
              <a:avLst>
                <a:gd fmla="val 9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9"/>
            <p:cNvSpPr/>
            <p:nvPr/>
          </p:nvSpPr>
          <p:spPr>
            <a:xfrm>
              <a:off x="0" y="0"/>
              <a:ext cx="4238700" cy="304800"/>
            </a:xfrm>
            <a:custGeom>
              <a:rect b="b" l="l" r="r" t="t"/>
              <a:pathLst>
                <a:path extrusionOk="0" h="120000" w="120000">
                  <a:moveTo>
                    <a:pt x="0" y="15000"/>
                  </a:moveTo>
                  <a:lnTo>
                    <a:pt x="1079" y="0"/>
                  </a:lnTo>
                  <a:lnTo>
                    <a:pt x="118921" y="0"/>
                  </a:lnTo>
                  <a:lnTo>
                    <a:pt x="120000" y="15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22B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19"/>
            <p:cNvSpPr txBox="1"/>
            <p:nvPr/>
          </p:nvSpPr>
          <p:spPr>
            <a:xfrm>
              <a:off x="0" y="0"/>
              <a:ext cx="42387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流程對照 AS-IS vs. TO-BE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3" name="Google Shape;353;p19"/>
            <p:cNvGrpSpPr/>
            <p:nvPr/>
          </p:nvGrpSpPr>
          <p:grpSpPr>
            <a:xfrm>
              <a:off x="190500" y="419100"/>
              <a:ext cx="1809600" cy="228600"/>
              <a:chOff x="0" y="0"/>
              <a:chExt cx="1809600" cy="228600"/>
            </a:xfrm>
          </p:grpSpPr>
          <p:sp>
            <p:nvSpPr>
              <p:cNvPr id="354" name="Google Shape;354;p19"/>
              <p:cNvSpPr/>
              <p:nvPr/>
            </p:nvSpPr>
            <p:spPr>
              <a:xfrm>
                <a:off x="0" y="0"/>
                <a:ext cx="1809600" cy="228600"/>
              </a:xfrm>
              <a:prstGeom prst="roundRect">
                <a:avLst>
                  <a:gd fmla="val 12500" name="adj"/>
                </a:avLst>
              </a:prstGeom>
              <a:solidFill>
                <a:srgbClr val="FEE2E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19"/>
              <p:cNvSpPr txBox="1"/>
              <p:nvPr/>
            </p:nvSpPr>
            <p:spPr>
              <a:xfrm>
                <a:off x="0" y="0"/>
                <a:ext cx="1809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9525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991B1B"/>
                    </a:solidFill>
                  </a:rPr>
                  <a:t>AS-IS (傳統流程)</a:t>
                </a:r>
                <a:endParaRPr b="1" sz="950">
                  <a:solidFill>
                    <a:srgbClr val="991B1B"/>
                  </a:solidFill>
                </a:endParaRPr>
              </a:p>
            </p:txBody>
          </p:sp>
        </p:grpSp>
        <p:grpSp>
          <p:nvGrpSpPr>
            <p:cNvPr id="356" name="Google Shape;356;p19"/>
            <p:cNvGrpSpPr/>
            <p:nvPr/>
          </p:nvGrpSpPr>
          <p:grpSpPr>
            <a:xfrm>
              <a:off x="190500" y="742950"/>
              <a:ext cx="1809600" cy="324000"/>
              <a:chOff x="0" y="0"/>
              <a:chExt cx="1809600" cy="324000"/>
            </a:xfrm>
          </p:grpSpPr>
          <p:sp>
            <p:nvSpPr>
              <p:cNvPr id="357" name="Google Shape;357;p19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19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開完會</a:t>
                </a:r>
                <a:endParaRPr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59" name="Google Shape;359;p19"/>
            <p:cNvSpPr/>
            <p:nvPr/>
          </p:nvSpPr>
          <p:spPr>
            <a:xfrm>
              <a:off x="1066800" y="11334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0" name="Google Shape;360;p19"/>
            <p:cNvGrpSpPr/>
            <p:nvPr/>
          </p:nvGrpSpPr>
          <p:grpSpPr>
            <a:xfrm>
              <a:off x="190500" y="1238250"/>
              <a:ext cx="1809600" cy="324000"/>
              <a:chOff x="0" y="0"/>
              <a:chExt cx="1809600" cy="324000"/>
            </a:xfrm>
          </p:grpSpPr>
          <p:sp>
            <p:nvSpPr>
              <p:cNvPr id="361" name="Google Shape;361;p19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19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回頭聽錄音 / 看 transcript</a:t>
                </a:r>
                <a:endParaRPr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3" name="Google Shape;363;p19"/>
            <p:cNvSpPr/>
            <p:nvPr/>
          </p:nvSpPr>
          <p:spPr>
            <a:xfrm>
              <a:off x="1066800" y="16287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4" name="Google Shape;364;p19"/>
            <p:cNvGrpSpPr/>
            <p:nvPr/>
          </p:nvGrpSpPr>
          <p:grpSpPr>
            <a:xfrm>
              <a:off x="190500" y="1733550"/>
              <a:ext cx="1809600" cy="324000"/>
              <a:chOff x="0" y="0"/>
              <a:chExt cx="1809600" cy="324000"/>
            </a:xfrm>
          </p:grpSpPr>
          <p:sp>
            <p:nvSpPr>
              <p:cNvPr id="365" name="Google Shape;365;p19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19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手動整理討論內容</a:t>
                </a:r>
                <a:endParaRPr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7" name="Google Shape;367;p19"/>
            <p:cNvSpPr/>
            <p:nvPr/>
          </p:nvSpPr>
          <p:spPr>
            <a:xfrm>
              <a:off x="1066800" y="21240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68" name="Google Shape;368;p19"/>
            <p:cNvGrpSpPr/>
            <p:nvPr/>
          </p:nvGrpSpPr>
          <p:grpSpPr>
            <a:xfrm>
              <a:off x="190500" y="2228850"/>
              <a:ext cx="1809600" cy="324000"/>
              <a:chOff x="0" y="0"/>
              <a:chExt cx="1809600" cy="324000"/>
            </a:xfrm>
          </p:grpSpPr>
          <p:sp>
            <p:nvSpPr>
              <p:cNvPr id="369" name="Google Shape;369;p19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19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判斷哪些是 Decision</a:t>
                </a:r>
                <a:endParaRPr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1" name="Google Shape;371;p19"/>
            <p:cNvSpPr/>
            <p:nvPr/>
          </p:nvSpPr>
          <p:spPr>
            <a:xfrm>
              <a:off x="1066800" y="26193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2" name="Google Shape;372;p19"/>
            <p:cNvGrpSpPr/>
            <p:nvPr/>
          </p:nvGrpSpPr>
          <p:grpSpPr>
            <a:xfrm>
              <a:off x="190500" y="2724150"/>
              <a:ext cx="1809600" cy="324000"/>
              <a:chOff x="0" y="0"/>
              <a:chExt cx="1809600" cy="324000"/>
            </a:xfrm>
          </p:grpSpPr>
          <p:sp>
            <p:nvSpPr>
              <p:cNvPr id="373" name="Google Shape;373;p19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19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整理 Action Item / 人員 / 時程</a:t>
                </a:r>
                <a:endParaRPr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5" name="Google Shape;375;p19"/>
            <p:cNvSpPr/>
            <p:nvPr/>
          </p:nvSpPr>
          <p:spPr>
            <a:xfrm>
              <a:off x="1066800" y="31146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6" name="Google Shape;376;p19"/>
            <p:cNvGrpSpPr/>
            <p:nvPr/>
          </p:nvGrpSpPr>
          <p:grpSpPr>
            <a:xfrm>
              <a:off x="190500" y="3219450"/>
              <a:ext cx="1809600" cy="324000"/>
              <a:chOff x="0" y="0"/>
              <a:chExt cx="1809600" cy="324000"/>
            </a:xfrm>
          </p:grpSpPr>
          <p:sp>
            <p:nvSpPr>
              <p:cNvPr id="377" name="Google Shape;377;p19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19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手動改成公司格式並命名</a:t>
                </a:r>
                <a:endParaRPr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9" name="Google Shape;379;p19"/>
            <p:cNvSpPr/>
            <p:nvPr/>
          </p:nvSpPr>
          <p:spPr>
            <a:xfrm>
              <a:off x="1066800" y="36099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0" name="Google Shape;380;p19"/>
            <p:cNvGrpSpPr/>
            <p:nvPr/>
          </p:nvGrpSpPr>
          <p:grpSpPr>
            <a:xfrm>
              <a:off x="190500" y="3714750"/>
              <a:ext cx="1809600" cy="324000"/>
              <a:chOff x="0" y="0"/>
              <a:chExt cx="1809600" cy="324000"/>
            </a:xfrm>
          </p:grpSpPr>
          <p:sp>
            <p:nvSpPr>
              <p:cNvPr id="381" name="Google Shape;381;p19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19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上傳至 SharePoint 正確資料夾</a:t>
                </a:r>
                <a:endParaRPr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3" name="Google Shape;383;p19"/>
            <p:cNvSpPr/>
            <p:nvPr/>
          </p:nvSpPr>
          <p:spPr>
            <a:xfrm>
              <a:off x="1066800" y="41052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4" name="Google Shape;384;p19"/>
            <p:cNvGrpSpPr/>
            <p:nvPr/>
          </p:nvGrpSpPr>
          <p:grpSpPr>
            <a:xfrm>
              <a:off x="190500" y="4210050"/>
              <a:ext cx="1809600" cy="400200"/>
              <a:chOff x="0" y="0"/>
              <a:chExt cx="1809600" cy="400200"/>
            </a:xfrm>
          </p:grpSpPr>
          <p:sp>
            <p:nvSpPr>
              <p:cNvPr id="385" name="Google Shape;385;p19"/>
              <p:cNvSpPr/>
              <p:nvPr/>
            </p:nvSpPr>
            <p:spPr>
              <a:xfrm>
                <a:off x="0" y="0"/>
                <a:ext cx="1809600" cy="400200"/>
              </a:xfrm>
              <a:prstGeom prst="roundRect">
                <a:avLst>
                  <a:gd fmla="val 7142" name="adj"/>
                </a:avLst>
              </a:prstGeom>
              <a:solidFill>
                <a:srgbClr val="FCA5A5"/>
              </a:solidFill>
              <a:ln cap="flat" cmpd="sng" w="9525">
                <a:solidFill>
                  <a:srgbClr val="F8717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19"/>
              <p:cNvSpPr txBox="1"/>
              <p:nvPr/>
            </p:nvSpPr>
            <p:spPr>
              <a:xfrm>
                <a:off x="0" y="0"/>
                <a:ext cx="18096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另外到 PMO 與知識庫手動更新</a:t>
                </a:r>
                <a:endParaRPr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87" name="Google Shape;387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09788" y="419100"/>
              <a:ext cx="9600" cy="4152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8" name="Google Shape;388;p19"/>
            <p:cNvGrpSpPr/>
            <p:nvPr/>
          </p:nvGrpSpPr>
          <p:grpSpPr>
            <a:xfrm>
              <a:off x="2238375" y="419100"/>
              <a:ext cx="1809600" cy="228600"/>
              <a:chOff x="0" y="0"/>
              <a:chExt cx="1809600" cy="228600"/>
            </a:xfrm>
          </p:grpSpPr>
          <p:sp>
            <p:nvSpPr>
              <p:cNvPr id="389" name="Google Shape;389;p19"/>
              <p:cNvSpPr/>
              <p:nvPr/>
            </p:nvSpPr>
            <p:spPr>
              <a:xfrm>
                <a:off x="0" y="0"/>
                <a:ext cx="1809600" cy="228600"/>
              </a:xfrm>
              <a:prstGeom prst="roundRect">
                <a:avLst>
                  <a:gd fmla="val 12500" name="adj"/>
                </a:avLst>
              </a:prstGeom>
              <a:solidFill>
                <a:srgbClr val="DCFCE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19"/>
              <p:cNvSpPr txBox="1"/>
              <p:nvPr/>
            </p:nvSpPr>
            <p:spPr>
              <a:xfrm>
                <a:off x="0" y="0"/>
                <a:ext cx="1809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9525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166534"/>
                    </a:solidFill>
                  </a:rPr>
                  <a:t>TO-BE (Copilot 協作)</a:t>
                </a:r>
                <a:endParaRPr b="1" sz="950">
                  <a:solidFill>
                    <a:srgbClr val="166534"/>
                  </a:solidFill>
                </a:endParaRPr>
              </a:p>
            </p:txBody>
          </p:sp>
        </p:grpSp>
        <p:grpSp>
          <p:nvGrpSpPr>
            <p:cNvPr id="391" name="Google Shape;391;p19"/>
            <p:cNvGrpSpPr/>
            <p:nvPr/>
          </p:nvGrpSpPr>
          <p:grpSpPr>
            <a:xfrm>
              <a:off x="2238375" y="742950"/>
              <a:ext cx="1809600" cy="324000"/>
              <a:chOff x="0" y="0"/>
              <a:chExt cx="1809600" cy="324000"/>
            </a:xfrm>
          </p:grpSpPr>
          <p:sp>
            <p:nvSpPr>
              <p:cNvPr id="392" name="Google Shape;392;p19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19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開完會</a:t>
                </a:r>
                <a:endParaRPr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4" name="Google Shape;394;p19"/>
            <p:cNvSpPr/>
            <p:nvPr/>
          </p:nvSpPr>
          <p:spPr>
            <a:xfrm>
              <a:off x="3114675" y="11334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5" name="Google Shape;395;p19"/>
            <p:cNvGrpSpPr/>
            <p:nvPr/>
          </p:nvGrpSpPr>
          <p:grpSpPr>
            <a:xfrm>
              <a:off x="2238375" y="1238250"/>
              <a:ext cx="1809600" cy="324000"/>
              <a:chOff x="0" y="0"/>
              <a:chExt cx="1809600" cy="324000"/>
            </a:xfrm>
          </p:grpSpPr>
          <p:sp>
            <p:nvSpPr>
              <p:cNvPr id="396" name="Google Shape;396;p19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19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上傳錄音檔 / 逐字稿 / 資訊</a:t>
                </a:r>
                <a:endParaRPr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98" name="Google Shape;398;p19"/>
            <p:cNvSpPr/>
            <p:nvPr/>
          </p:nvSpPr>
          <p:spPr>
            <a:xfrm>
              <a:off x="3114675" y="16287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9" name="Google Shape;399;p19"/>
            <p:cNvGrpSpPr/>
            <p:nvPr/>
          </p:nvGrpSpPr>
          <p:grpSpPr>
            <a:xfrm>
              <a:off x="2238375" y="1733550"/>
              <a:ext cx="1809600" cy="324000"/>
              <a:chOff x="0" y="0"/>
              <a:chExt cx="1809600" cy="324000"/>
            </a:xfrm>
          </p:grpSpPr>
          <p:sp>
            <p:nvSpPr>
              <p:cNvPr id="400" name="Google Shape;400;p19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19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套用 Meeting Record Skill</a:t>
                </a:r>
                <a:endParaRPr b="1" sz="95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2" name="Google Shape;402;p19"/>
            <p:cNvSpPr/>
            <p:nvPr/>
          </p:nvSpPr>
          <p:spPr>
            <a:xfrm>
              <a:off x="3114675" y="21240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3" name="Google Shape;403;p19"/>
            <p:cNvGrpSpPr/>
            <p:nvPr/>
          </p:nvGrpSpPr>
          <p:grpSpPr>
            <a:xfrm>
              <a:off x="2238375" y="2228850"/>
              <a:ext cx="1809600" cy="324000"/>
              <a:chOff x="0" y="0"/>
              <a:chExt cx="1809600" cy="324000"/>
            </a:xfrm>
          </p:grpSpPr>
          <p:sp>
            <p:nvSpPr>
              <p:cNvPr id="404" name="Google Shape;404;p19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5" name="Google Shape;405;p19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AI 自動辨識 Decision 決策點</a:t>
                </a:r>
                <a:endParaRPr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6" name="Google Shape;406;p19"/>
            <p:cNvSpPr/>
            <p:nvPr/>
          </p:nvSpPr>
          <p:spPr>
            <a:xfrm>
              <a:off x="3114675" y="26193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07" name="Google Shape;407;p19"/>
            <p:cNvGrpSpPr/>
            <p:nvPr/>
          </p:nvGrpSpPr>
          <p:grpSpPr>
            <a:xfrm>
              <a:off x="2238375" y="2724150"/>
              <a:ext cx="1809600" cy="324000"/>
              <a:chOff x="0" y="0"/>
              <a:chExt cx="1809600" cy="324000"/>
            </a:xfrm>
          </p:grpSpPr>
          <p:sp>
            <p:nvSpPr>
              <p:cNvPr id="408" name="Google Shape;408;p19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9" name="Google Shape;409;p19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自動指派 Action / Owner / 時程</a:t>
                </a:r>
                <a:endParaRPr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0" name="Google Shape;410;p19"/>
            <p:cNvSpPr/>
            <p:nvPr/>
          </p:nvSpPr>
          <p:spPr>
            <a:xfrm>
              <a:off x="3114675" y="31146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1" name="Google Shape;411;p19"/>
            <p:cNvGrpSpPr/>
            <p:nvPr/>
          </p:nvGrpSpPr>
          <p:grpSpPr>
            <a:xfrm>
              <a:off x="2238375" y="3219450"/>
              <a:ext cx="1809600" cy="324000"/>
              <a:chOff x="0" y="0"/>
              <a:chExt cx="1809600" cy="324000"/>
            </a:xfrm>
          </p:grpSpPr>
          <p:sp>
            <p:nvSpPr>
              <p:cNvPr id="412" name="Google Shape;412;p19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3" name="Google Shape;413;p19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生成標準紀錄並依規則歸檔</a:t>
                </a:r>
                <a:endParaRPr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4" name="Google Shape;414;p19"/>
            <p:cNvSpPr/>
            <p:nvPr/>
          </p:nvSpPr>
          <p:spPr>
            <a:xfrm>
              <a:off x="3114675" y="36099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5" name="Google Shape;415;p19"/>
            <p:cNvGrpSpPr/>
            <p:nvPr/>
          </p:nvGrpSpPr>
          <p:grpSpPr>
            <a:xfrm>
              <a:off x="2238375" y="3714750"/>
              <a:ext cx="1809600" cy="324000"/>
              <a:chOff x="0" y="0"/>
              <a:chExt cx="1809600" cy="324000"/>
            </a:xfrm>
          </p:grpSpPr>
          <p:sp>
            <p:nvSpPr>
              <p:cNvPr id="416" name="Google Shape;416;p19"/>
              <p:cNvSpPr/>
              <p:nvPr/>
            </p:nvSpPr>
            <p:spPr>
              <a:xfrm>
                <a:off x="0" y="0"/>
                <a:ext cx="1809600" cy="324000"/>
              </a:xfrm>
              <a:prstGeom prst="roundRect">
                <a:avLst>
                  <a:gd fmla="val 8823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7" name="Google Shape;417;p19"/>
              <p:cNvSpPr txBox="1"/>
              <p:nvPr/>
            </p:nvSpPr>
            <p:spPr>
              <a:xfrm>
                <a:off x="0" y="0"/>
                <a:ext cx="18096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自動同步 Knowledge / PMO</a:t>
                </a:r>
                <a:endParaRPr b="1" sz="95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8" name="Google Shape;418;p19"/>
            <p:cNvSpPr/>
            <p:nvPr/>
          </p:nvSpPr>
          <p:spPr>
            <a:xfrm>
              <a:off x="3114675" y="41052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19" name="Google Shape;419;p19"/>
            <p:cNvGrpSpPr/>
            <p:nvPr/>
          </p:nvGrpSpPr>
          <p:grpSpPr>
            <a:xfrm>
              <a:off x="2238375" y="4210050"/>
              <a:ext cx="1809600" cy="400200"/>
              <a:chOff x="0" y="0"/>
              <a:chExt cx="1809600" cy="400200"/>
            </a:xfrm>
          </p:grpSpPr>
          <p:sp>
            <p:nvSpPr>
              <p:cNvPr id="420" name="Google Shape;420;p19"/>
              <p:cNvSpPr/>
              <p:nvPr/>
            </p:nvSpPr>
            <p:spPr>
              <a:xfrm>
                <a:off x="0" y="0"/>
                <a:ext cx="1809600" cy="400200"/>
              </a:xfrm>
              <a:prstGeom prst="roundRect">
                <a:avLst>
                  <a:gd fmla="val 7142" name="adj"/>
                </a:avLst>
              </a:prstGeom>
              <a:solidFill>
                <a:srgbClr val="86EFAC"/>
              </a:solidFill>
              <a:ln cap="flat" cmpd="sng" w="9525">
                <a:solidFill>
                  <a:srgbClr val="4ADE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1" name="Google Shape;421;p19"/>
              <p:cNvSpPr txBox="1"/>
              <p:nvPr/>
            </p:nvSpPr>
            <p:spPr>
              <a:xfrm>
                <a:off x="0" y="0"/>
                <a:ext cx="18096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9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正式發布前，由人工 Review</a:t>
                </a:r>
                <a:endParaRPr sz="9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2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20"/>
          <p:cNvSpPr/>
          <p:nvPr/>
        </p:nvSpPr>
        <p:spPr>
          <a:xfrm>
            <a:off x="0" y="685800"/>
            <a:ext cx="9144000" cy="477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0"/>
          <p:cNvSpPr txBox="1"/>
          <p:nvPr/>
        </p:nvSpPr>
        <p:spPr>
          <a:xfrm>
            <a:off x="285750" y="114300"/>
            <a:ext cx="857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04｜Knowledge Management Agent — 從「知道資料在哪」轉向「直接取得組織記憶」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0" name="Google Shape;430;p20"/>
          <p:cNvGrpSpPr/>
          <p:nvPr/>
        </p:nvGrpSpPr>
        <p:grpSpPr>
          <a:xfrm>
            <a:off x="285750" y="904875"/>
            <a:ext cx="4143300" cy="1428900"/>
            <a:chOff x="0" y="0"/>
            <a:chExt cx="4143300" cy="1428900"/>
          </a:xfrm>
        </p:grpSpPr>
        <p:sp>
          <p:nvSpPr>
            <p:cNvPr id="431" name="Google Shape;431;p20"/>
            <p:cNvSpPr/>
            <p:nvPr/>
          </p:nvSpPr>
          <p:spPr>
            <a:xfrm>
              <a:off x="0" y="0"/>
              <a:ext cx="4143300" cy="1428900"/>
            </a:xfrm>
            <a:prstGeom prst="roundRect">
              <a:avLst>
                <a:gd fmla="val 266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20"/>
            <p:cNvSpPr/>
            <p:nvPr/>
          </p:nvSpPr>
          <p:spPr>
            <a:xfrm>
              <a:off x="0" y="0"/>
              <a:ext cx="4143300" cy="304800"/>
            </a:xfrm>
            <a:custGeom>
              <a:rect b="b" l="l" r="r" t="t"/>
              <a:pathLst>
                <a:path extrusionOk="0" h="120000" w="120000">
                  <a:moveTo>
                    <a:pt x="0" y="15000"/>
                  </a:moveTo>
                  <a:lnTo>
                    <a:pt x="1103" y="0"/>
                  </a:lnTo>
                  <a:lnTo>
                    <a:pt x="118897" y="0"/>
                  </a:lnTo>
                  <a:lnTo>
                    <a:pt x="120000" y="15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22B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20"/>
            <p:cNvSpPr txBox="1"/>
            <p:nvPr/>
          </p:nvSpPr>
          <p:spPr>
            <a:xfrm>
              <a:off x="142875" y="57150"/>
              <a:ext cx="3857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核心價值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20"/>
            <p:cNvSpPr txBox="1"/>
            <p:nvPr/>
          </p:nvSpPr>
          <p:spPr>
            <a:xfrm>
              <a:off x="142875" y="419100"/>
              <a:ext cx="38577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將散落於 SharePoint、Teams、Email、舊簡報與個人記憶中的知識，轉化成可用自然語言直接調用的 institutional memory。</a:t>
              </a:r>
              <a:endParaRPr b="0" sz="925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" sz="925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顯著降低企業重複研究、內部找人問資料，以及人員離職造成的關鍵知識流失 (knowledge loss)。</a:t>
              </a:r>
              <a:endParaRPr b="0" sz="925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5" name="Google Shape;435;p20"/>
          <p:cNvGrpSpPr/>
          <p:nvPr/>
        </p:nvGrpSpPr>
        <p:grpSpPr>
          <a:xfrm>
            <a:off x="285750" y="2476500"/>
            <a:ext cx="4143300" cy="2381400"/>
            <a:chOff x="0" y="0"/>
            <a:chExt cx="4143300" cy="2381400"/>
          </a:xfrm>
        </p:grpSpPr>
        <p:sp>
          <p:nvSpPr>
            <p:cNvPr id="436" name="Google Shape;436;p20"/>
            <p:cNvSpPr/>
            <p:nvPr/>
          </p:nvSpPr>
          <p:spPr>
            <a:xfrm>
              <a:off x="0" y="0"/>
              <a:ext cx="4143300" cy="2381400"/>
            </a:xfrm>
            <a:prstGeom prst="roundRect">
              <a:avLst>
                <a:gd fmla="val 16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0"/>
            <p:cNvSpPr/>
            <p:nvPr/>
          </p:nvSpPr>
          <p:spPr>
            <a:xfrm>
              <a:off x="0" y="0"/>
              <a:ext cx="4143300" cy="304800"/>
            </a:xfrm>
            <a:custGeom>
              <a:rect b="b" l="l" r="r" t="t"/>
              <a:pathLst>
                <a:path extrusionOk="0" h="120000" w="120000">
                  <a:moveTo>
                    <a:pt x="0" y="15000"/>
                  </a:moveTo>
                  <a:lnTo>
                    <a:pt x="1103" y="0"/>
                  </a:lnTo>
                  <a:lnTo>
                    <a:pt x="118897" y="0"/>
                  </a:lnTo>
                  <a:lnTo>
                    <a:pt x="120000" y="15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22B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20"/>
            <p:cNvSpPr txBox="1"/>
            <p:nvPr/>
          </p:nvSpPr>
          <p:spPr>
            <a:xfrm>
              <a:off x="142875" y="57150"/>
              <a:ext cx="38577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Cowork 架構設定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20"/>
            <p:cNvSpPr txBox="1"/>
            <p:nvPr/>
          </p:nvSpPr>
          <p:spPr>
            <a:xfrm>
              <a:off x="142875" y="400050"/>
              <a:ext cx="3857700" cy="188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87338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05A9C"/>
                </a:buClr>
                <a:buSzPts val="925"/>
                <a:buFont typeface="Arial"/>
                <a:buChar char="●"/>
              </a:pPr>
              <a:r>
                <a:rPr b="1" lang="en" sz="925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Context：</a:t>
              </a:r>
              <a:r>
                <a:rPr b="0" lang="en" sz="925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指定 SharePoint sites、OneDrive、Teams、Email 等既有權限範圍</a:t>
              </a:r>
              <a:endParaRPr b="1" sz="925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7338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005A9C"/>
                </a:buClr>
                <a:buSzPts val="925"/>
                <a:buFont typeface="Arial"/>
                <a:buChar char="●"/>
              </a:pPr>
              <a:r>
                <a:rPr b="1" lang="en" sz="925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Work IQ / Enterprise Search：</a:t>
              </a:r>
              <a:r>
                <a:rPr b="0" lang="en" sz="925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跨文件、訊息、會議、人員建立全方位工作脈絡</a:t>
              </a:r>
              <a:endParaRPr b="1" sz="925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7338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005A9C"/>
                </a:buClr>
                <a:buSzPts val="925"/>
                <a:buFont typeface="Arial"/>
                <a:buChar char="●"/>
              </a:pPr>
              <a:r>
                <a:rPr b="1" lang="en" sz="925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Custom Knowledge Skill：</a:t>
              </a:r>
              <a:r>
                <a:rPr b="0" lang="en" sz="925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定義回答格式、precedent 判斷、決策歷史與引用規範</a:t>
              </a:r>
              <a:endParaRPr b="1" sz="925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7338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005A9C"/>
                </a:buClr>
                <a:buSzPts val="925"/>
                <a:buFont typeface="Arial"/>
                <a:buChar char="●"/>
              </a:pPr>
              <a:r>
                <a:rPr b="1" lang="en" sz="925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Metadata / Taxonomy：</a:t>
              </a:r>
              <a:r>
                <a:rPr b="0" lang="en" sz="925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自動歸檔專案、客戶、主題、日期、擁有者與決策標籤</a:t>
              </a:r>
              <a:endParaRPr b="1" sz="925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7338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005A9C"/>
                </a:buClr>
                <a:buSzPts val="925"/>
                <a:buFont typeface="Arial"/>
                <a:buChar char="●"/>
              </a:pPr>
              <a:r>
                <a:rPr b="1" lang="en" sz="925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Optional Output：</a:t>
              </a:r>
              <a:r>
                <a:rPr b="0" lang="en" sz="925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將篩選出的重要結論，自動整理成 standardized knowledge note</a:t>
              </a:r>
              <a:endParaRPr b="1" sz="925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" sz="833">
                  <a:solidFill>
                    <a:srgbClr val="334455"/>
                  </a:solidFill>
                  <a:highlight>
                    <a:srgbClr val="F0F4F8"/>
                  </a:highlight>
                  <a:latin typeface="Arial"/>
                  <a:ea typeface="Arial"/>
                  <a:cs typeface="Arial"/>
                  <a:sym typeface="Arial"/>
                </a:rPr>
                <a:t>Work IQ 為 Microsoft 用於整合 Mail、Files、People 等脈絡的智慧層。</a:t>
              </a:r>
              <a:endParaRPr b="0" sz="833">
                <a:solidFill>
                  <a:srgbClr val="334455"/>
                </a:solidFill>
                <a:highlight>
                  <a:srgbClr val="F0F4F8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0" name="Google Shape;440;p20"/>
          <p:cNvGrpSpPr/>
          <p:nvPr/>
        </p:nvGrpSpPr>
        <p:grpSpPr>
          <a:xfrm>
            <a:off x="4619625" y="904875"/>
            <a:ext cx="4238700" cy="3953058"/>
            <a:chOff x="0" y="0"/>
            <a:chExt cx="4238700" cy="4754700"/>
          </a:xfrm>
        </p:grpSpPr>
        <p:sp>
          <p:nvSpPr>
            <p:cNvPr id="441" name="Google Shape;441;p20"/>
            <p:cNvSpPr/>
            <p:nvPr/>
          </p:nvSpPr>
          <p:spPr>
            <a:xfrm>
              <a:off x="0" y="0"/>
              <a:ext cx="4238700" cy="4754700"/>
            </a:xfrm>
            <a:prstGeom prst="roundRect">
              <a:avLst>
                <a:gd fmla="val 96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0"/>
            <p:cNvSpPr/>
            <p:nvPr/>
          </p:nvSpPr>
          <p:spPr>
            <a:xfrm>
              <a:off x="0" y="0"/>
              <a:ext cx="4238700" cy="304800"/>
            </a:xfrm>
            <a:custGeom>
              <a:rect b="b" l="l" r="r" t="t"/>
              <a:pathLst>
                <a:path extrusionOk="0" h="120000" w="120000">
                  <a:moveTo>
                    <a:pt x="0" y="15000"/>
                  </a:moveTo>
                  <a:lnTo>
                    <a:pt x="1079" y="0"/>
                  </a:lnTo>
                  <a:lnTo>
                    <a:pt x="118921" y="0"/>
                  </a:lnTo>
                  <a:lnTo>
                    <a:pt x="120000" y="15000"/>
                  </a:ln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122B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0"/>
            <p:cNvSpPr txBox="1"/>
            <p:nvPr/>
          </p:nvSpPr>
          <p:spPr>
            <a:xfrm>
              <a:off x="142875" y="57150"/>
              <a:ext cx="39528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流程對照 AS-IS vs. TO-BE</a:t>
              </a:r>
              <a:endParaRPr b="1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4" name="Google Shape;444;p20"/>
            <p:cNvGrpSpPr/>
            <p:nvPr/>
          </p:nvGrpSpPr>
          <p:grpSpPr>
            <a:xfrm>
              <a:off x="190500" y="419100"/>
              <a:ext cx="1809600" cy="228600"/>
              <a:chOff x="0" y="0"/>
              <a:chExt cx="1809600" cy="228600"/>
            </a:xfrm>
          </p:grpSpPr>
          <p:sp>
            <p:nvSpPr>
              <p:cNvPr id="445" name="Google Shape;445;p20"/>
              <p:cNvSpPr/>
              <p:nvPr/>
            </p:nvSpPr>
            <p:spPr>
              <a:xfrm>
                <a:off x="0" y="0"/>
                <a:ext cx="1809600" cy="228600"/>
              </a:xfrm>
              <a:prstGeom prst="roundRect">
                <a:avLst>
                  <a:gd fmla="val 12500" name="adj"/>
                </a:avLst>
              </a:prstGeom>
              <a:solidFill>
                <a:srgbClr val="FEE2E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20"/>
              <p:cNvSpPr txBox="1"/>
              <p:nvPr/>
            </p:nvSpPr>
            <p:spPr>
              <a:xfrm>
                <a:off x="0" y="0"/>
                <a:ext cx="18096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991B1B"/>
                    </a:solidFill>
                    <a:latin typeface="Arial"/>
                    <a:ea typeface="Arial"/>
                    <a:cs typeface="Arial"/>
                    <a:sym typeface="Arial"/>
                  </a:rPr>
                  <a:t>AS-IS (傳統流程)</a:t>
                </a:r>
                <a:endParaRPr b="1" sz="950">
                  <a:solidFill>
                    <a:srgbClr val="991B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7" name="Google Shape;447;p20"/>
            <p:cNvGrpSpPr/>
            <p:nvPr/>
          </p:nvGrpSpPr>
          <p:grpSpPr>
            <a:xfrm>
              <a:off x="190500" y="742950"/>
              <a:ext cx="1809600" cy="362100"/>
              <a:chOff x="0" y="0"/>
              <a:chExt cx="1809600" cy="362100"/>
            </a:xfrm>
          </p:grpSpPr>
          <p:sp>
            <p:nvSpPr>
              <p:cNvPr id="448" name="Google Shape;448;p20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9" name="Google Shape;449;p20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「以前有人做過嗎？」</a:t>
                </a:r>
                <a:endParaRPr b="0" sz="83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0" name="Google Shape;450;p20"/>
            <p:cNvSpPr/>
            <p:nvPr/>
          </p:nvSpPr>
          <p:spPr>
            <a:xfrm>
              <a:off x="1095375" y="1104900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0"/>
            <p:cNvSpPr/>
            <p:nvPr/>
          </p:nvSpPr>
          <p:spPr>
            <a:xfrm>
              <a:off x="1066800" y="1181100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2" name="Google Shape;452;p20"/>
            <p:cNvGrpSpPr/>
            <p:nvPr/>
          </p:nvGrpSpPr>
          <p:grpSpPr>
            <a:xfrm>
              <a:off x="190500" y="1247775"/>
              <a:ext cx="1809600" cy="362100"/>
              <a:chOff x="0" y="0"/>
              <a:chExt cx="1809600" cy="362100"/>
            </a:xfrm>
          </p:grpSpPr>
          <p:sp>
            <p:nvSpPr>
              <p:cNvPr id="453" name="Google Shape;453;p20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4" name="Google Shape;454;p20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問資深同事</a:t>
                </a:r>
                <a:endParaRPr b="0" sz="83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5" name="Google Shape;455;p20"/>
            <p:cNvSpPr/>
            <p:nvPr/>
          </p:nvSpPr>
          <p:spPr>
            <a:xfrm>
              <a:off x="1095375" y="1609725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20"/>
            <p:cNvSpPr/>
            <p:nvPr/>
          </p:nvSpPr>
          <p:spPr>
            <a:xfrm>
              <a:off x="1066800" y="168592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57" name="Google Shape;457;p20"/>
            <p:cNvGrpSpPr/>
            <p:nvPr/>
          </p:nvGrpSpPr>
          <p:grpSpPr>
            <a:xfrm>
              <a:off x="190500" y="1752600"/>
              <a:ext cx="1809600" cy="362100"/>
              <a:chOff x="0" y="0"/>
              <a:chExt cx="1809600" cy="362100"/>
            </a:xfrm>
          </p:grpSpPr>
          <p:sp>
            <p:nvSpPr>
              <p:cNvPr id="458" name="Google Shape;458;p20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20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翻 SharePoint </a:t>
                </a:r>
                <a:r>
                  <a:rPr lang="en" sz="833">
                    <a:solidFill>
                      <a:srgbClr val="122B46"/>
                    </a:solidFill>
                  </a:rPr>
                  <a:t>/ 公槽</a:t>
                </a:r>
                <a:r>
                  <a:rPr b="0" lang="en" sz="833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搜尋</a:t>
                </a:r>
                <a:endParaRPr b="0" sz="83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0" name="Google Shape;460;p20"/>
            <p:cNvSpPr/>
            <p:nvPr/>
          </p:nvSpPr>
          <p:spPr>
            <a:xfrm>
              <a:off x="1095375" y="2114550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20"/>
            <p:cNvSpPr/>
            <p:nvPr/>
          </p:nvSpPr>
          <p:spPr>
            <a:xfrm>
              <a:off x="1066800" y="2190750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2" name="Google Shape;462;p20"/>
            <p:cNvGrpSpPr/>
            <p:nvPr/>
          </p:nvGrpSpPr>
          <p:grpSpPr>
            <a:xfrm>
              <a:off x="190500" y="2257425"/>
              <a:ext cx="1809600" cy="362100"/>
              <a:chOff x="0" y="0"/>
              <a:chExt cx="1809600" cy="362100"/>
            </a:xfrm>
          </p:grpSpPr>
          <p:sp>
            <p:nvSpPr>
              <p:cNvPr id="463" name="Google Shape;463;p20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4" name="Google Shape;464;p20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搜 Teams / Email 歷史</a:t>
                </a:r>
                <a:endParaRPr b="0" sz="83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5" name="Google Shape;465;p20"/>
            <p:cNvSpPr/>
            <p:nvPr/>
          </p:nvSpPr>
          <p:spPr>
            <a:xfrm>
              <a:off x="1095375" y="2619375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0"/>
            <p:cNvSpPr/>
            <p:nvPr/>
          </p:nvSpPr>
          <p:spPr>
            <a:xfrm>
              <a:off x="1066800" y="26955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67" name="Google Shape;467;p20"/>
            <p:cNvGrpSpPr/>
            <p:nvPr/>
          </p:nvGrpSpPr>
          <p:grpSpPr>
            <a:xfrm>
              <a:off x="190500" y="2762250"/>
              <a:ext cx="1809600" cy="362100"/>
              <a:chOff x="0" y="0"/>
              <a:chExt cx="1809600" cy="362100"/>
            </a:xfrm>
          </p:grpSpPr>
          <p:sp>
            <p:nvSpPr>
              <p:cNvPr id="468" name="Google Shape;468;p20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9" name="Google Shape;469;p20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找到幾份可能相關文件</a:t>
                </a:r>
                <a:endParaRPr b="0" sz="83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0" name="Google Shape;470;p20"/>
            <p:cNvSpPr/>
            <p:nvPr/>
          </p:nvSpPr>
          <p:spPr>
            <a:xfrm>
              <a:off x="1095375" y="3124200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0"/>
            <p:cNvSpPr/>
            <p:nvPr/>
          </p:nvSpPr>
          <p:spPr>
            <a:xfrm>
              <a:off x="1066800" y="3200400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2" name="Google Shape;472;p20"/>
            <p:cNvGrpSpPr/>
            <p:nvPr/>
          </p:nvGrpSpPr>
          <p:grpSpPr>
            <a:xfrm>
              <a:off x="190500" y="3267075"/>
              <a:ext cx="1809600" cy="362100"/>
              <a:chOff x="0" y="0"/>
              <a:chExt cx="1809600" cy="362100"/>
            </a:xfrm>
          </p:grpSpPr>
          <p:sp>
            <p:nvSpPr>
              <p:cNvPr id="473" name="Google Shape;473;p20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20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自己重新閱讀、推敲</a:t>
                </a:r>
                <a:endParaRPr b="0" sz="83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75" name="Google Shape;475;p20"/>
            <p:cNvSpPr/>
            <p:nvPr/>
          </p:nvSpPr>
          <p:spPr>
            <a:xfrm>
              <a:off x="1095375" y="3629025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20"/>
            <p:cNvSpPr/>
            <p:nvPr/>
          </p:nvSpPr>
          <p:spPr>
            <a:xfrm>
              <a:off x="1066800" y="370522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77" name="Google Shape;477;p20"/>
            <p:cNvGrpSpPr/>
            <p:nvPr/>
          </p:nvGrpSpPr>
          <p:grpSpPr>
            <a:xfrm>
              <a:off x="190500" y="3771900"/>
              <a:ext cx="1809600" cy="362100"/>
              <a:chOff x="0" y="0"/>
              <a:chExt cx="1809600" cy="362100"/>
            </a:xfrm>
          </p:grpSpPr>
          <p:sp>
            <p:nvSpPr>
              <p:cNvPr id="478" name="Google Shape;478;p20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FF1F2"/>
              </a:solidFill>
              <a:ln cap="flat" cmpd="sng" w="9525">
                <a:solidFill>
                  <a:srgbClr val="FECDD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20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拼湊當時的決策背景</a:t>
                </a:r>
                <a:endParaRPr b="0" sz="83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80" name="Google Shape;480;p20"/>
            <p:cNvSpPr/>
            <p:nvPr/>
          </p:nvSpPr>
          <p:spPr>
            <a:xfrm>
              <a:off x="1095375" y="4133850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F43F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20"/>
            <p:cNvSpPr/>
            <p:nvPr/>
          </p:nvSpPr>
          <p:spPr>
            <a:xfrm>
              <a:off x="1066800" y="4210050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F43F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82" name="Google Shape;482;p20"/>
            <p:cNvGrpSpPr/>
            <p:nvPr/>
          </p:nvGrpSpPr>
          <p:grpSpPr>
            <a:xfrm>
              <a:off x="190500" y="4276725"/>
              <a:ext cx="1809600" cy="362100"/>
              <a:chOff x="0" y="0"/>
              <a:chExt cx="1809600" cy="362100"/>
            </a:xfrm>
          </p:grpSpPr>
          <p:sp>
            <p:nvSpPr>
              <p:cNvPr id="483" name="Google Shape;483;p20"/>
              <p:cNvSpPr/>
              <p:nvPr/>
            </p:nvSpPr>
            <p:spPr>
              <a:xfrm>
                <a:off x="0" y="0"/>
                <a:ext cx="18096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FCA5A5"/>
              </a:solidFill>
              <a:ln cap="flat" cmpd="sng" w="9525">
                <a:solidFill>
                  <a:srgbClr val="F8717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20"/>
              <p:cNvSpPr txBox="1"/>
              <p:nvPr/>
            </p:nvSpPr>
            <p:spPr>
              <a:xfrm>
                <a:off x="0" y="0"/>
                <a:ext cx="18096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33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重疊研究，甚至直接重做</a:t>
                </a:r>
                <a:endParaRPr b="1" sz="83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485" name="Google Shape;485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109788" y="419100"/>
              <a:ext cx="9600" cy="42006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486" name="Google Shape;486;p20"/>
            <p:cNvGrpSpPr/>
            <p:nvPr/>
          </p:nvGrpSpPr>
          <p:grpSpPr>
            <a:xfrm>
              <a:off x="2238375" y="419100"/>
              <a:ext cx="1800300" cy="228600"/>
              <a:chOff x="0" y="0"/>
              <a:chExt cx="1800300" cy="228600"/>
            </a:xfrm>
          </p:grpSpPr>
          <p:sp>
            <p:nvSpPr>
              <p:cNvPr id="487" name="Google Shape;487;p20"/>
              <p:cNvSpPr/>
              <p:nvPr/>
            </p:nvSpPr>
            <p:spPr>
              <a:xfrm>
                <a:off x="0" y="0"/>
                <a:ext cx="1800300" cy="228600"/>
              </a:xfrm>
              <a:prstGeom prst="roundRect">
                <a:avLst>
                  <a:gd fmla="val 12500" name="adj"/>
                </a:avLst>
              </a:prstGeom>
              <a:solidFill>
                <a:srgbClr val="DCFCE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20"/>
              <p:cNvSpPr txBox="1"/>
              <p:nvPr/>
            </p:nvSpPr>
            <p:spPr>
              <a:xfrm>
                <a:off x="0" y="0"/>
                <a:ext cx="18003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95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TO-BE (</a:t>
                </a:r>
                <a:r>
                  <a:rPr b="1" lang="en" sz="95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Cowork</a:t>
                </a:r>
                <a:r>
                  <a:rPr b="1" lang="en" sz="95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 協作)</a:t>
                </a:r>
                <a:endParaRPr b="1" sz="95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9" name="Google Shape;489;p20"/>
            <p:cNvGrpSpPr/>
            <p:nvPr/>
          </p:nvGrpSpPr>
          <p:grpSpPr>
            <a:xfrm>
              <a:off x="2238375" y="742950"/>
              <a:ext cx="1800300" cy="362100"/>
              <a:chOff x="0" y="0"/>
              <a:chExt cx="1800300" cy="362100"/>
            </a:xfrm>
          </p:grpSpPr>
          <p:sp>
            <p:nvSpPr>
              <p:cNvPr id="490" name="Google Shape;490;p20"/>
              <p:cNvSpPr/>
              <p:nvPr/>
            </p:nvSpPr>
            <p:spPr>
              <a:xfrm>
                <a:off x="0" y="0"/>
                <a:ext cx="18003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1" name="Google Shape;491;p20"/>
              <p:cNvSpPr txBox="1"/>
              <p:nvPr/>
            </p:nvSpPr>
            <p:spPr>
              <a:xfrm>
                <a:off x="0" y="0"/>
                <a:ext cx="18003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直接用自然語言提問</a:t>
                </a:r>
                <a:endParaRPr b="0" sz="83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2" name="Google Shape;492;p20"/>
            <p:cNvSpPr/>
            <p:nvPr/>
          </p:nvSpPr>
          <p:spPr>
            <a:xfrm>
              <a:off x="3143250" y="1104900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20"/>
            <p:cNvSpPr/>
            <p:nvPr/>
          </p:nvSpPr>
          <p:spPr>
            <a:xfrm>
              <a:off x="3114675" y="1181100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4" name="Google Shape;494;p20"/>
            <p:cNvGrpSpPr/>
            <p:nvPr/>
          </p:nvGrpSpPr>
          <p:grpSpPr>
            <a:xfrm>
              <a:off x="2238375" y="1247775"/>
              <a:ext cx="1800300" cy="866700"/>
              <a:chOff x="0" y="0"/>
              <a:chExt cx="1800300" cy="866700"/>
            </a:xfrm>
          </p:grpSpPr>
          <p:sp>
            <p:nvSpPr>
              <p:cNvPr id="495" name="Google Shape;495;p20"/>
              <p:cNvSpPr/>
              <p:nvPr/>
            </p:nvSpPr>
            <p:spPr>
              <a:xfrm>
                <a:off x="0" y="0"/>
                <a:ext cx="1800300" cy="866700"/>
              </a:xfrm>
              <a:prstGeom prst="roundRect">
                <a:avLst>
                  <a:gd fmla="val 3296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20"/>
              <p:cNvSpPr txBox="1"/>
              <p:nvPr/>
            </p:nvSpPr>
            <p:spPr>
              <a:xfrm>
                <a:off x="0" y="0"/>
                <a:ext cx="1800300" cy="866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33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AI 跨平台自動檢索 (70%)</a:t>
                </a:r>
                <a:endParaRPr b="1" sz="833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Cowork 跨 M365 工具搜尋</a:t>
                </a:r>
                <a:endParaRPr b="0" sz="8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↓</a:t>
                </a:r>
                <a:endParaRPr b="0" sz="8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自動搜尋、比對、關聯化</a:t>
                </a:r>
                <a:endParaRPr b="0" sz="8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97" name="Google Shape;497;p20"/>
            <p:cNvSpPr/>
            <p:nvPr/>
          </p:nvSpPr>
          <p:spPr>
            <a:xfrm>
              <a:off x="3143250" y="2114550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0"/>
            <p:cNvSpPr/>
            <p:nvPr/>
          </p:nvSpPr>
          <p:spPr>
            <a:xfrm>
              <a:off x="3114675" y="2190750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499" name="Google Shape;499;p20"/>
            <p:cNvGrpSpPr/>
            <p:nvPr/>
          </p:nvGrpSpPr>
          <p:grpSpPr>
            <a:xfrm>
              <a:off x="2238375" y="2257425"/>
              <a:ext cx="1800300" cy="362100"/>
              <a:chOff x="0" y="0"/>
              <a:chExt cx="1800300" cy="362100"/>
            </a:xfrm>
          </p:grpSpPr>
          <p:sp>
            <p:nvSpPr>
              <p:cNvPr id="500" name="Google Shape;500;p20"/>
              <p:cNvSpPr/>
              <p:nvPr/>
            </p:nvSpPr>
            <p:spPr>
              <a:xfrm>
                <a:off x="0" y="0"/>
                <a:ext cx="18003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20"/>
              <p:cNvSpPr txBox="1"/>
              <p:nvPr/>
            </p:nvSpPr>
            <p:spPr>
              <a:xfrm>
                <a:off x="0" y="0"/>
                <a:ext cx="18003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找出相關專案、文件與會議</a:t>
                </a:r>
                <a:endParaRPr b="0" sz="83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2" name="Google Shape;502;p20"/>
            <p:cNvSpPr/>
            <p:nvPr/>
          </p:nvSpPr>
          <p:spPr>
            <a:xfrm>
              <a:off x="3143250" y="2619375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20"/>
            <p:cNvSpPr/>
            <p:nvPr/>
          </p:nvSpPr>
          <p:spPr>
            <a:xfrm>
              <a:off x="3114675" y="26955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4" name="Google Shape;504;p20"/>
            <p:cNvGrpSpPr/>
            <p:nvPr/>
          </p:nvGrpSpPr>
          <p:grpSpPr>
            <a:xfrm>
              <a:off x="2238375" y="2762250"/>
              <a:ext cx="1800300" cy="362100"/>
              <a:chOff x="0" y="0"/>
              <a:chExt cx="1800300" cy="362100"/>
            </a:xfrm>
          </p:grpSpPr>
          <p:sp>
            <p:nvSpPr>
              <p:cNvPr id="505" name="Google Shape;505;p20"/>
              <p:cNvSpPr/>
              <p:nvPr/>
            </p:nvSpPr>
            <p:spPr>
              <a:xfrm>
                <a:off x="0" y="0"/>
                <a:ext cx="18003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6" name="Google Shape;506;p20"/>
              <p:cNvSpPr txBox="1"/>
              <p:nvPr/>
            </p:nvSpPr>
            <p:spPr>
              <a:xfrm>
                <a:off x="0" y="0"/>
                <a:ext cx="18003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33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串聯當時完整決策脈絡</a:t>
                </a:r>
                <a:endParaRPr b="0" sz="83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07" name="Google Shape;507;p20"/>
            <p:cNvSpPr/>
            <p:nvPr/>
          </p:nvSpPr>
          <p:spPr>
            <a:xfrm>
              <a:off x="3143250" y="3124200"/>
              <a:ext cx="0" cy="1809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0"/>
            <p:cNvSpPr/>
            <p:nvPr/>
          </p:nvSpPr>
          <p:spPr>
            <a:xfrm>
              <a:off x="3114675" y="3257550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09" name="Google Shape;509;p20"/>
            <p:cNvGrpSpPr/>
            <p:nvPr/>
          </p:nvGrpSpPr>
          <p:grpSpPr>
            <a:xfrm>
              <a:off x="2238375" y="3352800"/>
              <a:ext cx="1800300" cy="790500"/>
              <a:chOff x="0" y="0"/>
              <a:chExt cx="1800300" cy="790500"/>
            </a:xfrm>
          </p:grpSpPr>
          <p:sp>
            <p:nvSpPr>
              <p:cNvPr id="510" name="Google Shape;510;p20"/>
              <p:cNvSpPr/>
              <p:nvPr/>
            </p:nvSpPr>
            <p:spPr>
              <a:xfrm>
                <a:off x="0" y="0"/>
                <a:ext cx="1800300" cy="790500"/>
              </a:xfrm>
              <a:prstGeom prst="roundRect">
                <a:avLst>
                  <a:gd fmla="val 3614" name="adj"/>
                </a:avLst>
              </a:prstGeom>
              <a:solidFill>
                <a:srgbClr val="ECFDF5"/>
              </a:solidFill>
              <a:ln cap="flat" cmpd="sng" w="9525">
                <a:solidFill>
                  <a:srgbClr val="A7F3D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1" name="Google Shape;511;p20"/>
              <p:cNvSpPr txBox="1"/>
              <p:nvPr/>
            </p:nvSpPr>
            <p:spPr>
              <a:xfrm>
                <a:off x="0" y="0"/>
                <a:ext cx="1800300" cy="7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33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專家識別與資訊融合</a:t>
                </a:r>
                <a:endParaRPr b="1" sz="833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自動辨識關鍵人 (Owner/Expert)</a:t>
                </a:r>
                <a:endParaRPr b="0" sz="8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↓</a:t>
                </a:r>
                <a:endParaRPr b="0" sz="8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自動整合答案並標註來源</a:t>
                </a:r>
                <a:endParaRPr b="0" sz="85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12" name="Google Shape;512;p20"/>
            <p:cNvSpPr/>
            <p:nvPr/>
          </p:nvSpPr>
          <p:spPr>
            <a:xfrm>
              <a:off x="3143250" y="4143375"/>
              <a:ext cx="0" cy="858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4300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0"/>
            <p:cNvSpPr/>
            <p:nvPr/>
          </p:nvSpPr>
          <p:spPr>
            <a:xfrm>
              <a:off x="3114675" y="4219575"/>
              <a:ext cx="57300" cy="477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12000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4" name="Google Shape;514;p20"/>
            <p:cNvGrpSpPr/>
            <p:nvPr/>
          </p:nvGrpSpPr>
          <p:grpSpPr>
            <a:xfrm>
              <a:off x="2238375" y="4276725"/>
              <a:ext cx="1800300" cy="362100"/>
              <a:chOff x="0" y="0"/>
              <a:chExt cx="1800300" cy="362100"/>
            </a:xfrm>
          </p:grpSpPr>
          <p:sp>
            <p:nvSpPr>
              <p:cNvPr id="515" name="Google Shape;515;p20"/>
              <p:cNvSpPr/>
              <p:nvPr/>
            </p:nvSpPr>
            <p:spPr>
              <a:xfrm>
                <a:off x="0" y="0"/>
                <a:ext cx="1800300" cy="362100"/>
              </a:xfrm>
              <a:prstGeom prst="roundRect">
                <a:avLst>
                  <a:gd fmla="val 7894" name="adj"/>
                </a:avLst>
              </a:prstGeom>
              <a:solidFill>
                <a:srgbClr val="86EFAC"/>
              </a:solidFill>
              <a:ln cap="flat" cmpd="sng" w="9525">
                <a:solidFill>
                  <a:srgbClr val="4ADE8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6" name="Google Shape;516;p20"/>
              <p:cNvSpPr txBox="1"/>
              <p:nvPr/>
            </p:nvSpPr>
            <p:spPr>
              <a:xfrm>
                <a:off x="0" y="0"/>
                <a:ext cx="1800300" cy="36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33">
                    <a:solidFill>
                      <a:srgbClr val="122B46"/>
                    </a:solidFill>
                    <a:latin typeface="Arial"/>
                    <a:ea typeface="Arial"/>
                    <a:cs typeface="Arial"/>
                    <a:sym typeface="Arial"/>
                  </a:rPr>
                  <a:t>取得組織記憶，直接開始工作</a:t>
                </a:r>
                <a:endParaRPr b="1" sz="833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22B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1"/>
          <p:cNvSpPr/>
          <p:nvPr/>
        </p:nvSpPr>
        <p:spPr>
          <a:xfrm>
            <a:off x="0" y="685800"/>
            <a:ext cx="9144000" cy="47700"/>
          </a:xfrm>
          <a:prstGeom prst="rect">
            <a:avLst/>
          </a:prstGeom>
          <a:solidFill>
            <a:srgbClr val="005A9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1"/>
          <p:cNvSpPr txBox="1"/>
          <p:nvPr/>
        </p:nvSpPr>
        <p:spPr>
          <a:xfrm>
            <a:off x="285750" y="114300"/>
            <a:ext cx="8572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Copilot Cowork 將零散知識工作串成閉環，讓資訊「找得到、記得到、追得到、問得到」</a:t>
            </a:r>
            <a:endParaRPr b="1" sz="1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1"/>
          <p:cNvSpPr/>
          <p:nvPr/>
        </p:nvSpPr>
        <p:spPr>
          <a:xfrm>
            <a:off x="285750" y="857250"/>
            <a:ext cx="8572500" cy="266700"/>
          </a:xfrm>
          <a:prstGeom prst="roundRect">
            <a:avLst>
              <a:gd fmla="val 14285" name="adj"/>
            </a:avLst>
          </a:prstGeom>
          <a:solidFill>
            <a:srgbClr val="122B4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1"/>
          <p:cNvSpPr txBox="1"/>
          <p:nvPr/>
        </p:nvSpPr>
        <p:spPr>
          <a:xfrm>
            <a:off x="285750" y="857250"/>
            <a:ext cx="8572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Research、Meeting 與 PMO Agent 負責持續產生與更新工作資訊，Knowledge Agent 則將分散資訊轉化為可即時調用的組織知識</a:t>
            </a:r>
            <a:endParaRPr b="1" sz="10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7" name="Google Shape;527;p21"/>
          <p:cNvGrpSpPr/>
          <p:nvPr/>
        </p:nvGrpSpPr>
        <p:grpSpPr>
          <a:xfrm>
            <a:off x="285750" y="1238250"/>
            <a:ext cx="2667000" cy="1047900"/>
            <a:chOff x="0" y="0"/>
            <a:chExt cx="2667000" cy="1047900"/>
          </a:xfrm>
        </p:grpSpPr>
        <p:sp>
          <p:nvSpPr>
            <p:cNvPr id="528" name="Google Shape;528;p21"/>
            <p:cNvSpPr/>
            <p:nvPr/>
          </p:nvSpPr>
          <p:spPr>
            <a:xfrm>
              <a:off x="0" y="0"/>
              <a:ext cx="2667000" cy="10479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1"/>
            <p:cNvSpPr txBox="1"/>
            <p:nvPr/>
          </p:nvSpPr>
          <p:spPr>
            <a:xfrm>
              <a:off x="142875" y="114300"/>
              <a:ext cx="23814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🔎 ① Research Agent｜找得到</a:t>
              </a:r>
              <a:endParaRPr b="1" sz="110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價值：壓縮大量搜尋、閱讀與整理時間</a:t>
              </a:r>
              <a:endParaRPr b="1" sz="85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運作：依研究題目自動搜尋內外部資料、交叉驗證並依指定 framework 產出初稿。</a:t>
              </a:r>
              <a:endParaRPr b="0" sz="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0" name="Google Shape;530;p21"/>
          <p:cNvGrpSpPr/>
          <p:nvPr/>
        </p:nvGrpSpPr>
        <p:grpSpPr>
          <a:xfrm>
            <a:off x="3238500" y="1238250"/>
            <a:ext cx="2667000" cy="1047900"/>
            <a:chOff x="0" y="0"/>
            <a:chExt cx="2667000" cy="1047900"/>
          </a:xfrm>
        </p:grpSpPr>
        <p:sp>
          <p:nvSpPr>
            <p:cNvPr id="531" name="Google Shape;531;p21"/>
            <p:cNvSpPr/>
            <p:nvPr/>
          </p:nvSpPr>
          <p:spPr>
            <a:xfrm>
              <a:off x="0" y="0"/>
              <a:ext cx="2667000" cy="10479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1"/>
            <p:cNvSpPr txBox="1"/>
            <p:nvPr/>
          </p:nvSpPr>
          <p:spPr>
            <a:xfrm>
              <a:off x="142875" y="114300"/>
              <a:ext cx="23814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🎙 ② Meeting Agent｜記得到</a:t>
              </a:r>
              <a:endParaRPr b="1" sz="110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價值：將會議內容轉為結構化可追蹤知識</a:t>
              </a:r>
              <a:endParaRPr b="1" sz="85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運作：Transcript / 錄音 → Minutes、Decision、Action、Owner、Deadline → 自動歸檔。</a:t>
              </a:r>
              <a:endParaRPr b="0" sz="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3" name="Google Shape;533;p21"/>
          <p:cNvGrpSpPr/>
          <p:nvPr/>
        </p:nvGrpSpPr>
        <p:grpSpPr>
          <a:xfrm>
            <a:off x="6191250" y="1238250"/>
            <a:ext cx="2667000" cy="1047900"/>
            <a:chOff x="0" y="0"/>
            <a:chExt cx="2667000" cy="1047900"/>
          </a:xfrm>
        </p:grpSpPr>
        <p:sp>
          <p:nvSpPr>
            <p:cNvPr id="534" name="Google Shape;534;p21"/>
            <p:cNvSpPr/>
            <p:nvPr/>
          </p:nvSpPr>
          <p:spPr>
            <a:xfrm>
              <a:off x="0" y="0"/>
              <a:ext cx="2667000" cy="10479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1"/>
            <p:cNvSpPr txBox="1"/>
            <p:nvPr/>
          </p:nvSpPr>
          <p:spPr>
            <a:xfrm>
              <a:off x="142875" y="114300"/>
              <a:ext cx="2381400" cy="819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📍 ③ PMO Agent｜追得到</a:t>
              </a:r>
              <a:endParaRPr b="1" sz="110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價值：降低催件與整理進度的行政負擔</a:t>
              </a:r>
              <a:endParaRPr b="1" sz="85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運作：讀 project plan → 追 owner → 判斷進度與缺口 → 更新 tracker / management update。</a:t>
              </a:r>
              <a:endParaRPr b="0" sz="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6" name="Google Shape;53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9725" y="2286000"/>
            <a:ext cx="2971800" cy="2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62475" y="2286000"/>
            <a:ext cx="19200" cy="3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2475" y="2286000"/>
            <a:ext cx="2971800" cy="2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21"/>
          <p:cNvSpPr/>
          <p:nvPr/>
        </p:nvSpPr>
        <p:spPr>
          <a:xfrm>
            <a:off x="4533900" y="2533650"/>
            <a:ext cx="76200" cy="76200"/>
          </a:xfrm>
          <a:custGeom>
            <a:rect b="b" l="l" r="r" t="t"/>
            <a:pathLst>
              <a:path extrusionOk="0" h="120000" w="120000">
                <a:moveTo>
                  <a:pt x="60000" y="120000"/>
                </a:moveTo>
                <a:lnTo>
                  <a:pt x="0" y="0"/>
                </a:lnTo>
                <a:lnTo>
                  <a:pt x="120000" y="0"/>
                </a:lnTo>
                <a:close/>
              </a:path>
            </a:pathLst>
          </a:custGeom>
          <a:solidFill>
            <a:srgbClr val="005A9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0" name="Google Shape;540;p21"/>
          <p:cNvGrpSpPr/>
          <p:nvPr/>
        </p:nvGrpSpPr>
        <p:grpSpPr>
          <a:xfrm>
            <a:off x="2190750" y="2619375"/>
            <a:ext cx="4762500" cy="571500"/>
            <a:chOff x="0" y="0"/>
            <a:chExt cx="4762500" cy="571500"/>
          </a:xfrm>
        </p:grpSpPr>
        <p:sp>
          <p:nvSpPr>
            <p:cNvPr id="541" name="Google Shape;541;p21"/>
            <p:cNvSpPr/>
            <p:nvPr/>
          </p:nvSpPr>
          <p:spPr>
            <a:xfrm>
              <a:off x="0" y="0"/>
              <a:ext cx="4762500" cy="571500"/>
            </a:xfrm>
            <a:prstGeom prst="roundRect">
              <a:avLst>
                <a:gd fmla="val 10000" name="adj"/>
              </a:avLst>
            </a:prstGeom>
            <a:solidFill>
              <a:srgbClr val="1C3A5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1"/>
            <p:cNvSpPr txBox="1"/>
            <p:nvPr/>
          </p:nvSpPr>
          <p:spPr>
            <a:xfrm>
              <a:off x="190500" y="76200"/>
              <a:ext cx="4381500" cy="4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ENTERPRISE KNOWLEDGE LAYER</a:t>
              </a:r>
              <a:endParaRPr b="1" sz="11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E2E8F0"/>
                  </a:solidFill>
                  <a:latin typeface="Arial"/>
                  <a:ea typeface="Arial"/>
                  <a:cs typeface="Arial"/>
                  <a:sym typeface="Arial"/>
                </a:rPr>
                <a:t>SharePoint / Teams / Email / Project Files / Decisions / Minutes / Deliverables</a:t>
              </a:r>
              <a:endParaRPr b="0" sz="800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3" name="Google Shape;543;p21"/>
          <p:cNvSpPr/>
          <p:nvPr/>
        </p:nvSpPr>
        <p:spPr>
          <a:xfrm>
            <a:off x="4572000" y="3190875"/>
            <a:ext cx="0" cy="133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flat" cmpd="sng" w="19050">
            <a:solidFill>
              <a:srgbClr val="005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1"/>
          <p:cNvSpPr/>
          <p:nvPr/>
        </p:nvSpPr>
        <p:spPr>
          <a:xfrm>
            <a:off x="4533900" y="3248025"/>
            <a:ext cx="76200" cy="76200"/>
          </a:xfrm>
          <a:custGeom>
            <a:rect b="b" l="l" r="r" t="t"/>
            <a:pathLst>
              <a:path extrusionOk="0" h="120000" w="120000">
                <a:moveTo>
                  <a:pt x="60000" y="120000"/>
                </a:moveTo>
                <a:lnTo>
                  <a:pt x="0" y="0"/>
                </a:lnTo>
                <a:lnTo>
                  <a:pt x="120000" y="0"/>
                </a:lnTo>
                <a:close/>
              </a:path>
            </a:pathLst>
          </a:custGeom>
          <a:solidFill>
            <a:srgbClr val="005A9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5" name="Google Shape;545;p21"/>
          <p:cNvGrpSpPr/>
          <p:nvPr/>
        </p:nvGrpSpPr>
        <p:grpSpPr>
          <a:xfrm>
            <a:off x="2190750" y="3333750"/>
            <a:ext cx="4762500" cy="714300"/>
            <a:chOff x="0" y="0"/>
            <a:chExt cx="4762500" cy="714300"/>
          </a:xfrm>
        </p:grpSpPr>
        <p:sp>
          <p:nvSpPr>
            <p:cNvPr id="546" name="Google Shape;546;p21"/>
            <p:cNvSpPr/>
            <p:nvPr/>
          </p:nvSpPr>
          <p:spPr>
            <a:xfrm>
              <a:off x="0" y="0"/>
              <a:ext cx="4762500" cy="7143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19050">
              <a:solidFill>
                <a:srgbClr val="005A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1"/>
            <p:cNvSpPr txBox="1"/>
            <p:nvPr/>
          </p:nvSpPr>
          <p:spPr>
            <a:xfrm>
              <a:off x="190500" y="76200"/>
              <a:ext cx="4381500" cy="56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122B46"/>
                  </a:solidFill>
                  <a:latin typeface="Arial"/>
                  <a:ea typeface="Arial"/>
                  <a:cs typeface="Arial"/>
                  <a:sym typeface="Arial"/>
                </a:rPr>
                <a:t>🧠 ④ Knowledge Agent｜問得到</a:t>
              </a:r>
              <a:endParaRPr b="1" sz="110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b="1" lang="en" sz="850">
                  <a:solidFill>
                    <a:srgbClr val="005A9C"/>
                  </a:solidFill>
                  <a:latin typeface="Arial"/>
                  <a:ea typeface="Arial"/>
                  <a:cs typeface="Arial"/>
                  <a:sym typeface="Arial"/>
                </a:rPr>
                <a:t>價值：讓散落資訊真正變成 institutional memory，避免重複找、重複做</a:t>
              </a:r>
              <a:endParaRPr b="1" sz="850">
                <a:solidFill>
                  <a:srgbClr val="005A9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運作：跨平台搜尋，直接回答最新結論、歷史脈絡與原始來源。</a:t>
              </a:r>
              <a:endParaRPr b="0" sz="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8" name="Google Shape;548;p21"/>
          <p:cNvGrpSpPr/>
          <p:nvPr/>
        </p:nvGrpSpPr>
        <p:grpSpPr>
          <a:xfrm>
            <a:off x="285750" y="4171950"/>
            <a:ext cx="8572500" cy="533400"/>
            <a:chOff x="0" y="0"/>
            <a:chExt cx="8572500" cy="533400"/>
          </a:xfrm>
        </p:grpSpPr>
        <p:sp>
          <p:nvSpPr>
            <p:cNvPr id="549" name="Google Shape;549;p21"/>
            <p:cNvSpPr/>
            <p:nvPr/>
          </p:nvSpPr>
          <p:spPr>
            <a:xfrm>
              <a:off x="0" y="0"/>
              <a:ext cx="8572500" cy="533400"/>
            </a:xfrm>
            <a:prstGeom prst="roundRect">
              <a:avLst>
                <a:gd fmla="val 7142" name="adj"/>
              </a:avLst>
            </a:prstGeom>
            <a:solidFill>
              <a:srgbClr val="122B4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50" name="Google Shape;550;p21"/>
            <p:cNvCxnSpPr/>
            <p:nvPr/>
          </p:nvCxnSpPr>
          <p:spPr>
            <a:xfrm>
              <a:off x="4286250" y="0"/>
              <a:ext cx="0" cy="5334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1D3B5E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51" name="Google Shape;551;p21"/>
            <p:cNvGrpSpPr/>
            <p:nvPr/>
          </p:nvGrpSpPr>
          <p:grpSpPr>
            <a:xfrm>
              <a:off x="142875" y="76200"/>
              <a:ext cx="3953025" cy="381000"/>
              <a:chOff x="0" y="0"/>
              <a:chExt cx="3953025" cy="381000"/>
            </a:xfrm>
          </p:grpSpPr>
          <p:sp>
            <p:nvSpPr>
              <p:cNvPr id="552" name="Google Shape;552;p21"/>
              <p:cNvSpPr/>
              <p:nvPr/>
            </p:nvSpPr>
            <p:spPr>
              <a:xfrm>
                <a:off x="0" y="0"/>
                <a:ext cx="523800" cy="171600"/>
              </a:xfrm>
              <a:prstGeom prst="roundRect">
                <a:avLst>
                  <a:gd fmla="val 11111" name="adj"/>
                </a:avLst>
              </a:prstGeom>
              <a:solidFill>
                <a:srgbClr val="FEE2E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21"/>
              <p:cNvSpPr txBox="1"/>
              <p:nvPr/>
            </p:nvSpPr>
            <p:spPr>
              <a:xfrm>
                <a:off x="0" y="0"/>
                <a:ext cx="5238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991B1B"/>
                    </a:solidFill>
                    <a:latin typeface="Arial"/>
                    <a:ea typeface="Arial"/>
                    <a:cs typeface="Arial"/>
                    <a:sym typeface="Arial"/>
                  </a:rPr>
                  <a:t>AS-IS</a:t>
                </a:r>
                <a:endParaRPr b="1" sz="800">
                  <a:solidFill>
                    <a:srgbClr val="991B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21"/>
              <p:cNvSpPr txBox="1"/>
              <p:nvPr/>
            </p:nvSpPr>
            <p:spPr>
              <a:xfrm>
                <a:off x="619125" y="0"/>
                <a:ext cx="3333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Research、Meeting、PMO 各自產生大量資訊，但最終散落在人、Email、Teams 與資料夾中。</a:t>
                </a:r>
                <a:endParaRPr b="0" sz="8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5" name="Google Shape;555;p21"/>
            <p:cNvGrpSpPr/>
            <p:nvPr/>
          </p:nvGrpSpPr>
          <p:grpSpPr>
            <a:xfrm>
              <a:off x="4429125" y="76200"/>
              <a:ext cx="3953025" cy="381000"/>
              <a:chOff x="0" y="0"/>
              <a:chExt cx="3953025" cy="381000"/>
            </a:xfrm>
          </p:grpSpPr>
          <p:sp>
            <p:nvSpPr>
              <p:cNvPr id="556" name="Google Shape;556;p21"/>
              <p:cNvSpPr/>
              <p:nvPr/>
            </p:nvSpPr>
            <p:spPr>
              <a:xfrm>
                <a:off x="0" y="0"/>
                <a:ext cx="523800" cy="171600"/>
              </a:xfrm>
              <a:prstGeom prst="roundRect">
                <a:avLst>
                  <a:gd fmla="val 11111" name="adj"/>
                </a:avLst>
              </a:prstGeom>
              <a:solidFill>
                <a:srgbClr val="DCFCE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21"/>
              <p:cNvSpPr txBox="1"/>
              <p:nvPr/>
            </p:nvSpPr>
            <p:spPr>
              <a:xfrm>
                <a:off x="0" y="0"/>
                <a:ext cx="523800" cy="17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00">
                    <a:solidFill>
                      <a:srgbClr val="166534"/>
                    </a:solidFill>
                    <a:latin typeface="Arial"/>
                    <a:ea typeface="Arial"/>
                    <a:cs typeface="Arial"/>
                    <a:sym typeface="Arial"/>
                  </a:rPr>
                  <a:t>TO-BE</a:t>
                </a:r>
                <a:endParaRPr b="1" sz="800">
                  <a:solidFill>
                    <a:srgbClr val="166534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21"/>
              <p:cNvSpPr txBox="1"/>
              <p:nvPr/>
            </p:nvSpPr>
            <p:spPr>
              <a:xfrm>
                <a:off x="619125" y="0"/>
                <a:ext cx="33339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850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每一次研究、會議與專案執行，都自動成為下一次工作的 Context。</a:t>
                </a:r>
                <a:endParaRPr b="0" sz="85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59" name="Google Shape;559;p21"/>
          <p:cNvSpPr txBox="1"/>
          <p:nvPr/>
        </p:nvSpPr>
        <p:spPr>
          <a:xfrm>
            <a:off x="285750" y="4800600"/>
            <a:ext cx="857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122B46"/>
                </a:solidFill>
                <a:latin typeface="Arial"/>
                <a:ea typeface="Arial"/>
                <a:cs typeface="Arial"/>
                <a:sym typeface="Arial"/>
              </a:rPr>
              <a:t>從「AI 幫忙完成單點任務」，進一步建立持續累積、可被即時調用的企業知識閉環。</a:t>
            </a:r>
            <a:endParaRPr b="1" sz="1000">
              <a:solidFill>
                <a:srgbClr val="122B4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2"/>
          <p:cNvSpPr/>
          <p:nvPr/>
        </p:nvSpPr>
        <p:spPr>
          <a:xfrm>
            <a:off x="0" y="0"/>
            <a:ext cx="9144000" cy="76350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22"/>
          <p:cNvSpPr/>
          <p:nvPr/>
        </p:nvSpPr>
        <p:spPr>
          <a:xfrm>
            <a:off x="0" y="0"/>
            <a:ext cx="9144000" cy="711900"/>
          </a:xfrm>
          <a:prstGeom prst="rect">
            <a:avLst/>
          </a:prstGeom>
          <a:solidFill>
            <a:srgbClr val="1C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2"/>
          <p:cNvSpPr txBox="1"/>
          <p:nvPr/>
        </p:nvSpPr>
        <p:spPr>
          <a:xfrm>
            <a:off x="0" y="313725"/>
            <a:ext cx="9144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Copilot</a:t>
            </a:r>
            <a:endParaRPr sz="2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23"/>
          <p:cNvSpPr/>
          <p:nvPr/>
        </p:nvSpPr>
        <p:spPr>
          <a:xfrm>
            <a:off x="0" y="0"/>
            <a:ext cx="9144000" cy="711900"/>
          </a:xfrm>
          <a:prstGeom prst="rect">
            <a:avLst/>
          </a:prstGeom>
          <a:solidFill>
            <a:srgbClr val="1C3A5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