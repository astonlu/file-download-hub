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049125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64236" y="1260347"/>
            <a:ext cx="11431905" cy="0"/>
          </a:xfrm>
          <a:custGeom>
            <a:avLst/>
            <a:gdLst/>
            <a:ahLst/>
            <a:cxnLst/>
            <a:rect l="l" t="t" r="r" b="b"/>
            <a:pathLst>
              <a:path w="11431905" h="0">
                <a:moveTo>
                  <a:pt x="0" y="0"/>
                </a:moveTo>
                <a:lnTo>
                  <a:pt x="11431524" y="0"/>
                </a:lnTo>
              </a:path>
            </a:pathLst>
          </a:custGeom>
          <a:ln w="12192">
            <a:solidFill>
              <a:srgbClr val="0036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179820"/>
            <a:ext cx="311150" cy="144780"/>
          </a:xfrm>
          <a:custGeom>
            <a:avLst/>
            <a:gdLst/>
            <a:ahLst/>
            <a:cxnLst/>
            <a:rect l="l" t="t" r="r" b="b"/>
            <a:pathLst>
              <a:path w="311150" h="144779">
                <a:moveTo>
                  <a:pt x="310896" y="0"/>
                </a:moveTo>
                <a:lnTo>
                  <a:pt x="0" y="0"/>
                </a:lnTo>
                <a:lnTo>
                  <a:pt x="0" y="144779"/>
                </a:lnTo>
                <a:lnTo>
                  <a:pt x="310896" y="144779"/>
                </a:lnTo>
                <a:lnTo>
                  <a:pt x="310896" y="0"/>
                </a:lnTo>
                <a:close/>
              </a:path>
            </a:pathLst>
          </a:custGeom>
          <a:solidFill>
            <a:srgbClr val="D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64236" y="6368796"/>
            <a:ext cx="11431905" cy="0"/>
          </a:xfrm>
          <a:custGeom>
            <a:avLst/>
            <a:gdLst/>
            <a:ahLst/>
            <a:cxnLst/>
            <a:rect l="l" t="t" r="r" b="b"/>
            <a:pathLst>
              <a:path w="11431905" h="0">
                <a:moveTo>
                  <a:pt x="0" y="0"/>
                </a:moveTo>
                <a:lnTo>
                  <a:pt x="11431524" y="0"/>
                </a:lnTo>
              </a:path>
            </a:pathLst>
          </a:custGeom>
          <a:ln w="12192">
            <a:solidFill>
              <a:srgbClr val="00368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10343" y="6312408"/>
            <a:ext cx="2430779" cy="5455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940" y="748665"/>
            <a:ext cx="32238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4487" y="1322450"/>
            <a:ext cx="11431905" cy="408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5849" y="6192951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51.png"/><Relationship Id="rId20" Type="http://schemas.openxmlformats.org/officeDocument/2006/relationships/image" Target="../media/image52.png"/><Relationship Id="rId21" Type="http://schemas.openxmlformats.org/officeDocument/2006/relationships/image" Target="../media/image53.png"/><Relationship Id="rId22" Type="http://schemas.openxmlformats.org/officeDocument/2006/relationships/image" Target="../media/image54.png"/><Relationship Id="rId23" Type="http://schemas.openxmlformats.org/officeDocument/2006/relationships/image" Target="../media/image55.png"/><Relationship Id="rId24" Type="http://schemas.openxmlformats.org/officeDocument/2006/relationships/image" Target="../media/image56.png"/><Relationship Id="rId25" Type="http://schemas.openxmlformats.org/officeDocument/2006/relationships/image" Target="../media/image57.png"/><Relationship Id="rId26" Type="http://schemas.openxmlformats.org/officeDocument/2006/relationships/image" Target="../media/image58.png"/><Relationship Id="rId27" Type="http://schemas.openxmlformats.org/officeDocument/2006/relationships/image" Target="../media/image59.png"/><Relationship Id="rId28" Type="http://schemas.openxmlformats.org/officeDocument/2006/relationships/image" Target="../media/image60.png"/><Relationship Id="rId29" Type="http://schemas.openxmlformats.org/officeDocument/2006/relationships/image" Target="../media/image61.png"/><Relationship Id="rId30" Type="http://schemas.openxmlformats.org/officeDocument/2006/relationships/image" Target="../media/image62.png"/><Relationship Id="rId31" Type="http://schemas.openxmlformats.org/officeDocument/2006/relationships/image" Target="../media/image63.png"/><Relationship Id="rId32" Type="http://schemas.openxmlformats.org/officeDocument/2006/relationships/image" Target="../media/image64.png"/><Relationship Id="rId33" Type="http://schemas.openxmlformats.org/officeDocument/2006/relationships/image" Target="../media/image65.png"/><Relationship Id="rId34" Type="http://schemas.openxmlformats.org/officeDocument/2006/relationships/image" Target="../media/image66.png"/><Relationship Id="rId35" Type="http://schemas.openxmlformats.org/officeDocument/2006/relationships/image" Target="../media/image67.png"/><Relationship Id="rId36" Type="http://schemas.openxmlformats.org/officeDocument/2006/relationships/image" Target="../media/image68.png"/><Relationship Id="rId37" Type="http://schemas.openxmlformats.org/officeDocument/2006/relationships/image" Target="../media/image69.png"/><Relationship Id="rId38" Type="http://schemas.openxmlformats.org/officeDocument/2006/relationships/image" Target="../media/image70.png"/><Relationship Id="rId39" Type="http://schemas.openxmlformats.org/officeDocument/2006/relationships/image" Target="../media/image71.png"/><Relationship Id="rId40" Type="http://schemas.openxmlformats.org/officeDocument/2006/relationships/image" Target="../media/image72.png"/><Relationship Id="rId41" Type="http://schemas.openxmlformats.org/officeDocument/2006/relationships/image" Target="../media/image73.png"/><Relationship Id="rId42" Type="http://schemas.openxmlformats.org/officeDocument/2006/relationships/image" Target="../media/image74.png"/><Relationship Id="rId43" Type="http://schemas.openxmlformats.org/officeDocument/2006/relationships/image" Target="../media/image75.png"/><Relationship Id="rId44" Type="http://schemas.openxmlformats.org/officeDocument/2006/relationships/image" Target="../media/image76.png"/><Relationship Id="rId45" Type="http://schemas.openxmlformats.org/officeDocument/2006/relationships/image" Target="../media/image77.png"/><Relationship Id="rId46" Type="http://schemas.openxmlformats.org/officeDocument/2006/relationships/image" Target="../media/image78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81.png"/><Relationship Id="rId50" Type="http://schemas.openxmlformats.org/officeDocument/2006/relationships/image" Target="../media/image82.png"/><Relationship Id="rId51" Type="http://schemas.openxmlformats.org/officeDocument/2006/relationships/image" Target="../media/image83.png"/><Relationship Id="rId52" Type="http://schemas.openxmlformats.org/officeDocument/2006/relationships/image" Target="../media/image84.png"/><Relationship Id="rId53" Type="http://schemas.openxmlformats.org/officeDocument/2006/relationships/image" Target="../media/image85.png"/><Relationship Id="rId54" Type="http://schemas.openxmlformats.org/officeDocument/2006/relationships/image" Target="../media/image86.png"/><Relationship Id="rId55" Type="http://schemas.openxmlformats.org/officeDocument/2006/relationships/image" Target="../media/image87.png"/><Relationship Id="rId56" Type="http://schemas.openxmlformats.org/officeDocument/2006/relationships/image" Target="../media/image88.png"/><Relationship Id="rId57" Type="http://schemas.openxmlformats.org/officeDocument/2006/relationships/image" Target="../media/image89.png"/><Relationship Id="rId58" Type="http://schemas.openxmlformats.org/officeDocument/2006/relationships/image" Target="../media/image90.png"/><Relationship Id="rId59" Type="http://schemas.openxmlformats.org/officeDocument/2006/relationships/image" Target="../media/image91.png"/><Relationship Id="rId60" Type="http://schemas.openxmlformats.org/officeDocument/2006/relationships/image" Target="../media/image92.png"/><Relationship Id="rId61" Type="http://schemas.openxmlformats.org/officeDocument/2006/relationships/image" Target="../media/image93.png"/><Relationship Id="rId62" Type="http://schemas.openxmlformats.org/officeDocument/2006/relationships/image" Target="../media/image94.png"/><Relationship Id="rId63" Type="http://schemas.openxmlformats.org/officeDocument/2006/relationships/image" Target="../media/image95.png"/><Relationship Id="rId64" Type="http://schemas.openxmlformats.org/officeDocument/2006/relationships/image" Target="../media/image96.png"/><Relationship Id="rId65" Type="http://schemas.openxmlformats.org/officeDocument/2006/relationships/image" Target="../media/image97.png"/><Relationship Id="rId66" Type="http://schemas.openxmlformats.org/officeDocument/2006/relationships/image" Target="../media/image98.png"/><Relationship Id="rId67" Type="http://schemas.openxmlformats.org/officeDocument/2006/relationships/image" Target="../media/image99.png"/><Relationship Id="rId68" Type="http://schemas.openxmlformats.org/officeDocument/2006/relationships/image" Target="../media/image100.png"/><Relationship Id="rId69" Type="http://schemas.openxmlformats.org/officeDocument/2006/relationships/image" Target="../media/image101.png"/><Relationship Id="rId70" Type="http://schemas.openxmlformats.org/officeDocument/2006/relationships/image" Target="../media/image102.png"/><Relationship Id="rId71" Type="http://schemas.openxmlformats.org/officeDocument/2006/relationships/image" Target="../media/image103.png"/><Relationship Id="rId72" Type="http://schemas.openxmlformats.org/officeDocument/2006/relationships/image" Target="../media/image104.png"/><Relationship Id="rId73" Type="http://schemas.openxmlformats.org/officeDocument/2006/relationships/image" Target="../media/image105.png"/><Relationship Id="rId74" Type="http://schemas.openxmlformats.org/officeDocument/2006/relationships/image" Target="../media/image106.png"/><Relationship Id="rId75" Type="http://schemas.openxmlformats.org/officeDocument/2006/relationships/image" Target="../media/image107.png"/><Relationship Id="rId76" Type="http://schemas.openxmlformats.org/officeDocument/2006/relationships/image" Target="../media/image108.png"/><Relationship Id="rId77" Type="http://schemas.openxmlformats.org/officeDocument/2006/relationships/image" Target="../media/image109.png"/><Relationship Id="rId78" Type="http://schemas.openxmlformats.org/officeDocument/2006/relationships/image" Target="../media/image110.png"/><Relationship Id="rId79" Type="http://schemas.openxmlformats.org/officeDocument/2006/relationships/image" Target="../media/image111.png"/><Relationship Id="rId80" Type="http://schemas.openxmlformats.org/officeDocument/2006/relationships/image" Target="../media/image112.png"/><Relationship Id="rId81" Type="http://schemas.openxmlformats.org/officeDocument/2006/relationships/image" Target="../media/image113.png"/><Relationship Id="rId82" Type="http://schemas.openxmlformats.org/officeDocument/2006/relationships/image" Target="../media/image114.png"/><Relationship Id="rId83" Type="http://schemas.openxmlformats.org/officeDocument/2006/relationships/image" Target="../media/image115.png"/><Relationship Id="rId84" Type="http://schemas.openxmlformats.org/officeDocument/2006/relationships/image" Target="../media/image116.png"/><Relationship Id="rId85" Type="http://schemas.openxmlformats.org/officeDocument/2006/relationships/image" Target="../media/image117.png"/><Relationship Id="rId86" Type="http://schemas.openxmlformats.org/officeDocument/2006/relationships/image" Target="../media/image118.png"/><Relationship Id="rId87" Type="http://schemas.openxmlformats.org/officeDocument/2006/relationships/image" Target="../media/image119.png"/><Relationship Id="rId88" Type="http://schemas.openxmlformats.org/officeDocument/2006/relationships/image" Target="../media/image120.png"/><Relationship Id="rId89" Type="http://schemas.openxmlformats.org/officeDocument/2006/relationships/image" Target="../media/image121.png"/><Relationship Id="rId90" Type="http://schemas.openxmlformats.org/officeDocument/2006/relationships/image" Target="../media/image122.png"/><Relationship Id="rId91" Type="http://schemas.openxmlformats.org/officeDocument/2006/relationships/image" Target="../media/image123.png"/><Relationship Id="rId92" Type="http://schemas.openxmlformats.org/officeDocument/2006/relationships/image" Target="../media/image124.png"/><Relationship Id="rId93" Type="http://schemas.openxmlformats.org/officeDocument/2006/relationships/image" Target="../media/image125.png"/><Relationship Id="rId94" Type="http://schemas.openxmlformats.org/officeDocument/2006/relationships/image" Target="../media/image12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34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145.png"/><Relationship Id="rId15" Type="http://schemas.openxmlformats.org/officeDocument/2006/relationships/image" Target="../media/image146.png"/><Relationship Id="rId16" Type="http://schemas.openxmlformats.org/officeDocument/2006/relationships/image" Target="../media/image147.png"/><Relationship Id="rId17" Type="http://schemas.openxmlformats.org/officeDocument/2006/relationships/image" Target="../media/image148.png"/><Relationship Id="rId18" Type="http://schemas.openxmlformats.org/officeDocument/2006/relationships/image" Target="../media/image149.png"/><Relationship Id="rId19" Type="http://schemas.openxmlformats.org/officeDocument/2006/relationships/image" Target="../media/image150.png"/><Relationship Id="rId20" Type="http://schemas.openxmlformats.org/officeDocument/2006/relationships/image" Target="../media/image151.png"/><Relationship Id="rId21" Type="http://schemas.openxmlformats.org/officeDocument/2006/relationships/image" Target="../media/image152.png"/><Relationship Id="rId22" Type="http://schemas.openxmlformats.org/officeDocument/2006/relationships/image" Target="../media/image153.png"/><Relationship Id="rId23" Type="http://schemas.openxmlformats.org/officeDocument/2006/relationships/image" Target="../media/image154.png"/><Relationship Id="rId24" Type="http://schemas.openxmlformats.org/officeDocument/2006/relationships/image" Target="../media/image155.png"/><Relationship Id="rId25" Type="http://schemas.openxmlformats.org/officeDocument/2006/relationships/image" Target="../media/image156.png"/><Relationship Id="rId26" Type="http://schemas.openxmlformats.org/officeDocument/2006/relationships/image" Target="../media/image157.png"/><Relationship Id="rId27" Type="http://schemas.openxmlformats.org/officeDocument/2006/relationships/image" Target="../media/image158.png"/><Relationship Id="rId28" Type="http://schemas.openxmlformats.org/officeDocument/2006/relationships/image" Target="../media/image159.png"/><Relationship Id="rId29" Type="http://schemas.openxmlformats.org/officeDocument/2006/relationships/image" Target="../media/image16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7886" y="1328927"/>
            <a:ext cx="11683365" cy="5529580"/>
            <a:chOff x="357886" y="1328927"/>
            <a:chExt cx="11683365" cy="55295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620" y="1328927"/>
              <a:ext cx="4386072" cy="49682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8263" y="1481327"/>
              <a:ext cx="4015740" cy="4676140"/>
            </a:xfrm>
            <a:custGeom>
              <a:avLst/>
              <a:gdLst/>
              <a:ahLst/>
              <a:cxnLst/>
              <a:rect l="l" t="t" r="r" b="b"/>
              <a:pathLst>
                <a:path w="4015740" h="4676140">
                  <a:moveTo>
                    <a:pt x="4015740" y="0"/>
                  </a:moveTo>
                  <a:lnTo>
                    <a:pt x="0" y="0"/>
                  </a:lnTo>
                  <a:lnTo>
                    <a:pt x="0" y="4675632"/>
                  </a:lnTo>
                  <a:lnTo>
                    <a:pt x="4015740" y="4675632"/>
                  </a:lnTo>
                  <a:lnTo>
                    <a:pt x="4015740" y="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008" y="1414284"/>
              <a:ext cx="2134362" cy="51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288" y="1729739"/>
              <a:ext cx="2231898" cy="6774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8087" y="1729739"/>
              <a:ext cx="707898" cy="6774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2887" y="1729739"/>
              <a:ext cx="2231898" cy="6774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764" y="2168652"/>
              <a:ext cx="4060698" cy="67741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86283" y="318897"/>
            <a:ext cx="7132955" cy="8813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>
                <a:latin typeface="Calibri"/>
                <a:cs typeface="Calibri"/>
              </a:rPr>
              <a:t>HOMEWORK: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40"/>
              <a:t>根據關鍵能力框架，試擬貴部門未來關鍵能力</a:t>
            </a:r>
          </a:p>
        </p:txBody>
      </p:sp>
      <p:sp>
        <p:nvSpPr>
          <p:cNvPr id="11" name="object 11"/>
          <p:cNvSpPr/>
          <p:nvPr/>
        </p:nvSpPr>
        <p:spPr>
          <a:xfrm>
            <a:off x="7993380" y="2421635"/>
            <a:ext cx="1152525" cy="3810000"/>
          </a:xfrm>
          <a:custGeom>
            <a:avLst/>
            <a:gdLst/>
            <a:ahLst/>
            <a:cxnLst/>
            <a:rect l="l" t="t" r="r" b="b"/>
            <a:pathLst>
              <a:path w="1152525" h="3810000">
                <a:moveTo>
                  <a:pt x="1152144" y="3144774"/>
                </a:moveTo>
                <a:lnTo>
                  <a:pt x="0" y="3144774"/>
                </a:lnTo>
                <a:lnTo>
                  <a:pt x="0" y="3810000"/>
                </a:lnTo>
                <a:lnTo>
                  <a:pt x="1152144" y="3810000"/>
                </a:lnTo>
                <a:lnTo>
                  <a:pt x="1152144" y="3144774"/>
                </a:lnTo>
                <a:close/>
              </a:path>
              <a:path w="1152525" h="3810000">
                <a:moveTo>
                  <a:pt x="1152144" y="1559814"/>
                </a:moveTo>
                <a:lnTo>
                  <a:pt x="0" y="1559814"/>
                </a:lnTo>
                <a:lnTo>
                  <a:pt x="0" y="2570226"/>
                </a:lnTo>
                <a:lnTo>
                  <a:pt x="1152144" y="2570226"/>
                </a:lnTo>
                <a:lnTo>
                  <a:pt x="1152144" y="1559814"/>
                </a:lnTo>
                <a:close/>
              </a:path>
              <a:path w="1152525" h="3810000">
                <a:moveTo>
                  <a:pt x="1152144" y="0"/>
                </a:moveTo>
                <a:lnTo>
                  <a:pt x="0" y="0"/>
                </a:lnTo>
                <a:lnTo>
                  <a:pt x="0" y="985266"/>
                </a:lnTo>
                <a:lnTo>
                  <a:pt x="1152144" y="985266"/>
                </a:lnTo>
                <a:lnTo>
                  <a:pt x="1152144" y="0"/>
                </a:lnTo>
                <a:close/>
              </a:path>
            </a:pathLst>
          </a:custGeom>
          <a:solidFill>
            <a:srgbClr val="006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993380" y="2421635"/>
            <a:ext cx="1152525" cy="437515"/>
          </a:xfrm>
          <a:prstGeom prst="rect">
            <a:avLst/>
          </a:prstGeom>
          <a:solidFill>
            <a:srgbClr val="0064B1"/>
          </a:solidFill>
        </p:spPr>
        <p:txBody>
          <a:bodyPr wrap="square" lIns="0" tIns="133350" rIns="0" bIns="0" rtlCol="0" vert="horz">
            <a:spAutoFit/>
          </a:bodyPr>
          <a:lstStyle/>
          <a:p>
            <a:pPr marL="347980">
              <a:lnSpc>
                <a:spcPct val="100000"/>
              </a:lnSpc>
              <a:spcBef>
                <a:spcPts val="1050"/>
              </a:spcBef>
            </a:pPr>
            <a:r>
              <a:rPr dirty="0" sz="1800" spc="-25" b="1">
                <a:solidFill>
                  <a:srgbClr val="FFFFFF"/>
                </a:solidFill>
                <a:latin typeface="Microsoft YaHei"/>
                <a:cs typeface="Microsoft YaHei"/>
              </a:rPr>
              <a:t>承銷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96456" y="2421635"/>
            <a:ext cx="1262380" cy="3810000"/>
            <a:chOff x="6696456" y="2421635"/>
            <a:chExt cx="1262380" cy="3810000"/>
          </a:xfrm>
        </p:grpSpPr>
        <p:sp>
          <p:nvSpPr>
            <p:cNvPr id="14" name="object 14"/>
            <p:cNvSpPr/>
            <p:nvPr/>
          </p:nvSpPr>
          <p:spPr>
            <a:xfrm>
              <a:off x="6696456" y="2421635"/>
              <a:ext cx="1262380" cy="3810000"/>
            </a:xfrm>
            <a:custGeom>
              <a:avLst/>
              <a:gdLst/>
              <a:ahLst/>
              <a:cxnLst/>
              <a:rect l="l" t="t" r="r" b="b"/>
              <a:pathLst>
                <a:path w="1262379" h="3810000">
                  <a:moveTo>
                    <a:pt x="1261872" y="3144774"/>
                  </a:moveTo>
                  <a:lnTo>
                    <a:pt x="0" y="3144774"/>
                  </a:lnTo>
                  <a:lnTo>
                    <a:pt x="0" y="3810000"/>
                  </a:lnTo>
                  <a:lnTo>
                    <a:pt x="1261872" y="3810000"/>
                  </a:lnTo>
                  <a:lnTo>
                    <a:pt x="1261872" y="3144774"/>
                  </a:lnTo>
                  <a:close/>
                </a:path>
                <a:path w="1262379" h="3810000">
                  <a:moveTo>
                    <a:pt x="1261872" y="1559814"/>
                  </a:moveTo>
                  <a:lnTo>
                    <a:pt x="0" y="1559814"/>
                  </a:lnTo>
                  <a:lnTo>
                    <a:pt x="0" y="2570226"/>
                  </a:lnTo>
                  <a:lnTo>
                    <a:pt x="1261872" y="2570226"/>
                  </a:lnTo>
                  <a:lnTo>
                    <a:pt x="1261872" y="1559814"/>
                  </a:lnTo>
                  <a:close/>
                </a:path>
                <a:path w="1262379" h="3810000">
                  <a:moveTo>
                    <a:pt x="1261872" y="0"/>
                  </a:moveTo>
                  <a:lnTo>
                    <a:pt x="0" y="0"/>
                  </a:lnTo>
                  <a:lnTo>
                    <a:pt x="0" y="985266"/>
                  </a:lnTo>
                  <a:lnTo>
                    <a:pt x="1261872" y="985266"/>
                  </a:lnTo>
                  <a:lnTo>
                    <a:pt x="1261872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54012" y="2487180"/>
              <a:ext cx="762761" cy="5112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696456" y="2542413"/>
            <a:ext cx="1262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Microsoft YaHei"/>
                <a:cs typeface="Microsoft YaHei"/>
              </a:rPr>
              <a:t>部門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367772" y="2421635"/>
            <a:ext cx="1152525" cy="3810000"/>
          </a:xfrm>
          <a:custGeom>
            <a:avLst/>
            <a:gdLst/>
            <a:ahLst/>
            <a:cxnLst/>
            <a:rect l="l" t="t" r="r" b="b"/>
            <a:pathLst>
              <a:path w="1152525" h="3810000">
                <a:moveTo>
                  <a:pt x="1152144" y="3144774"/>
                </a:moveTo>
                <a:lnTo>
                  <a:pt x="0" y="3144774"/>
                </a:lnTo>
                <a:lnTo>
                  <a:pt x="0" y="3810000"/>
                </a:lnTo>
                <a:lnTo>
                  <a:pt x="1152144" y="3810000"/>
                </a:lnTo>
                <a:lnTo>
                  <a:pt x="1152144" y="3144774"/>
                </a:lnTo>
                <a:close/>
              </a:path>
              <a:path w="1152525" h="3810000">
                <a:moveTo>
                  <a:pt x="1152144" y="1559814"/>
                </a:moveTo>
                <a:lnTo>
                  <a:pt x="0" y="1559814"/>
                </a:lnTo>
                <a:lnTo>
                  <a:pt x="0" y="2570226"/>
                </a:lnTo>
                <a:lnTo>
                  <a:pt x="1152144" y="2570226"/>
                </a:lnTo>
                <a:lnTo>
                  <a:pt x="1152144" y="1559814"/>
                </a:lnTo>
                <a:close/>
              </a:path>
              <a:path w="1152525" h="3810000">
                <a:moveTo>
                  <a:pt x="1152144" y="0"/>
                </a:moveTo>
                <a:lnTo>
                  <a:pt x="0" y="0"/>
                </a:lnTo>
                <a:lnTo>
                  <a:pt x="0" y="985266"/>
                </a:lnTo>
                <a:lnTo>
                  <a:pt x="1152144" y="985266"/>
                </a:lnTo>
                <a:lnTo>
                  <a:pt x="1152144" y="0"/>
                </a:lnTo>
                <a:close/>
              </a:path>
            </a:pathLst>
          </a:custGeom>
          <a:solidFill>
            <a:srgbClr val="006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367771" y="2421635"/>
            <a:ext cx="1152525" cy="437515"/>
          </a:xfrm>
          <a:prstGeom prst="rect">
            <a:avLst/>
          </a:prstGeom>
          <a:solidFill>
            <a:srgbClr val="0064B1"/>
          </a:solidFill>
        </p:spPr>
        <p:txBody>
          <a:bodyPr wrap="square" lIns="0" tIns="133350" rIns="0" bIns="0" rtlCol="0" vert="horz">
            <a:spAutoFit/>
          </a:bodyPr>
          <a:lstStyle/>
          <a:p>
            <a:pPr marL="348615">
              <a:lnSpc>
                <a:spcPct val="100000"/>
              </a:lnSpc>
              <a:spcBef>
                <a:spcPts val="1050"/>
              </a:spcBef>
            </a:pPr>
            <a:r>
              <a:rPr dirty="0" sz="1800" spc="-25" b="1">
                <a:solidFill>
                  <a:srgbClr val="FFFFFF"/>
                </a:solidFill>
                <a:latin typeface="Microsoft YaHei"/>
                <a:cs typeface="Microsoft YaHei"/>
              </a:rPr>
              <a:t>自營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80576" y="2421635"/>
            <a:ext cx="1152525" cy="3810000"/>
          </a:xfrm>
          <a:custGeom>
            <a:avLst/>
            <a:gdLst/>
            <a:ahLst/>
            <a:cxnLst/>
            <a:rect l="l" t="t" r="r" b="b"/>
            <a:pathLst>
              <a:path w="1152525" h="3810000">
                <a:moveTo>
                  <a:pt x="1152144" y="3144774"/>
                </a:moveTo>
                <a:lnTo>
                  <a:pt x="0" y="3144774"/>
                </a:lnTo>
                <a:lnTo>
                  <a:pt x="0" y="3810000"/>
                </a:lnTo>
                <a:lnTo>
                  <a:pt x="1152144" y="3810000"/>
                </a:lnTo>
                <a:lnTo>
                  <a:pt x="1152144" y="3144774"/>
                </a:lnTo>
                <a:close/>
              </a:path>
              <a:path w="1152525" h="3810000">
                <a:moveTo>
                  <a:pt x="1152144" y="1559814"/>
                </a:moveTo>
                <a:lnTo>
                  <a:pt x="0" y="1559814"/>
                </a:lnTo>
                <a:lnTo>
                  <a:pt x="0" y="2570226"/>
                </a:lnTo>
                <a:lnTo>
                  <a:pt x="1152144" y="2570226"/>
                </a:lnTo>
                <a:lnTo>
                  <a:pt x="1152144" y="1559814"/>
                </a:lnTo>
                <a:close/>
              </a:path>
              <a:path w="1152525" h="3810000">
                <a:moveTo>
                  <a:pt x="1152144" y="0"/>
                </a:moveTo>
                <a:lnTo>
                  <a:pt x="0" y="0"/>
                </a:lnTo>
                <a:lnTo>
                  <a:pt x="0" y="985266"/>
                </a:lnTo>
                <a:lnTo>
                  <a:pt x="1152144" y="985266"/>
                </a:lnTo>
                <a:lnTo>
                  <a:pt x="1152144" y="0"/>
                </a:lnTo>
                <a:close/>
              </a:path>
            </a:pathLst>
          </a:custGeom>
          <a:solidFill>
            <a:srgbClr val="006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180576" y="2421635"/>
            <a:ext cx="1152525" cy="437515"/>
          </a:xfrm>
          <a:prstGeom prst="rect">
            <a:avLst/>
          </a:prstGeom>
          <a:solidFill>
            <a:srgbClr val="0064B1"/>
          </a:solidFill>
        </p:spPr>
        <p:txBody>
          <a:bodyPr wrap="square" lIns="0" tIns="133350" rIns="0" bIns="0" rtlCol="0" vert="horz">
            <a:spAutoFit/>
          </a:bodyPr>
          <a:lstStyle/>
          <a:p>
            <a:pPr marL="347980">
              <a:lnSpc>
                <a:spcPct val="100000"/>
              </a:lnSpc>
              <a:spcBef>
                <a:spcPts val="1050"/>
              </a:spcBef>
            </a:pPr>
            <a:r>
              <a:rPr dirty="0" sz="1800" spc="-25" b="1">
                <a:solidFill>
                  <a:srgbClr val="FFFFFF"/>
                </a:solidFill>
                <a:latin typeface="Microsoft YaHei"/>
                <a:cs typeface="Microsoft YaHei"/>
              </a:rPr>
              <a:t>經紀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57571" y="2859023"/>
            <a:ext cx="6901180" cy="1670685"/>
            <a:chOff x="4957571" y="2859023"/>
            <a:chExt cx="6901180" cy="167068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6621" y="3406901"/>
              <a:ext cx="6862572" cy="57454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76621" y="3406901"/>
              <a:ext cx="6863080" cy="574675"/>
            </a:xfrm>
            <a:custGeom>
              <a:avLst/>
              <a:gdLst/>
              <a:ahLst/>
              <a:cxnLst/>
              <a:rect l="l" t="t" r="r" b="b"/>
              <a:pathLst>
                <a:path w="6863080" h="574675">
                  <a:moveTo>
                    <a:pt x="0" y="574548"/>
                  </a:moveTo>
                  <a:lnTo>
                    <a:pt x="6862572" y="574548"/>
                  </a:lnTo>
                  <a:lnTo>
                    <a:pt x="6862572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76621" y="2878073"/>
              <a:ext cx="6862572" cy="57607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76621" y="2878073"/>
              <a:ext cx="6863080" cy="576580"/>
            </a:xfrm>
            <a:custGeom>
              <a:avLst/>
              <a:gdLst/>
              <a:ahLst/>
              <a:cxnLst/>
              <a:rect l="l" t="t" r="r" b="b"/>
              <a:pathLst>
                <a:path w="6863080" h="576579">
                  <a:moveTo>
                    <a:pt x="0" y="576072"/>
                  </a:moveTo>
                  <a:lnTo>
                    <a:pt x="6862572" y="576072"/>
                  </a:lnTo>
                  <a:lnTo>
                    <a:pt x="6862572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6621" y="3935729"/>
              <a:ext cx="6862572" cy="5745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976621" y="3935729"/>
              <a:ext cx="6863080" cy="574675"/>
            </a:xfrm>
            <a:custGeom>
              <a:avLst/>
              <a:gdLst/>
              <a:ahLst/>
              <a:cxnLst/>
              <a:rect l="l" t="t" r="r" b="b"/>
              <a:pathLst>
                <a:path w="6863080" h="574675">
                  <a:moveTo>
                    <a:pt x="0" y="574548"/>
                  </a:moveTo>
                  <a:lnTo>
                    <a:pt x="6862572" y="574548"/>
                  </a:lnTo>
                  <a:lnTo>
                    <a:pt x="6862572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143627" y="3023742"/>
            <a:ext cx="836294" cy="1325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FFFFFF"/>
                </a:solidFill>
                <a:latin typeface="Microsoft YaHei"/>
                <a:cs typeface="Microsoft YaHei"/>
              </a:rPr>
              <a:t>客戶行銷</a:t>
            </a:r>
            <a:endParaRPr sz="1600">
              <a:latin typeface="Microsoft YaHei"/>
              <a:cs typeface="Microsoft YaHei"/>
            </a:endParaRPr>
          </a:p>
          <a:p>
            <a:pPr marL="12700" marR="5080">
              <a:lnSpc>
                <a:spcPct val="216699"/>
              </a:lnSpc>
            </a:pPr>
            <a:r>
              <a:rPr dirty="0" sz="1600" spc="-35" b="1">
                <a:solidFill>
                  <a:srgbClr val="FFFFFF"/>
                </a:solidFill>
                <a:latin typeface="Microsoft YaHei"/>
                <a:cs typeface="Microsoft YaHei"/>
              </a:rPr>
              <a:t>通路服務產品定價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57571" y="4972811"/>
            <a:ext cx="6901180" cy="612775"/>
            <a:chOff x="4957571" y="4972811"/>
            <a:chExt cx="6901180" cy="612775"/>
          </a:xfrm>
        </p:grpSpPr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6621" y="4991861"/>
              <a:ext cx="6862572" cy="57454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976621" y="4991861"/>
              <a:ext cx="6863080" cy="574675"/>
            </a:xfrm>
            <a:custGeom>
              <a:avLst/>
              <a:gdLst/>
              <a:ahLst/>
              <a:cxnLst/>
              <a:rect l="l" t="t" r="r" b="b"/>
              <a:pathLst>
                <a:path w="6863080" h="574675">
                  <a:moveTo>
                    <a:pt x="0" y="574547"/>
                  </a:moveTo>
                  <a:lnTo>
                    <a:pt x="6862572" y="574547"/>
                  </a:lnTo>
                  <a:lnTo>
                    <a:pt x="6862572" y="0"/>
                  </a:lnTo>
                  <a:lnTo>
                    <a:pt x="0" y="0"/>
                  </a:lnTo>
                  <a:lnTo>
                    <a:pt x="0" y="57454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143627" y="5137530"/>
            <a:ext cx="8362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FFFFFF"/>
                </a:solidFill>
                <a:latin typeface="Microsoft YaHei"/>
                <a:cs typeface="Microsoft YaHei"/>
              </a:rPr>
              <a:t>運營管理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957571" y="5501640"/>
            <a:ext cx="6901180" cy="612775"/>
            <a:chOff x="4957571" y="5501640"/>
            <a:chExt cx="6901180" cy="612775"/>
          </a:xfrm>
        </p:grpSpPr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6621" y="5520690"/>
              <a:ext cx="6862572" cy="57454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76621" y="5520690"/>
              <a:ext cx="6863080" cy="574675"/>
            </a:xfrm>
            <a:custGeom>
              <a:avLst/>
              <a:gdLst/>
              <a:ahLst/>
              <a:cxnLst/>
              <a:rect l="l" t="t" r="r" b="b"/>
              <a:pathLst>
                <a:path w="6863080" h="574675">
                  <a:moveTo>
                    <a:pt x="0" y="574548"/>
                  </a:moveTo>
                  <a:lnTo>
                    <a:pt x="6862572" y="574548"/>
                  </a:lnTo>
                  <a:lnTo>
                    <a:pt x="6862572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143627" y="5665723"/>
            <a:ext cx="8362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FFFFFF"/>
                </a:solidFill>
                <a:latin typeface="Microsoft YaHei"/>
                <a:cs typeface="Microsoft YaHei"/>
              </a:rPr>
              <a:t>科技能力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957571" y="4443984"/>
            <a:ext cx="6901180" cy="614680"/>
            <a:chOff x="4957571" y="4443984"/>
            <a:chExt cx="6901180" cy="614680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76621" y="4463034"/>
              <a:ext cx="6862572" cy="57607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976621" y="4463034"/>
              <a:ext cx="6863080" cy="576580"/>
            </a:xfrm>
            <a:custGeom>
              <a:avLst/>
              <a:gdLst/>
              <a:ahLst/>
              <a:cxnLst/>
              <a:rect l="l" t="t" r="r" b="b"/>
              <a:pathLst>
                <a:path w="6863080" h="576579">
                  <a:moveTo>
                    <a:pt x="0" y="576071"/>
                  </a:moveTo>
                  <a:lnTo>
                    <a:pt x="6862572" y="576071"/>
                  </a:lnTo>
                  <a:lnTo>
                    <a:pt x="6862572" y="0"/>
                  </a:lnTo>
                  <a:lnTo>
                    <a:pt x="0" y="0"/>
                  </a:lnTo>
                  <a:lnTo>
                    <a:pt x="0" y="57607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143627" y="4608957"/>
            <a:ext cx="8362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FFFFFF"/>
                </a:solidFill>
                <a:latin typeface="Microsoft YaHei"/>
                <a:cs typeface="Microsoft YaHei"/>
              </a:rPr>
              <a:t>風管合規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336791" y="2948927"/>
            <a:ext cx="5394960" cy="3112135"/>
            <a:chOff x="6336791" y="2948927"/>
            <a:chExt cx="5394960" cy="3112135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6791" y="2948927"/>
              <a:ext cx="5394960" cy="46026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368795" y="2980944"/>
              <a:ext cx="5280660" cy="346075"/>
            </a:xfrm>
            <a:custGeom>
              <a:avLst/>
              <a:gdLst/>
              <a:ahLst/>
              <a:cxnLst/>
              <a:rect l="l" t="t" r="r" b="b"/>
              <a:pathLst>
                <a:path w="5280659" h="346075">
                  <a:moveTo>
                    <a:pt x="5280659" y="0"/>
                  </a:moveTo>
                  <a:lnTo>
                    <a:pt x="0" y="0"/>
                  </a:lnTo>
                  <a:lnTo>
                    <a:pt x="0" y="345948"/>
                  </a:lnTo>
                  <a:lnTo>
                    <a:pt x="5280659" y="345948"/>
                  </a:lnTo>
                  <a:lnTo>
                    <a:pt x="5280659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368795" y="2980944"/>
              <a:ext cx="5280660" cy="346075"/>
            </a:xfrm>
            <a:custGeom>
              <a:avLst/>
              <a:gdLst/>
              <a:ahLst/>
              <a:cxnLst/>
              <a:rect l="l" t="t" r="r" b="b"/>
              <a:pathLst>
                <a:path w="5280659" h="346075">
                  <a:moveTo>
                    <a:pt x="0" y="345948"/>
                  </a:moveTo>
                  <a:lnTo>
                    <a:pt x="5280659" y="345948"/>
                  </a:lnTo>
                  <a:lnTo>
                    <a:pt x="5280659" y="0"/>
                  </a:lnTo>
                  <a:lnTo>
                    <a:pt x="0" y="0"/>
                  </a:lnTo>
                  <a:lnTo>
                    <a:pt x="0" y="34594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6791" y="3488423"/>
              <a:ext cx="5394960" cy="46026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68795" y="3520440"/>
              <a:ext cx="5280660" cy="346075"/>
            </a:xfrm>
            <a:custGeom>
              <a:avLst/>
              <a:gdLst/>
              <a:ahLst/>
              <a:cxnLst/>
              <a:rect l="l" t="t" r="r" b="b"/>
              <a:pathLst>
                <a:path w="5280659" h="346075">
                  <a:moveTo>
                    <a:pt x="5280659" y="0"/>
                  </a:moveTo>
                  <a:lnTo>
                    <a:pt x="0" y="0"/>
                  </a:lnTo>
                  <a:lnTo>
                    <a:pt x="0" y="345948"/>
                  </a:lnTo>
                  <a:lnTo>
                    <a:pt x="5280659" y="345948"/>
                  </a:lnTo>
                  <a:lnTo>
                    <a:pt x="5280659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368795" y="3520440"/>
              <a:ext cx="5280660" cy="346075"/>
            </a:xfrm>
            <a:custGeom>
              <a:avLst/>
              <a:gdLst/>
              <a:ahLst/>
              <a:cxnLst/>
              <a:rect l="l" t="t" r="r" b="b"/>
              <a:pathLst>
                <a:path w="5280659" h="346075">
                  <a:moveTo>
                    <a:pt x="0" y="345948"/>
                  </a:moveTo>
                  <a:lnTo>
                    <a:pt x="5280659" y="345948"/>
                  </a:lnTo>
                  <a:lnTo>
                    <a:pt x="5280659" y="0"/>
                  </a:lnTo>
                  <a:lnTo>
                    <a:pt x="0" y="0"/>
                  </a:lnTo>
                  <a:lnTo>
                    <a:pt x="0" y="34594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6791" y="4015727"/>
              <a:ext cx="5394960" cy="46026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368795" y="4047744"/>
              <a:ext cx="5280660" cy="346075"/>
            </a:xfrm>
            <a:custGeom>
              <a:avLst/>
              <a:gdLst/>
              <a:ahLst/>
              <a:cxnLst/>
              <a:rect l="l" t="t" r="r" b="b"/>
              <a:pathLst>
                <a:path w="5280659" h="346075">
                  <a:moveTo>
                    <a:pt x="5280659" y="0"/>
                  </a:moveTo>
                  <a:lnTo>
                    <a:pt x="0" y="0"/>
                  </a:lnTo>
                  <a:lnTo>
                    <a:pt x="0" y="345947"/>
                  </a:lnTo>
                  <a:lnTo>
                    <a:pt x="5280659" y="345947"/>
                  </a:lnTo>
                  <a:lnTo>
                    <a:pt x="5280659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368795" y="4047744"/>
              <a:ext cx="5280660" cy="346075"/>
            </a:xfrm>
            <a:custGeom>
              <a:avLst/>
              <a:gdLst/>
              <a:ahLst/>
              <a:cxnLst/>
              <a:rect l="l" t="t" r="r" b="b"/>
              <a:pathLst>
                <a:path w="5280659" h="346075">
                  <a:moveTo>
                    <a:pt x="0" y="345947"/>
                  </a:moveTo>
                  <a:lnTo>
                    <a:pt x="5280659" y="345947"/>
                  </a:lnTo>
                  <a:lnTo>
                    <a:pt x="5280659" y="0"/>
                  </a:lnTo>
                  <a:lnTo>
                    <a:pt x="0" y="0"/>
                  </a:lnTo>
                  <a:lnTo>
                    <a:pt x="0" y="34594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36791" y="4532350"/>
              <a:ext cx="5394960" cy="45874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368795" y="4564380"/>
              <a:ext cx="5280660" cy="344805"/>
            </a:xfrm>
            <a:custGeom>
              <a:avLst/>
              <a:gdLst/>
              <a:ahLst/>
              <a:cxnLst/>
              <a:rect l="l" t="t" r="r" b="b"/>
              <a:pathLst>
                <a:path w="5280659" h="344804">
                  <a:moveTo>
                    <a:pt x="5280659" y="0"/>
                  </a:moveTo>
                  <a:lnTo>
                    <a:pt x="0" y="0"/>
                  </a:lnTo>
                  <a:lnTo>
                    <a:pt x="0" y="344424"/>
                  </a:lnTo>
                  <a:lnTo>
                    <a:pt x="5280659" y="344424"/>
                  </a:lnTo>
                  <a:lnTo>
                    <a:pt x="5280659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68795" y="4564380"/>
              <a:ext cx="5280660" cy="344805"/>
            </a:xfrm>
            <a:custGeom>
              <a:avLst/>
              <a:gdLst/>
              <a:ahLst/>
              <a:cxnLst/>
              <a:rect l="l" t="t" r="r" b="b"/>
              <a:pathLst>
                <a:path w="5280659" h="344804">
                  <a:moveTo>
                    <a:pt x="0" y="344424"/>
                  </a:moveTo>
                  <a:lnTo>
                    <a:pt x="5280659" y="344424"/>
                  </a:lnTo>
                  <a:lnTo>
                    <a:pt x="5280659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36791" y="5071846"/>
              <a:ext cx="5394960" cy="45874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368795" y="5103876"/>
              <a:ext cx="5280660" cy="344805"/>
            </a:xfrm>
            <a:custGeom>
              <a:avLst/>
              <a:gdLst/>
              <a:ahLst/>
              <a:cxnLst/>
              <a:rect l="l" t="t" r="r" b="b"/>
              <a:pathLst>
                <a:path w="5280659" h="344804">
                  <a:moveTo>
                    <a:pt x="5280659" y="0"/>
                  </a:moveTo>
                  <a:lnTo>
                    <a:pt x="0" y="0"/>
                  </a:lnTo>
                  <a:lnTo>
                    <a:pt x="0" y="344424"/>
                  </a:lnTo>
                  <a:lnTo>
                    <a:pt x="5280659" y="344424"/>
                  </a:lnTo>
                  <a:lnTo>
                    <a:pt x="5280659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368795" y="5103876"/>
              <a:ext cx="5280660" cy="344805"/>
            </a:xfrm>
            <a:custGeom>
              <a:avLst/>
              <a:gdLst/>
              <a:ahLst/>
              <a:cxnLst/>
              <a:rect l="l" t="t" r="r" b="b"/>
              <a:pathLst>
                <a:path w="5280659" h="344804">
                  <a:moveTo>
                    <a:pt x="0" y="344424"/>
                  </a:moveTo>
                  <a:lnTo>
                    <a:pt x="5280659" y="344424"/>
                  </a:lnTo>
                  <a:lnTo>
                    <a:pt x="5280659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36791" y="5602224"/>
              <a:ext cx="5394960" cy="45874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368795" y="5634227"/>
              <a:ext cx="5280660" cy="344805"/>
            </a:xfrm>
            <a:custGeom>
              <a:avLst/>
              <a:gdLst/>
              <a:ahLst/>
              <a:cxnLst/>
              <a:rect l="l" t="t" r="r" b="b"/>
              <a:pathLst>
                <a:path w="5280659" h="344804">
                  <a:moveTo>
                    <a:pt x="5280659" y="0"/>
                  </a:moveTo>
                  <a:lnTo>
                    <a:pt x="0" y="0"/>
                  </a:lnTo>
                  <a:lnTo>
                    <a:pt x="0" y="344424"/>
                  </a:lnTo>
                  <a:lnTo>
                    <a:pt x="5280659" y="344424"/>
                  </a:lnTo>
                  <a:lnTo>
                    <a:pt x="5280659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368795" y="5634227"/>
              <a:ext cx="5280660" cy="344805"/>
            </a:xfrm>
            <a:custGeom>
              <a:avLst/>
              <a:gdLst/>
              <a:ahLst/>
              <a:cxnLst/>
              <a:rect l="l" t="t" r="r" b="b"/>
              <a:pathLst>
                <a:path w="5280659" h="344804">
                  <a:moveTo>
                    <a:pt x="0" y="344424"/>
                  </a:moveTo>
                  <a:lnTo>
                    <a:pt x="5280659" y="344424"/>
                  </a:lnTo>
                  <a:lnTo>
                    <a:pt x="5280659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576173" y="1425956"/>
            <a:ext cx="3988435" cy="121158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數位轉型本質在於</a:t>
            </a:r>
            <a:endParaRPr sz="1800">
              <a:latin typeface="Microsoft JhengHei"/>
              <a:cs typeface="Microsoft JhengHei"/>
            </a:endParaRPr>
          </a:p>
          <a:p>
            <a:pPr marL="12700" marR="5080">
              <a:lnSpc>
                <a:spcPts val="3460"/>
              </a:lnSpc>
            </a:pPr>
            <a:r>
              <a:rPr dirty="0" sz="2400" spc="-5" b="1">
                <a:solidFill>
                  <a:srgbClr val="FFFFFF"/>
                </a:solidFill>
                <a:latin typeface="Microsoft JhengHei"/>
                <a:cs typeface="Microsoft JhengHei"/>
              </a:rPr>
              <a:t>企業為適應數位經濟時代來臨</a:t>
            </a:r>
            <a:r>
              <a:rPr dirty="0" sz="2400" spc="-15" b="1">
                <a:solidFill>
                  <a:srgbClr val="FFFFFF"/>
                </a:solidFill>
                <a:latin typeface="Microsoft JhengHei"/>
                <a:cs typeface="Microsoft JhengHei"/>
              </a:rPr>
              <a:t>所做的必要調整與能力升級</a:t>
            </a:r>
            <a:endParaRPr sz="2400">
              <a:latin typeface="Microsoft JhengHei"/>
              <a:cs typeface="Microsoft JhengHe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60248" y="4357115"/>
            <a:ext cx="3922395" cy="1918335"/>
            <a:chOff x="460248" y="4357115"/>
            <a:chExt cx="3922395" cy="1918335"/>
          </a:xfrm>
        </p:grpSpPr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248" y="4357115"/>
              <a:ext cx="2096262" cy="45491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0248" y="4649723"/>
              <a:ext cx="3922014" cy="45491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0248" y="4942331"/>
              <a:ext cx="2298954" cy="45491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0248" y="5234939"/>
              <a:ext cx="2704338" cy="45491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0248" y="5527547"/>
              <a:ext cx="2501646" cy="45491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248" y="5820155"/>
              <a:ext cx="3515105" cy="454914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576173" y="4356633"/>
            <a:ext cx="3675379" cy="17818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基於市場環境新特性</a:t>
            </a:r>
            <a:endParaRPr sz="1600">
              <a:latin typeface="Microsoft JhengHei"/>
              <a:cs typeface="Microsoft JhengHei"/>
            </a:endParaRPr>
          </a:p>
          <a:p>
            <a:pPr marL="12700" marR="5080">
              <a:lnSpc>
                <a:spcPct val="120000"/>
              </a:lnSpc>
            </a:pPr>
            <a:r>
              <a:rPr dirty="0" sz="16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以科技賦能、資料賦能實現業務模式創新更好的服務市場與客戶</a:t>
            </a:r>
            <a:endParaRPr sz="1600">
              <a:latin typeface="Microsoft JhengHei"/>
              <a:cs typeface="Microsoft JhengHei"/>
            </a:endParaRPr>
          </a:p>
          <a:p>
            <a:pPr marL="12700" marR="1222375">
              <a:lnSpc>
                <a:spcPct val="120000"/>
              </a:lnSpc>
            </a:pPr>
            <a:r>
              <a:rPr dirty="0" sz="1600" spc="-30" b="1">
                <a:solidFill>
                  <a:srgbClr val="FFFFFF"/>
                </a:solidFill>
                <a:latin typeface="Microsoft JhengHei"/>
                <a:cs typeface="Microsoft JhengHei"/>
              </a:rPr>
              <a:t>與合作夥伴更緊密結合互動高效實現企業經營與管理</a:t>
            </a:r>
            <a:endParaRPr sz="1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提升市場價值、客戶體驗與財務績效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771644" y="1328927"/>
            <a:ext cx="6971030" cy="982344"/>
            <a:chOff x="4771644" y="1328927"/>
            <a:chExt cx="6971030" cy="982344"/>
          </a:xfrm>
        </p:grpSpPr>
        <p:sp>
          <p:nvSpPr>
            <p:cNvPr id="70" name="object 70"/>
            <p:cNvSpPr/>
            <p:nvPr/>
          </p:nvSpPr>
          <p:spPr>
            <a:xfrm>
              <a:off x="4860036" y="1328927"/>
              <a:ext cx="6882765" cy="970915"/>
            </a:xfrm>
            <a:custGeom>
              <a:avLst/>
              <a:gdLst/>
              <a:ahLst/>
              <a:cxnLst/>
              <a:rect l="l" t="t" r="r" b="b"/>
              <a:pathLst>
                <a:path w="6882765" h="970914">
                  <a:moveTo>
                    <a:pt x="6882383" y="0"/>
                  </a:moveTo>
                  <a:lnTo>
                    <a:pt x="0" y="0"/>
                  </a:lnTo>
                  <a:lnTo>
                    <a:pt x="0" y="970788"/>
                  </a:lnTo>
                  <a:lnTo>
                    <a:pt x="6882383" y="970788"/>
                  </a:lnTo>
                  <a:lnTo>
                    <a:pt x="6882383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71644" y="1377683"/>
              <a:ext cx="6471665" cy="56770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71644" y="1743443"/>
              <a:ext cx="851153" cy="56770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83708" y="1743443"/>
              <a:ext cx="852677" cy="56770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36108" y="2098547"/>
              <a:ext cx="803910" cy="52577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97296" y="1743443"/>
              <a:ext cx="595122" cy="56770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53327" y="1743443"/>
              <a:ext cx="467118" cy="56770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10236" y="2102929"/>
              <a:ext cx="153288" cy="4381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181344" y="1743443"/>
              <a:ext cx="595122" cy="56770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33744" y="2098547"/>
              <a:ext cx="290322" cy="5257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37376" y="1743443"/>
              <a:ext cx="595122" cy="56770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89776" y="2098547"/>
              <a:ext cx="290322" cy="5257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93408" y="1743443"/>
              <a:ext cx="851153" cy="56770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845808" y="2098547"/>
              <a:ext cx="546353" cy="5257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05472" y="1743443"/>
              <a:ext cx="1105662" cy="56770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4860035" y="1328927"/>
            <a:ext cx="6882765" cy="97091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71755" marR="673735">
              <a:lnSpc>
                <a:spcPct val="120100"/>
              </a:lnSpc>
              <a:spcBef>
                <a:spcPts val="620"/>
              </a:spcBef>
            </a:pPr>
            <a:r>
              <a:rPr dirty="0" sz="2000" spc="-25" b="1">
                <a:solidFill>
                  <a:srgbClr val="FFFFFF"/>
                </a:solidFill>
                <a:latin typeface="MS Gothic"/>
                <a:cs typeface="MS Gothic"/>
              </a:rPr>
              <a:t>請在課後與自己部門核心團隊共同討論部門關鍵能力，</a:t>
            </a:r>
            <a:r>
              <a:rPr dirty="0" sz="2000" spc="-10" b="1">
                <a:solidFill>
                  <a:srgbClr val="FFFFFF"/>
                </a:solidFill>
                <a:latin typeface="MS Gothic"/>
                <a:cs typeface="MS Gothic"/>
              </a:rPr>
              <a:t>並於</a:t>
            </a:r>
            <a:r>
              <a:rPr dirty="0" u="sng" sz="2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2026</a:t>
            </a:r>
            <a:r>
              <a:rPr dirty="0" u="sng" sz="2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年</a:t>
            </a:r>
            <a:r>
              <a:rPr dirty="0" u="sng" sz="20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MS Gothic"/>
                <a:cs typeface="MS Gothic"/>
              </a:rPr>
              <a:t>9</a:t>
            </a:r>
            <a:r>
              <a:rPr dirty="0" u="sng" sz="2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月</a:t>
            </a:r>
            <a:r>
              <a:rPr dirty="0" u="sng" sz="20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MS Gothic"/>
                <a:cs typeface="MS Gothic"/>
              </a:rPr>
              <a:t>23</a:t>
            </a:r>
            <a:r>
              <a:rPr dirty="0" u="sng" sz="2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日前</a:t>
            </a:r>
            <a:r>
              <a:rPr dirty="0" u="none" sz="2000" spc="-30" b="1">
                <a:solidFill>
                  <a:srgbClr val="FFFFFF"/>
                </a:solidFill>
                <a:latin typeface="MS Gothic"/>
                <a:cs typeface="MS Gothic"/>
              </a:rPr>
              <a:t>完成。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1249" y="6192951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>
                <a:solidFill>
                  <a:srgbClr val="404040"/>
                </a:solidFill>
                <a:latin typeface="Calibri"/>
                <a:cs typeface="Calibri"/>
              </a:rPr>
              <a:t>35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214864" y="6547053"/>
            <a:ext cx="2571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25">
                <a:latin typeface="Calibri"/>
                <a:cs typeface="Calibri"/>
              </a:rPr>
              <a:t>35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2587" y="1322450"/>
          <a:ext cx="11431905" cy="4088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5370"/>
                <a:gridCol w="3346450"/>
                <a:gridCol w="567182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目標市場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客戶</a:t>
                      </a:r>
                      <a:r>
                        <a:rPr dirty="0" sz="1800" spc="-35" b="1" i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服務對象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業務關係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6283" y="321944"/>
            <a:ext cx="6216015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關鍵能力：客戶行銷</a:t>
            </a:r>
          </a:p>
          <a:p>
            <a:pPr marL="12700">
              <a:lnSpc>
                <a:spcPct val="100000"/>
              </a:lnSpc>
            </a:pPr>
            <a:r>
              <a:rPr dirty="0" spc="-35"/>
              <a:t>－列出我們的目標市場及客戶</a:t>
            </a:r>
            <a:r>
              <a:rPr dirty="0" spc="-25" i="1">
                <a:latin typeface="Calibri"/>
                <a:cs typeface="Calibri"/>
              </a:rPr>
              <a:t>/</a:t>
            </a:r>
            <a:r>
              <a:rPr dirty="0" spc="-40"/>
              <a:t>服務對象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5" name="object 5"/>
            <p:cNvSpPr/>
            <p:nvPr/>
          </p:nvSpPr>
          <p:spPr>
            <a:xfrm>
              <a:off x="10661904" y="248411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10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7951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61904" y="413016"/>
              <a:ext cx="1080770" cy="800100"/>
            </a:xfrm>
            <a:custGeom>
              <a:avLst/>
              <a:gdLst/>
              <a:ahLst/>
              <a:cxnLst/>
              <a:rect l="l" t="t" r="r" b="b"/>
              <a:pathLst>
                <a:path w="1080770" h="800100">
                  <a:moveTo>
                    <a:pt x="1080516" y="656831"/>
                  </a:moveTo>
                  <a:lnTo>
                    <a:pt x="0" y="656831"/>
                  </a:lnTo>
                  <a:lnTo>
                    <a:pt x="0" y="800087"/>
                  </a:lnTo>
                  <a:lnTo>
                    <a:pt x="1080516" y="800087"/>
                  </a:lnTo>
                  <a:lnTo>
                    <a:pt x="1080516" y="656831"/>
                  </a:lnTo>
                  <a:close/>
                </a:path>
                <a:path w="1080770" h="800100">
                  <a:moveTo>
                    <a:pt x="1080516" y="492252"/>
                  </a:moveTo>
                  <a:lnTo>
                    <a:pt x="0" y="492252"/>
                  </a:lnTo>
                  <a:lnTo>
                    <a:pt x="0" y="635495"/>
                  </a:lnTo>
                  <a:lnTo>
                    <a:pt x="1080516" y="635495"/>
                  </a:lnTo>
                  <a:lnTo>
                    <a:pt x="1080516" y="492252"/>
                  </a:lnTo>
                  <a:close/>
                </a:path>
                <a:path w="1080770" h="800100">
                  <a:moveTo>
                    <a:pt x="1080516" y="327660"/>
                  </a:moveTo>
                  <a:lnTo>
                    <a:pt x="0" y="327660"/>
                  </a:lnTo>
                  <a:lnTo>
                    <a:pt x="0" y="472427"/>
                  </a:lnTo>
                  <a:lnTo>
                    <a:pt x="1080516" y="472427"/>
                  </a:lnTo>
                  <a:lnTo>
                    <a:pt x="1080516" y="327660"/>
                  </a:lnTo>
                  <a:close/>
                </a:path>
                <a:path w="1080770" h="800100">
                  <a:moveTo>
                    <a:pt x="1080516" y="163055"/>
                  </a:moveTo>
                  <a:lnTo>
                    <a:pt x="0" y="163055"/>
                  </a:lnTo>
                  <a:lnTo>
                    <a:pt x="0" y="307835"/>
                  </a:lnTo>
                  <a:lnTo>
                    <a:pt x="1080516" y="307835"/>
                  </a:lnTo>
                  <a:lnTo>
                    <a:pt x="1080516" y="163055"/>
                  </a:lnTo>
                  <a:close/>
                </a:path>
                <a:path w="1080770" h="800100">
                  <a:moveTo>
                    <a:pt x="1080516" y="0"/>
                  </a:moveTo>
                  <a:lnTo>
                    <a:pt x="0" y="0"/>
                  </a:lnTo>
                  <a:lnTo>
                    <a:pt x="0" y="143243"/>
                  </a:lnTo>
                  <a:lnTo>
                    <a:pt x="1080516" y="143243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85572" y="5632703"/>
            <a:ext cx="11372215" cy="494030"/>
            <a:chOff x="385572" y="5632703"/>
            <a:chExt cx="11372215" cy="494030"/>
          </a:xfrm>
        </p:grpSpPr>
        <p:sp>
          <p:nvSpPr>
            <p:cNvPr id="8" name="object 8"/>
            <p:cNvSpPr/>
            <p:nvPr/>
          </p:nvSpPr>
          <p:spPr>
            <a:xfrm>
              <a:off x="400050" y="5647181"/>
              <a:ext cx="11343640" cy="464820"/>
            </a:xfrm>
            <a:custGeom>
              <a:avLst/>
              <a:gdLst/>
              <a:ahLst/>
              <a:cxnLst/>
              <a:rect l="l" t="t" r="r" b="b"/>
              <a:pathLst>
                <a:path w="11343640" h="464820">
                  <a:moveTo>
                    <a:pt x="11343132" y="0"/>
                  </a:moveTo>
                  <a:lnTo>
                    <a:pt x="0" y="0"/>
                  </a:lnTo>
                  <a:lnTo>
                    <a:pt x="0" y="464820"/>
                  </a:lnTo>
                  <a:lnTo>
                    <a:pt x="11343132" y="464820"/>
                  </a:lnTo>
                  <a:lnTo>
                    <a:pt x="1134313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0050" y="5647181"/>
              <a:ext cx="11343640" cy="464820"/>
            </a:xfrm>
            <a:custGeom>
              <a:avLst/>
              <a:gdLst/>
              <a:ahLst/>
              <a:cxnLst/>
              <a:rect l="l" t="t" r="r" b="b"/>
              <a:pathLst>
                <a:path w="11343640" h="464820">
                  <a:moveTo>
                    <a:pt x="0" y="464820"/>
                  </a:moveTo>
                  <a:lnTo>
                    <a:pt x="11343132" y="464820"/>
                  </a:lnTo>
                  <a:lnTo>
                    <a:pt x="11343132" y="0"/>
                  </a:lnTo>
                  <a:lnTo>
                    <a:pt x="0" y="0"/>
                  </a:lnTo>
                  <a:lnTo>
                    <a:pt x="0" y="464820"/>
                  </a:lnTo>
                  <a:close/>
                </a:path>
              </a:pathLst>
            </a:custGeom>
            <a:ln w="28955">
              <a:solidFill>
                <a:srgbClr val="2248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629280" y="5707305"/>
            <a:ext cx="6883400" cy="3276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800" spc="-5" b="1">
                <a:solidFill>
                  <a:srgbClr val="224876"/>
                </a:solidFill>
                <a:latin typeface="Microsoft YaHei"/>
                <a:cs typeface="Microsoft YaHei"/>
              </a:rPr>
              <a:t>此部分不拘泥形式，若已經有相關材料直接使用即可、無須另行準備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2587" y="1322450"/>
          <a:ext cx="11431905" cy="4088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4160"/>
                <a:gridCol w="2867025"/>
                <a:gridCol w="5671185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目標市場與客戶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服務對象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用戶體驗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服務水準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6283" y="321944"/>
            <a:ext cx="8955405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關鍵能力：客戶行銷</a:t>
            </a:r>
          </a:p>
          <a:p>
            <a:pPr marL="12700">
              <a:lnSpc>
                <a:spcPct val="100000"/>
              </a:lnSpc>
            </a:pPr>
            <a:r>
              <a:rPr dirty="0" spc="-35"/>
              <a:t>－列出我們的對應的行銷方式：用户體驗及服務水準</a:t>
            </a:r>
            <a:r>
              <a:rPr dirty="0" spc="-10">
                <a:latin typeface="Calibri"/>
                <a:cs typeface="Calibri"/>
              </a:rPr>
              <a:t>(SLA)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5" name="object 5"/>
            <p:cNvSpPr/>
            <p:nvPr/>
          </p:nvSpPr>
          <p:spPr>
            <a:xfrm>
              <a:off x="10661904" y="248411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10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7951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61904" y="413016"/>
              <a:ext cx="1080770" cy="800100"/>
            </a:xfrm>
            <a:custGeom>
              <a:avLst/>
              <a:gdLst/>
              <a:ahLst/>
              <a:cxnLst/>
              <a:rect l="l" t="t" r="r" b="b"/>
              <a:pathLst>
                <a:path w="1080770" h="800100">
                  <a:moveTo>
                    <a:pt x="1080516" y="656831"/>
                  </a:moveTo>
                  <a:lnTo>
                    <a:pt x="0" y="656831"/>
                  </a:lnTo>
                  <a:lnTo>
                    <a:pt x="0" y="800087"/>
                  </a:lnTo>
                  <a:lnTo>
                    <a:pt x="1080516" y="800087"/>
                  </a:lnTo>
                  <a:lnTo>
                    <a:pt x="1080516" y="656831"/>
                  </a:lnTo>
                  <a:close/>
                </a:path>
                <a:path w="1080770" h="800100">
                  <a:moveTo>
                    <a:pt x="1080516" y="492252"/>
                  </a:moveTo>
                  <a:lnTo>
                    <a:pt x="0" y="492252"/>
                  </a:lnTo>
                  <a:lnTo>
                    <a:pt x="0" y="635495"/>
                  </a:lnTo>
                  <a:lnTo>
                    <a:pt x="1080516" y="635495"/>
                  </a:lnTo>
                  <a:lnTo>
                    <a:pt x="1080516" y="492252"/>
                  </a:lnTo>
                  <a:close/>
                </a:path>
                <a:path w="1080770" h="800100">
                  <a:moveTo>
                    <a:pt x="1080516" y="327660"/>
                  </a:moveTo>
                  <a:lnTo>
                    <a:pt x="0" y="327660"/>
                  </a:lnTo>
                  <a:lnTo>
                    <a:pt x="0" y="472427"/>
                  </a:lnTo>
                  <a:lnTo>
                    <a:pt x="1080516" y="472427"/>
                  </a:lnTo>
                  <a:lnTo>
                    <a:pt x="1080516" y="327660"/>
                  </a:lnTo>
                  <a:close/>
                </a:path>
                <a:path w="1080770" h="800100">
                  <a:moveTo>
                    <a:pt x="1080516" y="163055"/>
                  </a:moveTo>
                  <a:lnTo>
                    <a:pt x="0" y="163055"/>
                  </a:lnTo>
                  <a:lnTo>
                    <a:pt x="0" y="307835"/>
                  </a:lnTo>
                  <a:lnTo>
                    <a:pt x="1080516" y="307835"/>
                  </a:lnTo>
                  <a:lnTo>
                    <a:pt x="1080516" y="163055"/>
                  </a:lnTo>
                  <a:close/>
                </a:path>
                <a:path w="1080770" h="800100">
                  <a:moveTo>
                    <a:pt x="1080516" y="0"/>
                  </a:moveTo>
                  <a:lnTo>
                    <a:pt x="0" y="0"/>
                  </a:lnTo>
                  <a:lnTo>
                    <a:pt x="0" y="143243"/>
                  </a:lnTo>
                  <a:lnTo>
                    <a:pt x="1080516" y="143243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85572" y="5632703"/>
            <a:ext cx="11372215" cy="494030"/>
            <a:chOff x="385572" y="5632703"/>
            <a:chExt cx="11372215" cy="494030"/>
          </a:xfrm>
        </p:grpSpPr>
        <p:sp>
          <p:nvSpPr>
            <p:cNvPr id="8" name="object 8"/>
            <p:cNvSpPr/>
            <p:nvPr/>
          </p:nvSpPr>
          <p:spPr>
            <a:xfrm>
              <a:off x="400050" y="5647181"/>
              <a:ext cx="11343640" cy="464820"/>
            </a:xfrm>
            <a:custGeom>
              <a:avLst/>
              <a:gdLst/>
              <a:ahLst/>
              <a:cxnLst/>
              <a:rect l="l" t="t" r="r" b="b"/>
              <a:pathLst>
                <a:path w="11343640" h="464820">
                  <a:moveTo>
                    <a:pt x="11343132" y="0"/>
                  </a:moveTo>
                  <a:lnTo>
                    <a:pt x="0" y="0"/>
                  </a:lnTo>
                  <a:lnTo>
                    <a:pt x="0" y="464820"/>
                  </a:lnTo>
                  <a:lnTo>
                    <a:pt x="11343132" y="464820"/>
                  </a:lnTo>
                  <a:lnTo>
                    <a:pt x="1134313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0050" y="5647181"/>
              <a:ext cx="11343640" cy="464820"/>
            </a:xfrm>
            <a:custGeom>
              <a:avLst/>
              <a:gdLst/>
              <a:ahLst/>
              <a:cxnLst/>
              <a:rect l="l" t="t" r="r" b="b"/>
              <a:pathLst>
                <a:path w="11343640" h="464820">
                  <a:moveTo>
                    <a:pt x="0" y="464820"/>
                  </a:moveTo>
                  <a:lnTo>
                    <a:pt x="11343132" y="464820"/>
                  </a:lnTo>
                  <a:lnTo>
                    <a:pt x="11343132" y="0"/>
                  </a:lnTo>
                  <a:lnTo>
                    <a:pt x="0" y="0"/>
                  </a:lnTo>
                  <a:lnTo>
                    <a:pt x="0" y="464820"/>
                  </a:lnTo>
                  <a:close/>
                </a:path>
              </a:pathLst>
            </a:custGeom>
            <a:ln w="28955">
              <a:solidFill>
                <a:srgbClr val="2248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629280" y="5707305"/>
            <a:ext cx="6883400" cy="3276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800" spc="-5" b="1">
                <a:solidFill>
                  <a:srgbClr val="224876"/>
                </a:solidFill>
                <a:latin typeface="Microsoft YaHei"/>
                <a:cs typeface="Microsoft YaHei"/>
              </a:rPr>
              <a:t>此部分不拘泥形式，若已經有相關材料直接使用即可、無須另行準備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283" y="748665"/>
            <a:ext cx="32213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關鍵能力：通路服務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3550" y="1432941"/>
          <a:ext cx="11492230" cy="4763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6745"/>
                <a:gridCol w="864234"/>
                <a:gridCol w="864235"/>
                <a:gridCol w="864235"/>
                <a:gridCol w="864235"/>
                <a:gridCol w="864235"/>
                <a:gridCol w="864234"/>
                <a:gridCol w="864234"/>
                <a:gridCol w="864234"/>
                <a:gridCol w="864234"/>
                <a:gridCol w="864234"/>
                <a:gridCol w="864234"/>
              </a:tblGrid>
              <a:tr h="366395"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服務對象</a:t>
                      </a:r>
                      <a:r>
                        <a:rPr dirty="0" sz="1400" spc="-7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客戶旅程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櫃檯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GenAI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客服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人工客服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官網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FB/IG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YuTube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B2B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電子郵件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5" name="object 5"/>
            <p:cNvSpPr/>
            <p:nvPr/>
          </p:nvSpPr>
          <p:spPr>
            <a:xfrm>
              <a:off x="10661904" y="248411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10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61904" y="413003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61904" y="576071"/>
              <a:ext cx="1080770" cy="472440"/>
            </a:xfrm>
            <a:custGeom>
              <a:avLst/>
              <a:gdLst/>
              <a:ahLst/>
              <a:cxnLst/>
              <a:rect l="l" t="t" r="r" b="b"/>
              <a:pathLst>
                <a:path w="1080770" h="472440">
                  <a:moveTo>
                    <a:pt x="1080516" y="329196"/>
                  </a:moveTo>
                  <a:lnTo>
                    <a:pt x="0" y="329196"/>
                  </a:lnTo>
                  <a:lnTo>
                    <a:pt x="0" y="472440"/>
                  </a:lnTo>
                  <a:lnTo>
                    <a:pt x="1080516" y="472440"/>
                  </a:lnTo>
                  <a:lnTo>
                    <a:pt x="1080516" y="329196"/>
                  </a:lnTo>
                  <a:close/>
                </a:path>
                <a:path w="1080770" h="472440">
                  <a:moveTo>
                    <a:pt x="1080516" y="164604"/>
                  </a:moveTo>
                  <a:lnTo>
                    <a:pt x="0" y="164604"/>
                  </a:lnTo>
                  <a:lnTo>
                    <a:pt x="0" y="309372"/>
                  </a:lnTo>
                  <a:lnTo>
                    <a:pt x="1080516" y="309372"/>
                  </a:lnTo>
                  <a:lnTo>
                    <a:pt x="1080516" y="164604"/>
                  </a:lnTo>
                  <a:close/>
                </a:path>
                <a:path w="1080770" h="472440">
                  <a:moveTo>
                    <a:pt x="1080516" y="0"/>
                  </a:moveTo>
                  <a:lnTo>
                    <a:pt x="0" y="0"/>
                  </a:lnTo>
                  <a:lnTo>
                    <a:pt x="0" y="144780"/>
                  </a:lnTo>
                  <a:lnTo>
                    <a:pt x="1080516" y="144780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61904" y="1069847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189464" y="6547053"/>
            <a:ext cx="3206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r>
              <a:rPr dirty="0" sz="1800" spc="-25"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7886" y="4555109"/>
            <a:ext cx="11683365" cy="2303145"/>
            <a:chOff x="357886" y="4555109"/>
            <a:chExt cx="11683365" cy="2303145"/>
          </a:xfrm>
        </p:grpSpPr>
        <p:sp>
          <p:nvSpPr>
            <p:cNvPr id="3" name="object 3"/>
            <p:cNvSpPr/>
            <p:nvPr/>
          </p:nvSpPr>
          <p:spPr>
            <a:xfrm>
              <a:off x="2155697" y="4569714"/>
              <a:ext cx="7992109" cy="1705610"/>
            </a:xfrm>
            <a:custGeom>
              <a:avLst/>
              <a:gdLst/>
              <a:ahLst/>
              <a:cxnLst/>
              <a:rect l="l" t="t" r="r" b="b"/>
              <a:pathLst>
                <a:path w="7992109" h="1705610">
                  <a:moveTo>
                    <a:pt x="7991856" y="0"/>
                  </a:moveTo>
                  <a:lnTo>
                    <a:pt x="0" y="0"/>
                  </a:lnTo>
                  <a:lnTo>
                    <a:pt x="0" y="1705356"/>
                  </a:lnTo>
                  <a:lnTo>
                    <a:pt x="7991856" y="1705356"/>
                  </a:lnTo>
                  <a:lnTo>
                    <a:pt x="7991856" y="0"/>
                  </a:lnTo>
                  <a:close/>
                </a:path>
              </a:pathLst>
            </a:custGeom>
            <a:solidFill>
              <a:srgbClr val="C7DA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155697" y="4569714"/>
              <a:ext cx="7992109" cy="1705610"/>
            </a:xfrm>
            <a:custGeom>
              <a:avLst/>
              <a:gdLst/>
              <a:ahLst/>
              <a:cxnLst/>
              <a:rect l="l" t="t" r="r" b="b"/>
              <a:pathLst>
                <a:path w="7992109" h="1705610">
                  <a:moveTo>
                    <a:pt x="0" y="0"/>
                  </a:moveTo>
                  <a:lnTo>
                    <a:pt x="7991856" y="0"/>
                  </a:lnTo>
                  <a:lnTo>
                    <a:pt x="7991856" y="852678"/>
                  </a:lnTo>
                  <a:lnTo>
                    <a:pt x="7991856" y="1705356"/>
                  </a:lnTo>
                  <a:lnTo>
                    <a:pt x="0" y="1705356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86283" y="748665"/>
            <a:ext cx="32213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關鍵能力：產品定價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7" name="object 7"/>
            <p:cNvSpPr/>
            <p:nvPr/>
          </p:nvSpPr>
          <p:spPr>
            <a:xfrm>
              <a:off x="10661904" y="248411"/>
              <a:ext cx="1080770" cy="307975"/>
            </a:xfrm>
            <a:custGeom>
              <a:avLst/>
              <a:gdLst/>
              <a:ahLst/>
              <a:cxnLst/>
              <a:rect l="l" t="t" r="r" b="b"/>
              <a:pathLst>
                <a:path w="1080770" h="307975">
                  <a:moveTo>
                    <a:pt x="1080516" y="164604"/>
                  </a:moveTo>
                  <a:lnTo>
                    <a:pt x="0" y="164604"/>
                  </a:lnTo>
                  <a:lnTo>
                    <a:pt x="0" y="307848"/>
                  </a:lnTo>
                  <a:lnTo>
                    <a:pt x="1080516" y="307848"/>
                  </a:lnTo>
                  <a:lnTo>
                    <a:pt x="1080516" y="164604"/>
                  </a:lnTo>
                  <a:close/>
                </a:path>
                <a:path w="1080770" h="307975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61904" y="576071"/>
              <a:ext cx="1080770" cy="144780"/>
            </a:xfrm>
            <a:custGeom>
              <a:avLst/>
              <a:gdLst/>
              <a:ahLst/>
              <a:cxnLst/>
              <a:rect l="l" t="t" r="r" b="b"/>
              <a:pathLst>
                <a:path w="1080770" h="144779">
                  <a:moveTo>
                    <a:pt x="1080516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1080516" y="144779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661904" y="740676"/>
              <a:ext cx="1080770" cy="472440"/>
            </a:xfrm>
            <a:custGeom>
              <a:avLst/>
              <a:gdLst/>
              <a:ahLst/>
              <a:cxnLst/>
              <a:rect l="l" t="t" r="r" b="b"/>
              <a:pathLst>
                <a:path w="1080770" h="472440">
                  <a:moveTo>
                    <a:pt x="1080516" y="329171"/>
                  </a:moveTo>
                  <a:lnTo>
                    <a:pt x="0" y="329171"/>
                  </a:lnTo>
                  <a:lnTo>
                    <a:pt x="0" y="472427"/>
                  </a:lnTo>
                  <a:lnTo>
                    <a:pt x="1080516" y="472427"/>
                  </a:lnTo>
                  <a:lnTo>
                    <a:pt x="1080516" y="329171"/>
                  </a:lnTo>
                  <a:close/>
                </a:path>
                <a:path w="1080770" h="472440">
                  <a:moveTo>
                    <a:pt x="1080516" y="164592"/>
                  </a:moveTo>
                  <a:lnTo>
                    <a:pt x="0" y="164592"/>
                  </a:lnTo>
                  <a:lnTo>
                    <a:pt x="0" y="307835"/>
                  </a:lnTo>
                  <a:lnTo>
                    <a:pt x="1080516" y="307835"/>
                  </a:lnTo>
                  <a:lnTo>
                    <a:pt x="1080516" y="164592"/>
                  </a:lnTo>
                  <a:close/>
                </a:path>
                <a:path w="1080770" h="472440">
                  <a:moveTo>
                    <a:pt x="1080516" y="0"/>
                  </a:moveTo>
                  <a:lnTo>
                    <a:pt x="0" y="0"/>
                  </a:lnTo>
                  <a:lnTo>
                    <a:pt x="0" y="144767"/>
                  </a:lnTo>
                  <a:lnTo>
                    <a:pt x="1080516" y="144767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936107" y="4618735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Microsoft JhengHei"/>
                <a:cs typeface="Microsoft JhengHei"/>
              </a:rPr>
              <a:t>服務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9005" y="1474469"/>
            <a:ext cx="1440180" cy="937260"/>
          </a:xfrm>
          <a:custGeom>
            <a:avLst/>
            <a:gdLst/>
            <a:ahLst/>
            <a:cxnLst/>
            <a:rect l="l" t="t" r="r" b="b"/>
            <a:pathLst>
              <a:path w="1440180" h="937260">
                <a:moveTo>
                  <a:pt x="0" y="937260"/>
                </a:moveTo>
                <a:lnTo>
                  <a:pt x="1440180" y="937260"/>
                </a:lnTo>
                <a:lnTo>
                  <a:pt x="1440180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9812">
            <a:solidFill>
              <a:srgbClr val="2248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78255" y="1812798"/>
            <a:ext cx="7404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客戶需求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9005" y="5337809"/>
            <a:ext cx="1440180" cy="937260"/>
          </a:xfrm>
          <a:custGeom>
            <a:avLst/>
            <a:gdLst/>
            <a:ahLst/>
            <a:cxnLst/>
            <a:rect l="l" t="t" r="r" b="b"/>
            <a:pathLst>
              <a:path w="1440180" h="937260">
                <a:moveTo>
                  <a:pt x="0" y="937259"/>
                </a:moveTo>
                <a:lnTo>
                  <a:pt x="1440180" y="937259"/>
                </a:lnTo>
                <a:lnTo>
                  <a:pt x="1440180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9811">
            <a:solidFill>
              <a:srgbClr val="2248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9948" y="5676696"/>
            <a:ext cx="10953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客戶風險評級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1894" y="3099561"/>
            <a:ext cx="1452880" cy="1547495"/>
            <a:chOff x="421894" y="3099561"/>
            <a:chExt cx="1452880" cy="1547495"/>
          </a:xfrm>
        </p:grpSpPr>
        <p:sp>
          <p:nvSpPr>
            <p:cNvPr id="16" name="object 16"/>
            <p:cNvSpPr/>
            <p:nvPr/>
          </p:nvSpPr>
          <p:spPr>
            <a:xfrm>
              <a:off x="428244" y="3105911"/>
              <a:ext cx="1440180" cy="1534795"/>
            </a:xfrm>
            <a:custGeom>
              <a:avLst/>
              <a:gdLst/>
              <a:ahLst/>
              <a:cxnLst/>
              <a:rect l="l" t="t" r="r" b="b"/>
              <a:pathLst>
                <a:path w="1440180" h="1534795">
                  <a:moveTo>
                    <a:pt x="1440180" y="0"/>
                  </a:moveTo>
                  <a:lnTo>
                    <a:pt x="0" y="0"/>
                  </a:lnTo>
                  <a:lnTo>
                    <a:pt x="0" y="1534668"/>
                  </a:lnTo>
                  <a:lnTo>
                    <a:pt x="1440180" y="1534668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C7DA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28244" y="3105911"/>
              <a:ext cx="1440180" cy="1534795"/>
            </a:xfrm>
            <a:custGeom>
              <a:avLst/>
              <a:gdLst/>
              <a:ahLst/>
              <a:cxnLst/>
              <a:rect l="l" t="t" r="r" b="b"/>
              <a:pathLst>
                <a:path w="1440180" h="1534795">
                  <a:moveTo>
                    <a:pt x="0" y="1534668"/>
                  </a:moveTo>
                  <a:lnTo>
                    <a:pt x="1440180" y="1534668"/>
                  </a:lnTo>
                  <a:lnTo>
                    <a:pt x="1440180" y="0"/>
                  </a:lnTo>
                  <a:lnTo>
                    <a:pt x="0" y="0"/>
                  </a:lnTo>
                  <a:lnTo>
                    <a:pt x="0" y="1534668"/>
                  </a:lnTo>
                  <a:close/>
                </a:path>
              </a:pathLst>
            </a:custGeom>
            <a:ln w="1219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7405" y="3607434"/>
            <a:ext cx="124396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Microsoft JhengHei"/>
                <a:cs typeface="Microsoft JhengHei"/>
              </a:rPr>
              <a:t>基於風險等級</a:t>
            </a:r>
            <a:endParaRPr sz="1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1600" spc="-35" b="1">
                <a:latin typeface="Microsoft JhengHei"/>
                <a:cs typeface="Microsoft JhengHei"/>
              </a:rPr>
              <a:t>客戶需求匹配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41222" y="1459864"/>
            <a:ext cx="9021445" cy="3965575"/>
            <a:chOff x="1141222" y="1459864"/>
            <a:chExt cx="9021445" cy="3965575"/>
          </a:xfrm>
        </p:grpSpPr>
        <p:sp>
          <p:nvSpPr>
            <p:cNvPr id="20" name="object 20"/>
            <p:cNvSpPr/>
            <p:nvPr/>
          </p:nvSpPr>
          <p:spPr>
            <a:xfrm>
              <a:off x="1147572" y="2410967"/>
              <a:ext cx="0" cy="2924810"/>
            </a:xfrm>
            <a:custGeom>
              <a:avLst/>
              <a:gdLst/>
              <a:ahLst/>
              <a:cxnLst/>
              <a:rect l="l" t="t" r="r" b="b"/>
              <a:pathLst>
                <a:path w="0" h="2924810">
                  <a:moveTo>
                    <a:pt x="0" y="0"/>
                  </a:moveTo>
                  <a:lnTo>
                    <a:pt x="0" y="695198"/>
                  </a:lnTo>
                </a:path>
                <a:path w="0" h="2924810">
                  <a:moveTo>
                    <a:pt x="0" y="2924810"/>
                  </a:moveTo>
                  <a:lnTo>
                    <a:pt x="0" y="2229612"/>
                  </a:lnTo>
                </a:path>
              </a:pathLst>
            </a:custGeom>
            <a:ln w="12192">
              <a:solidFill>
                <a:srgbClr val="22487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68423" y="2923031"/>
              <a:ext cx="286385" cy="2499360"/>
            </a:xfrm>
            <a:custGeom>
              <a:avLst/>
              <a:gdLst/>
              <a:ahLst/>
              <a:cxnLst/>
              <a:rect l="l" t="t" r="r" b="b"/>
              <a:pathLst>
                <a:path w="286385" h="2499360">
                  <a:moveTo>
                    <a:pt x="0" y="950975"/>
                  </a:moveTo>
                  <a:lnTo>
                    <a:pt x="143128" y="950975"/>
                  </a:lnTo>
                  <a:lnTo>
                    <a:pt x="143128" y="0"/>
                  </a:lnTo>
                  <a:lnTo>
                    <a:pt x="286257" y="0"/>
                  </a:lnTo>
                </a:path>
                <a:path w="286385" h="2499360">
                  <a:moveTo>
                    <a:pt x="0" y="950975"/>
                  </a:moveTo>
                  <a:lnTo>
                    <a:pt x="143128" y="950975"/>
                  </a:lnTo>
                  <a:lnTo>
                    <a:pt x="143128" y="2498852"/>
                  </a:lnTo>
                  <a:lnTo>
                    <a:pt x="286257" y="2498852"/>
                  </a:lnTo>
                </a:path>
              </a:pathLst>
            </a:custGeom>
            <a:ln w="6096">
              <a:solidFill>
                <a:srgbClr val="2248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55697" y="1474469"/>
              <a:ext cx="7992109" cy="2898775"/>
            </a:xfrm>
            <a:custGeom>
              <a:avLst/>
              <a:gdLst/>
              <a:ahLst/>
              <a:cxnLst/>
              <a:rect l="l" t="t" r="r" b="b"/>
              <a:pathLst>
                <a:path w="7992109" h="2898775">
                  <a:moveTo>
                    <a:pt x="7991856" y="0"/>
                  </a:moveTo>
                  <a:lnTo>
                    <a:pt x="0" y="0"/>
                  </a:lnTo>
                  <a:lnTo>
                    <a:pt x="0" y="2898647"/>
                  </a:lnTo>
                  <a:lnTo>
                    <a:pt x="7991856" y="2898647"/>
                  </a:lnTo>
                  <a:lnTo>
                    <a:pt x="7991856" y="0"/>
                  </a:lnTo>
                  <a:close/>
                </a:path>
              </a:pathLst>
            </a:custGeom>
            <a:solidFill>
              <a:srgbClr val="C7DA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55697" y="1474469"/>
              <a:ext cx="7992109" cy="2898775"/>
            </a:xfrm>
            <a:custGeom>
              <a:avLst/>
              <a:gdLst/>
              <a:ahLst/>
              <a:cxnLst/>
              <a:rect l="l" t="t" r="r" b="b"/>
              <a:pathLst>
                <a:path w="7992109" h="2898775">
                  <a:moveTo>
                    <a:pt x="0" y="0"/>
                  </a:moveTo>
                  <a:lnTo>
                    <a:pt x="7991856" y="0"/>
                  </a:lnTo>
                  <a:lnTo>
                    <a:pt x="7991856" y="1449324"/>
                  </a:lnTo>
                  <a:lnTo>
                    <a:pt x="7991856" y="2898647"/>
                  </a:lnTo>
                  <a:lnTo>
                    <a:pt x="0" y="2898647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936107" y="1522222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Microsoft JhengHei"/>
                <a:cs typeface="Microsoft JhengHei"/>
              </a:rPr>
              <a:t>產品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419460" y="1472057"/>
            <a:ext cx="1468120" cy="4805680"/>
            <a:chOff x="10419460" y="1472057"/>
            <a:chExt cx="1468120" cy="4805680"/>
          </a:xfrm>
        </p:grpSpPr>
        <p:sp>
          <p:nvSpPr>
            <p:cNvPr id="26" name="object 26"/>
            <p:cNvSpPr/>
            <p:nvPr/>
          </p:nvSpPr>
          <p:spPr>
            <a:xfrm>
              <a:off x="10434065" y="1486662"/>
              <a:ext cx="1438910" cy="4776470"/>
            </a:xfrm>
            <a:custGeom>
              <a:avLst/>
              <a:gdLst/>
              <a:ahLst/>
              <a:cxnLst/>
              <a:rect l="l" t="t" r="r" b="b"/>
              <a:pathLst>
                <a:path w="1438909" h="4776470">
                  <a:moveTo>
                    <a:pt x="1438655" y="0"/>
                  </a:moveTo>
                  <a:lnTo>
                    <a:pt x="0" y="0"/>
                  </a:lnTo>
                  <a:lnTo>
                    <a:pt x="0" y="4776216"/>
                  </a:lnTo>
                  <a:lnTo>
                    <a:pt x="1438655" y="4776216"/>
                  </a:lnTo>
                  <a:lnTo>
                    <a:pt x="1438655" y="0"/>
                  </a:lnTo>
                  <a:close/>
                </a:path>
              </a:pathLst>
            </a:custGeom>
            <a:solidFill>
              <a:srgbClr val="C7DA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434065" y="1486662"/>
              <a:ext cx="1438910" cy="4776470"/>
            </a:xfrm>
            <a:custGeom>
              <a:avLst/>
              <a:gdLst/>
              <a:ahLst/>
              <a:cxnLst/>
              <a:rect l="l" t="t" r="r" b="b"/>
              <a:pathLst>
                <a:path w="1438909" h="4776470">
                  <a:moveTo>
                    <a:pt x="0" y="4776216"/>
                  </a:moveTo>
                  <a:lnTo>
                    <a:pt x="1438655" y="4776216"/>
                  </a:lnTo>
                  <a:lnTo>
                    <a:pt x="1438655" y="0"/>
                  </a:lnTo>
                  <a:lnTo>
                    <a:pt x="0" y="0"/>
                  </a:lnTo>
                  <a:lnTo>
                    <a:pt x="0" y="4776216"/>
                  </a:lnTo>
                  <a:close/>
                </a:path>
              </a:pathLst>
            </a:custGeom>
            <a:ln w="28956">
              <a:solidFill>
                <a:srgbClr val="00478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533380" y="3729354"/>
            <a:ext cx="1242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Microsoft JhengHei"/>
                <a:cs typeface="Microsoft JhengHei"/>
              </a:rPr>
              <a:t>產品服務組合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146792" y="2923032"/>
            <a:ext cx="286385" cy="2499360"/>
          </a:xfrm>
          <a:custGeom>
            <a:avLst/>
            <a:gdLst/>
            <a:ahLst/>
            <a:cxnLst/>
            <a:rect l="l" t="t" r="r" b="b"/>
            <a:pathLst>
              <a:path w="286384" h="2499360">
                <a:moveTo>
                  <a:pt x="0" y="0"/>
                </a:moveTo>
                <a:lnTo>
                  <a:pt x="143128" y="0"/>
                </a:lnTo>
                <a:lnTo>
                  <a:pt x="143128" y="950975"/>
                </a:lnTo>
                <a:lnTo>
                  <a:pt x="286257" y="950975"/>
                </a:lnTo>
              </a:path>
              <a:path w="286384" h="2499360">
                <a:moveTo>
                  <a:pt x="0" y="2498852"/>
                </a:moveTo>
                <a:lnTo>
                  <a:pt x="143128" y="2498852"/>
                </a:lnTo>
                <a:lnTo>
                  <a:pt x="143128" y="950975"/>
                </a:lnTo>
                <a:lnTo>
                  <a:pt x="286257" y="950975"/>
                </a:lnTo>
              </a:path>
            </a:pathLst>
          </a:custGeom>
          <a:ln w="6096">
            <a:solidFill>
              <a:srgbClr val="0064B1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505455" y="1897379"/>
          <a:ext cx="6856730" cy="2045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3915"/>
                <a:gridCol w="3383915"/>
              </a:tblGrid>
              <a:tr h="1022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Microsoft JhengHei"/>
                          <a:cs typeface="Microsoft JhengHei"/>
                        </a:rPr>
                        <a:t>標準</a:t>
                      </a:r>
                      <a:r>
                        <a:rPr dirty="0" sz="1600" spc="-35" b="1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600" spc="-40" b="1">
                          <a:latin typeface="Microsoft JhengHei"/>
                          <a:cs typeface="Microsoft JhengHei"/>
                        </a:rPr>
                        <a:t>自有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38430">
                    <a:lnL w="12700">
                      <a:solidFill>
                        <a:srgbClr val="224876"/>
                      </a:solidFill>
                      <a:prstDash val="solid"/>
                    </a:lnL>
                    <a:lnR w="19050">
                      <a:solidFill>
                        <a:srgbClr val="224876"/>
                      </a:solidFill>
                      <a:prstDash val="solid"/>
                    </a:lnR>
                    <a:lnT w="12700">
                      <a:solidFill>
                        <a:srgbClr val="224876"/>
                      </a:solidFill>
                      <a:prstDash val="solid"/>
                    </a:lnT>
                    <a:lnB w="12700">
                      <a:solidFill>
                        <a:srgbClr val="2248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Microsoft JhengHei"/>
                          <a:cs typeface="Microsoft JhengHei"/>
                        </a:rPr>
                        <a:t>標準</a:t>
                      </a:r>
                      <a:r>
                        <a:rPr dirty="0" sz="1600" spc="-35" b="1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600" spc="-35" b="1">
                          <a:latin typeface="Microsoft JhengHei"/>
                          <a:cs typeface="Microsoft JhengHei"/>
                        </a:rPr>
                        <a:t>第三方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38430">
                    <a:lnL w="19050">
                      <a:solidFill>
                        <a:srgbClr val="224876"/>
                      </a:solidFill>
                      <a:prstDash val="solid"/>
                    </a:lnL>
                    <a:lnR w="12700">
                      <a:solidFill>
                        <a:srgbClr val="224876"/>
                      </a:solidFill>
                      <a:prstDash val="solid"/>
                    </a:lnR>
                    <a:lnT w="12700">
                      <a:solidFill>
                        <a:srgbClr val="224876"/>
                      </a:solidFill>
                      <a:prstDash val="solid"/>
                    </a:lnT>
                    <a:lnB w="12700">
                      <a:solidFill>
                        <a:srgbClr val="2248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Microsoft JhengHei"/>
                          <a:cs typeface="Microsoft JhengHei"/>
                        </a:rPr>
                        <a:t>非標</a:t>
                      </a:r>
                      <a:r>
                        <a:rPr dirty="0" sz="1600" spc="-35" b="1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600" spc="-40" b="1">
                          <a:latin typeface="Microsoft JhengHei"/>
                          <a:cs typeface="Microsoft JhengHei"/>
                        </a:rPr>
                        <a:t>自有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224876"/>
                      </a:solidFill>
                      <a:prstDash val="solid"/>
                    </a:lnL>
                    <a:lnR w="19050">
                      <a:solidFill>
                        <a:srgbClr val="224876"/>
                      </a:solidFill>
                      <a:prstDash val="solid"/>
                    </a:lnR>
                    <a:lnT w="12700">
                      <a:solidFill>
                        <a:srgbClr val="224876"/>
                      </a:solidFill>
                      <a:prstDash val="solid"/>
                    </a:lnT>
                    <a:lnB w="12700">
                      <a:solidFill>
                        <a:srgbClr val="2248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Microsoft JhengHei"/>
                          <a:cs typeface="Microsoft JhengHei"/>
                        </a:rPr>
                        <a:t>非標</a:t>
                      </a:r>
                      <a:r>
                        <a:rPr dirty="0" sz="1600" spc="-35" b="1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600" spc="-35" b="1">
                          <a:latin typeface="Microsoft JhengHei"/>
                          <a:cs typeface="Microsoft JhengHei"/>
                        </a:rPr>
                        <a:t>第三方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51765">
                    <a:lnL w="19050">
                      <a:solidFill>
                        <a:srgbClr val="224876"/>
                      </a:solidFill>
                      <a:prstDash val="solid"/>
                    </a:lnL>
                    <a:lnR w="12700">
                      <a:solidFill>
                        <a:srgbClr val="224876"/>
                      </a:solidFill>
                      <a:prstDash val="solid"/>
                    </a:lnR>
                    <a:lnT w="12700">
                      <a:solidFill>
                        <a:srgbClr val="224876"/>
                      </a:solidFill>
                      <a:prstDash val="solid"/>
                    </a:lnT>
                    <a:lnB w="12700">
                      <a:solidFill>
                        <a:srgbClr val="2248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39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0189464" y="6547053"/>
            <a:ext cx="3206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r>
              <a:rPr dirty="0" sz="1800" spc="-25"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75647" y="1900427"/>
            <a:ext cx="576580" cy="2047239"/>
          </a:xfrm>
          <a:prstGeom prst="rect">
            <a:avLst/>
          </a:prstGeom>
          <a:solidFill>
            <a:srgbClr val="FFFFFF"/>
          </a:solidFill>
          <a:ln w="12192">
            <a:solidFill>
              <a:srgbClr val="224876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600">
              <a:latin typeface="Times New Roman"/>
              <a:cs typeface="Times New Roman"/>
            </a:endParaRPr>
          </a:p>
          <a:p>
            <a:pPr algn="just" marL="85725" marR="77470">
              <a:lnSpc>
                <a:spcPct val="89400"/>
              </a:lnSpc>
            </a:pPr>
            <a:r>
              <a:rPr dirty="0" sz="1600" spc="-40" b="1">
                <a:latin typeface="Microsoft JhengHei"/>
                <a:cs typeface="Microsoft JhengHei"/>
              </a:rPr>
              <a:t>多元資產投資組合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82241" y="2382011"/>
            <a:ext cx="228600" cy="87693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12700" marR="5080">
              <a:lnSpc>
                <a:spcPts val="1600"/>
              </a:lnSpc>
              <a:spcBef>
                <a:spcPts val="415"/>
              </a:spcBef>
            </a:pPr>
            <a:r>
              <a:rPr dirty="0" sz="1600" spc="-50" b="1">
                <a:latin typeface="Microsoft JhengHei"/>
                <a:cs typeface="Microsoft JhengHei"/>
              </a:rPr>
              <a:t>產品屬性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48680" y="3963415"/>
            <a:ext cx="8362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Microsoft JhengHei"/>
                <a:cs typeface="Microsoft JhengHei"/>
              </a:rPr>
              <a:t>發行主體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10027" y="5000244"/>
            <a:ext cx="1371600" cy="1010919"/>
          </a:xfrm>
          <a:prstGeom prst="rect">
            <a:avLst/>
          </a:prstGeom>
          <a:solidFill>
            <a:srgbClr val="FFFFFF"/>
          </a:solidFill>
          <a:ln w="12192">
            <a:solidFill>
              <a:srgbClr val="224876"/>
            </a:solidFill>
          </a:ln>
        </p:spPr>
        <p:txBody>
          <a:bodyPr wrap="square" lIns="0" tIns="140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5"/>
              </a:spcBef>
            </a:pPr>
            <a:endParaRPr sz="16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dirty="0" sz="1600" spc="-30" b="1">
                <a:latin typeface="Microsoft JhengHei"/>
                <a:cs typeface="Microsoft JhengHei"/>
              </a:rPr>
              <a:t>經紀交易服務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27932" y="5000244"/>
            <a:ext cx="1371600" cy="1010919"/>
          </a:xfrm>
          <a:prstGeom prst="rect">
            <a:avLst/>
          </a:prstGeom>
          <a:solidFill>
            <a:srgbClr val="FFFFFF"/>
          </a:solidFill>
          <a:ln w="12192">
            <a:solidFill>
              <a:srgbClr val="224876"/>
            </a:solidFill>
          </a:ln>
        </p:spPr>
        <p:txBody>
          <a:bodyPr wrap="square" lIns="0" tIns="140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5"/>
              </a:spcBef>
            </a:pPr>
            <a:endParaRPr sz="16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dirty="0" sz="1600" spc="-30" b="1">
                <a:latin typeface="Microsoft JhengHei"/>
                <a:cs typeface="Microsoft JhengHei"/>
              </a:rPr>
              <a:t>承銷顧問服務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45835" y="5000244"/>
            <a:ext cx="1371600" cy="1010919"/>
          </a:xfrm>
          <a:prstGeom prst="rect">
            <a:avLst/>
          </a:prstGeom>
          <a:solidFill>
            <a:srgbClr val="FFFFFF"/>
          </a:solidFill>
          <a:ln w="12192">
            <a:solidFill>
              <a:srgbClr val="224876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600">
              <a:latin typeface="Times New Roman"/>
              <a:cs typeface="Times New Roman"/>
            </a:endParaRPr>
          </a:p>
          <a:p>
            <a:pPr marL="279400" marR="273050">
              <a:lnSpc>
                <a:spcPct val="100000"/>
              </a:lnSpc>
            </a:pPr>
            <a:r>
              <a:rPr dirty="0" sz="1600" spc="-35" b="1">
                <a:latin typeface="Microsoft JhengHei"/>
                <a:cs typeface="Microsoft JhengHei"/>
              </a:rPr>
              <a:t>機構交易避險服務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63740" y="5000244"/>
            <a:ext cx="1370330" cy="1010919"/>
          </a:xfrm>
          <a:prstGeom prst="rect">
            <a:avLst/>
          </a:prstGeom>
          <a:solidFill>
            <a:srgbClr val="FFFFFF"/>
          </a:solidFill>
          <a:ln w="12192">
            <a:solidFill>
              <a:srgbClr val="224876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600">
              <a:latin typeface="Times New Roman"/>
              <a:cs typeface="Times New Roman"/>
            </a:endParaRPr>
          </a:p>
          <a:p>
            <a:pPr marL="279400" marR="271780">
              <a:lnSpc>
                <a:spcPct val="100000"/>
              </a:lnSpc>
            </a:pPr>
            <a:r>
              <a:rPr dirty="0" sz="1600" spc="-35" b="1">
                <a:latin typeface="Microsoft JhengHei"/>
                <a:cs typeface="Microsoft JhengHei"/>
              </a:rPr>
              <a:t>財富管理資產管理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80119" y="5000244"/>
            <a:ext cx="1371600" cy="1010919"/>
          </a:xfrm>
          <a:prstGeom prst="rect">
            <a:avLst/>
          </a:prstGeom>
          <a:solidFill>
            <a:srgbClr val="FFFFFF"/>
          </a:solidFill>
          <a:ln w="12192">
            <a:solidFill>
              <a:srgbClr val="224876"/>
            </a:solidFill>
          </a:ln>
        </p:spPr>
        <p:txBody>
          <a:bodyPr wrap="square" lIns="0" tIns="140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</a:pPr>
            <a:r>
              <a:rPr dirty="0" sz="1600" spc="-40" b="1">
                <a:latin typeface="Microsoft JhengHei"/>
                <a:cs typeface="Microsoft JhengHei"/>
              </a:rPr>
              <a:t>其他</a:t>
            </a:r>
            <a:endParaRPr sz="1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283" y="748665"/>
            <a:ext cx="32219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關鍵能力：產品定價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4" name="object 4"/>
            <p:cNvSpPr/>
            <p:nvPr/>
          </p:nvSpPr>
          <p:spPr>
            <a:xfrm>
              <a:off x="10661904" y="248411"/>
              <a:ext cx="1080770" cy="307975"/>
            </a:xfrm>
            <a:custGeom>
              <a:avLst/>
              <a:gdLst/>
              <a:ahLst/>
              <a:cxnLst/>
              <a:rect l="l" t="t" r="r" b="b"/>
              <a:pathLst>
                <a:path w="1080770" h="307975">
                  <a:moveTo>
                    <a:pt x="1080516" y="164604"/>
                  </a:moveTo>
                  <a:lnTo>
                    <a:pt x="0" y="164604"/>
                  </a:lnTo>
                  <a:lnTo>
                    <a:pt x="0" y="307848"/>
                  </a:lnTo>
                  <a:lnTo>
                    <a:pt x="1080516" y="307848"/>
                  </a:lnTo>
                  <a:lnTo>
                    <a:pt x="1080516" y="164604"/>
                  </a:lnTo>
                  <a:close/>
                </a:path>
                <a:path w="1080770" h="307975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1904" y="576071"/>
              <a:ext cx="1080770" cy="144780"/>
            </a:xfrm>
            <a:custGeom>
              <a:avLst/>
              <a:gdLst/>
              <a:ahLst/>
              <a:cxnLst/>
              <a:rect l="l" t="t" r="r" b="b"/>
              <a:pathLst>
                <a:path w="1080770" h="144779">
                  <a:moveTo>
                    <a:pt x="1080516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1080516" y="144779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61904" y="740676"/>
              <a:ext cx="1080770" cy="472440"/>
            </a:xfrm>
            <a:custGeom>
              <a:avLst/>
              <a:gdLst/>
              <a:ahLst/>
              <a:cxnLst/>
              <a:rect l="l" t="t" r="r" b="b"/>
              <a:pathLst>
                <a:path w="1080770" h="472440">
                  <a:moveTo>
                    <a:pt x="1080516" y="329171"/>
                  </a:moveTo>
                  <a:lnTo>
                    <a:pt x="0" y="329171"/>
                  </a:lnTo>
                  <a:lnTo>
                    <a:pt x="0" y="472427"/>
                  </a:lnTo>
                  <a:lnTo>
                    <a:pt x="1080516" y="472427"/>
                  </a:lnTo>
                  <a:lnTo>
                    <a:pt x="1080516" y="329171"/>
                  </a:lnTo>
                  <a:close/>
                </a:path>
                <a:path w="1080770" h="472440">
                  <a:moveTo>
                    <a:pt x="1080516" y="164592"/>
                  </a:moveTo>
                  <a:lnTo>
                    <a:pt x="0" y="164592"/>
                  </a:lnTo>
                  <a:lnTo>
                    <a:pt x="0" y="307835"/>
                  </a:lnTo>
                  <a:lnTo>
                    <a:pt x="1080516" y="307835"/>
                  </a:lnTo>
                  <a:lnTo>
                    <a:pt x="1080516" y="164592"/>
                  </a:lnTo>
                  <a:close/>
                </a:path>
                <a:path w="1080770" h="472440">
                  <a:moveTo>
                    <a:pt x="1080516" y="0"/>
                  </a:moveTo>
                  <a:lnTo>
                    <a:pt x="0" y="0"/>
                  </a:lnTo>
                  <a:lnTo>
                    <a:pt x="0" y="144767"/>
                  </a:lnTo>
                  <a:lnTo>
                    <a:pt x="1080516" y="144767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11123" y="1469136"/>
            <a:ext cx="5347970" cy="508000"/>
            <a:chOff x="611123" y="1469136"/>
            <a:chExt cx="5347970" cy="508000"/>
          </a:xfrm>
        </p:grpSpPr>
        <p:sp>
          <p:nvSpPr>
            <p:cNvPr id="8" name="object 8"/>
            <p:cNvSpPr/>
            <p:nvPr/>
          </p:nvSpPr>
          <p:spPr>
            <a:xfrm>
              <a:off x="694181" y="1479042"/>
              <a:ext cx="5255260" cy="422275"/>
            </a:xfrm>
            <a:custGeom>
              <a:avLst/>
              <a:gdLst/>
              <a:ahLst/>
              <a:cxnLst/>
              <a:rect l="l" t="t" r="r" b="b"/>
              <a:pathLst>
                <a:path w="5255260" h="422275">
                  <a:moveTo>
                    <a:pt x="0" y="422148"/>
                  </a:moveTo>
                  <a:lnTo>
                    <a:pt x="5254752" y="422148"/>
                  </a:lnTo>
                  <a:lnTo>
                    <a:pt x="5254752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1029" y="1544574"/>
              <a:ext cx="5255260" cy="422275"/>
            </a:xfrm>
            <a:custGeom>
              <a:avLst/>
              <a:gdLst/>
              <a:ahLst/>
              <a:cxnLst/>
              <a:rect l="l" t="t" r="r" b="b"/>
              <a:pathLst>
                <a:path w="5255260" h="422275">
                  <a:moveTo>
                    <a:pt x="5254752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5254752" y="422148"/>
                  </a:lnTo>
                  <a:lnTo>
                    <a:pt x="5254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1029" y="1544574"/>
              <a:ext cx="5255260" cy="422275"/>
            </a:xfrm>
            <a:custGeom>
              <a:avLst/>
              <a:gdLst/>
              <a:ahLst/>
              <a:cxnLst/>
              <a:rect l="l" t="t" r="r" b="b"/>
              <a:pathLst>
                <a:path w="5255260" h="422275">
                  <a:moveTo>
                    <a:pt x="0" y="422148"/>
                  </a:moveTo>
                  <a:lnTo>
                    <a:pt x="5254752" y="422148"/>
                  </a:lnTo>
                  <a:lnTo>
                    <a:pt x="5254752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49401" y="1610105"/>
            <a:ext cx="5253355" cy="422275"/>
          </a:xfrm>
          <a:prstGeom prst="rect">
            <a:avLst/>
          </a:prstGeom>
          <a:solidFill>
            <a:srgbClr val="FFFFFF"/>
          </a:solidFill>
          <a:ln w="19811">
            <a:solidFill>
              <a:srgbClr val="004782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600" spc="-30">
                <a:latin typeface="Microsoft JhengHei"/>
                <a:cs typeface="Microsoft JhengHei"/>
              </a:rPr>
              <a:t>直接面對市場客戶的業務部門與子公司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80734" y="1468882"/>
            <a:ext cx="2541270" cy="574040"/>
            <a:chOff x="6380734" y="1468882"/>
            <a:chExt cx="2541270" cy="574040"/>
          </a:xfrm>
        </p:grpSpPr>
        <p:sp>
          <p:nvSpPr>
            <p:cNvPr id="13" name="object 13"/>
            <p:cNvSpPr/>
            <p:nvPr/>
          </p:nvSpPr>
          <p:spPr>
            <a:xfrm>
              <a:off x="6459474" y="1479042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0" y="422148"/>
                  </a:moveTo>
                  <a:lnTo>
                    <a:pt x="2452116" y="422148"/>
                  </a:lnTo>
                  <a:lnTo>
                    <a:pt x="2452116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25946" y="1544574"/>
              <a:ext cx="2451100" cy="422275"/>
            </a:xfrm>
            <a:custGeom>
              <a:avLst/>
              <a:gdLst/>
              <a:ahLst/>
              <a:cxnLst/>
              <a:rect l="l" t="t" r="r" b="b"/>
              <a:pathLst>
                <a:path w="2451100" h="422275">
                  <a:moveTo>
                    <a:pt x="2450592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2450592" y="422148"/>
                  </a:lnTo>
                  <a:lnTo>
                    <a:pt x="2450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425946" y="1544574"/>
              <a:ext cx="2451100" cy="422275"/>
            </a:xfrm>
            <a:custGeom>
              <a:avLst/>
              <a:gdLst/>
              <a:ahLst/>
              <a:cxnLst/>
              <a:rect l="l" t="t" r="r" b="b"/>
              <a:pathLst>
                <a:path w="2451100" h="422275">
                  <a:moveTo>
                    <a:pt x="0" y="422148"/>
                  </a:moveTo>
                  <a:lnTo>
                    <a:pt x="2450592" y="422148"/>
                  </a:lnTo>
                  <a:lnTo>
                    <a:pt x="2450592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90894" y="1610106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2452116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2452116" y="422148"/>
                  </a:lnTo>
                  <a:lnTo>
                    <a:pt x="245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0894" y="1610106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0" y="422148"/>
                  </a:moveTo>
                  <a:lnTo>
                    <a:pt x="2452116" y="422148"/>
                  </a:lnTo>
                  <a:lnTo>
                    <a:pt x="2452116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400800" y="1620011"/>
            <a:ext cx="2432685" cy="2717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7945" rIns="0" bIns="0" rtlCol="0" vert="horz">
            <a:spAutoFit/>
          </a:bodyPr>
          <a:lstStyle/>
          <a:p>
            <a:pPr marL="405130">
              <a:lnSpc>
                <a:spcPts val="1600"/>
              </a:lnSpc>
              <a:spcBef>
                <a:spcPts val="535"/>
              </a:spcBef>
            </a:pPr>
            <a:r>
              <a:rPr dirty="0" sz="1600" spc="-30">
                <a:latin typeface="Microsoft JhengHei"/>
                <a:cs typeface="Microsoft JhengHei"/>
              </a:rPr>
              <a:t>金控及旗下子公司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343390" y="1468882"/>
            <a:ext cx="2540000" cy="574040"/>
            <a:chOff x="9343390" y="1468882"/>
            <a:chExt cx="2540000" cy="574040"/>
          </a:xfrm>
        </p:grpSpPr>
        <p:sp>
          <p:nvSpPr>
            <p:cNvPr id="20" name="object 20"/>
            <p:cNvSpPr/>
            <p:nvPr/>
          </p:nvSpPr>
          <p:spPr>
            <a:xfrm>
              <a:off x="9422130" y="1479042"/>
              <a:ext cx="2451100" cy="422275"/>
            </a:xfrm>
            <a:custGeom>
              <a:avLst/>
              <a:gdLst/>
              <a:ahLst/>
              <a:cxnLst/>
              <a:rect l="l" t="t" r="r" b="b"/>
              <a:pathLst>
                <a:path w="2451100" h="422275">
                  <a:moveTo>
                    <a:pt x="0" y="422148"/>
                  </a:moveTo>
                  <a:lnTo>
                    <a:pt x="2450592" y="422148"/>
                  </a:lnTo>
                  <a:lnTo>
                    <a:pt x="2450592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387078" y="1544574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2452116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2452116" y="422148"/>
                  </a:lnTo>
                  <a:lnTo>
                    <a:pt x="245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387078" y="1544574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0" y="422148"/>
                  </a:moveTo>
                  <a:lnTo>
                    <a:pt x="2452116" y="422148"/>
                  </a:lnTo>
                  <a:lnTo>
                    <a:pt x="2452116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353550" y="1610106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2452116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2452116" y="422148"/>
                  </a:lnTo>
                  <a:lnTo>
                    <a:pt x="245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353550" y="1610106"/>
              <a:ext cx="2452370" cy="422275"/>
            </a:xfrm>
            <a:custGeom>
              <a:avLst/>
              <a:gdLst/>
              <a:ahLst/>
              <a:cxnLst/>
              <a:rect l="l" t="t" r="r" b="b"/>
              <a:pathLst>
                <a:path w="2452370" h="422275">
                  <a:moveTo>
                    <a:pt x="0" y="422148"/>
                  </a:moveTo>
                  <a:lnTo>
                    <a:pt x="2452116" y="422148"/>
                  </a:lnTo>
                  <a:lnTo>
                    <a:pt x="2452116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363456" y="1620011"/>
            <a:ext cx="2449195" cy="2717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7945" rIns="0" bIns="0" rtlCol="0" vert="horz">
            <a:spAutoFit/>
          </a:bodyPr>
          <a:lstStyle/>
          <a:p>
            <a:pPr marL="607695">
              <a:lnSpc>
                <a:spcPts val="1600"/>
              </a:lnSpc>
              <a:spcBef>
                <a:spcPts val="535"/>
              </a:spcBef>
            </a:pPr>
            <a:r>
              <a:rPr dirty="0" sz="1600" spc="-30">
                <a:latin typeface="Microsoft JhengHei"/>
                <a:cs typeface="Microsoft JhengHei"/>
              </a:rPr>
              <a:t>各類交易對手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227564" y="3331209"/>
            <a:ext cx="20447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15"/>
              </a:lnSpc>
            </a:pPr>
            <a:r>
              <a:rPr dirty="0" sz="1600" spc="-40">
                <a:latin typeface="Calibri"/>
                <a:cs typeface="Calibri"/>
              </a:rPr>
              <a:t>40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56759" y="2999232"/>
            <a:ext cx="3240405" cy="553720"/>
          </a:xfrm>
          <a:prstGeom prst="rect">
            <a:avLst/>
          </a:prstGeom>
          <a:solidFill>
            <a:srgbClr val="0064B1"/>
          </a:solidFill>
          <a:ln w="12192">
            <a:solidFill>
              <a:srgbClr val="004782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dirty="0" sz="1600" spc="-35" b="1">
                <a:solidFill>
                  <a:srgbClr val="FFFFFF"/>
                </a:solidFill>
                <a:latin typeface="Microsoft JhengHei"/>
                <a:cs typeface="Microsoft JhengHei"/>
              </a:rPr>
              <a:t>我們部門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9401" y="2999994"/>
            <a:ext cx="2452370" cy="553720"/>
          </a:xfrm>
          <a:prstGeom prst="rect">
            <a:avLst/>
          </a:prstGeom>
          <a:ln w="19812">
            <a:solidFill>
              <a:srgbClr val="004782"/>
            </a:solidFill>
          </a:ln>
        </p:spPr>
        <p:txBody>
          <a:bodyPr wrap="square" lIns="0" tIns="143510" rIns="0" bIns="0" rtlCol="0" vert="horz">
            <a:spAutoFit/>
          </a:bodyPr>
          <a:lstStyle/>
          <a:p>
            <a:pPr marL="718185">
              <a:lnSpc>
                <a:spcPct val="100000"/>
              </a:lnSpc>
              <a:spcBef>
                <a:spcPts val="1130"/>
              </a:spcBef>
            </a:pPr>
            <a:r>
              <a:rPr dirty="0" sz="1600" spc="-35">
                <a:latin typeface="Microsoft JhengHei"/>
                <a:cs typeface="Microsoft JhengHei"/>
              </a:rPr>
              <a:t>經營管理層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01517" y="2032254"/>
            <a:ext cx="8881110" cy="1616710"/>
            <a:chOff x="3001517" y="2032254"/>
            <a:chExt cx="8881110" cy="1616710"/>
          </a:xfrm>
        </p:grpSpPr>
        <p:sp>
          <p:nvSpPr>
            <p:cNvPr id="30" name="object 30"/>
            <p:cNvSpPr/>
            <p:nvPr/>
          </p:nvSpPr>
          <p:spPr>
            <a:xfrm>
              <a:off x="9422129" y="2914650"/>
              <a:ext cx="2451100" cy="553720"/>
            </a:xfrm>
            <a:custGeom>
              <a:avLst/>
              <a:gdLst/>
              <a:ahLst/>
              <a:cxnLst/>
              <a:rect l="l" t="t" r="r" b="b"/>
              <a:pathLst>
                <a:path w="2451100" h="553720">
                  <a:moveTo>
                    <a:pt x="2450592" y="0"/>
                  </a:moveTo>
                  <a:lnTo>
                    <a:pt x="0" y="0"/>
                  </a:lnTo>
                  <a:lnTo>
                    <a:pt x="0" y="553212"/>
                  </a:lnTo>
                  <a:lnTo>
                    <a:pt x="2450592" y="553212"/>
                  </a:lnTo>
                  <a:lnTo>
                    <a:pt x="2450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422129" y="2914650"/>
              <a:ext cx="2451100" cy="553720"/>
            </a:xfrm>
            <a:custGeom>
              <a:avLst/>
              <a:gdLst/>
              <a:ahLst/>
              <a:cxnLst/>
              <a:rect l="l" t="t" r="r" b="b"/>
              <a:pathLst>
                <a:path w="2451100" h="553720">
                  <a:moveTo>
                    <a:pt x="0" y="553212"/>
                  </a:moveTo>
                  <a:lnTo>
                    <a:pt x="2450592" y="553212"/>
                  </a:lnTo>
                  <a:lnTo>
                    <a:pt x="2450592" y="0"/>
                  </a:lnTo>
                  <a:lnTo>
                    <a:pt x="0" y="0"/>
                  </a:lnTo>
                  <a:lnTo>
                    <a:pt x="0" y="553212"/>
                  </a:lnTo>
                  <a:close/>
                </a:path>
              </a:pathLst>
            </a:custGeom>
            <a:ln w="1981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387077" y="2999994"/>
              <a:ext cx="2452370" cy="553720"/>
            </a:xfrm>
            <a:custGeom>
              <a:avLst/>
              <a:gdLst/>
              <a:ahLst/>
              <a:cxnLst/>
              <a:rect l="l" t="t" r="r" b="b"/>
              <a:pathLst>
                <a:path w="2452370" h="553720">
                  <a:moveTo>
                    <a:pt x="2452116" y="0"/>
                  </a:moveTo>
                  <a:lnTo>
                    <a:pt x="0" y="0"/>
                  </a:lnTo>
                  <a:lnTo>
                    <a:pt x="0" y="553212"/>
                  </a:lnTo>
                  <a:lnTo>
                    <a:pt x="2452116" y="553212"/>
                  </a:lnTo>
                  <a:lnTo>
                    <a:pt x="245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387077" y="2999994"/>
              <a:ext cx="2452370" cy="553720"/>
            </a:xfrm>
            <a:custGeom>
              <a:avLst/>
              <a:gdLst/>
              <a:ahLst/>
              <a:cxnLst/>
              <a:rect l="l" t="t" r="r" b="b"/>
              <a:pathLst>
                <a:path w="2452370" h="553720">
                  <a:moveTo>
                    <a:pt x="0" y="553212"/>
                  </a:moveTo>
                  <a:lnTo>
                    <a:pt x="2452116" y="553212"/>
                  </a:lnTo>
                  <a:lnTo>
                    <a:pt x="2452116" y="0"/>
                  </a:lnTo>
                  <a:lnTo>
                    <a:pt x="0" y="0"/>
                  </a:lnTo>
                  <a:lnTo>
                    <a:pt x="0" y="553212"/>
                  </a:lnTo>
                  <a:close/>
                </a:path>
              </a:pathLst>
            </a:custGeom>
            <a:ln w="1981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001518" y="2032253"/>
              <a:ext cx="7621905" cy="1289050"/>
            </a:xfrm>
            <a:custGeom>
              <a:avLst/>
              <a:gdLst/>
              <a:ahLst/>
              <a:cxnLst/>
              <a:rect l="l" t="t" r="r" b="b"/>
              <a:pathLst>
                <a:path w="7621905" h="1289050">
                  <a:moveTo>
                    <a:pt x="1556258" y="1245108"/>
                  </a:moveTo>
                  <a:lnTo>
                    <a:pt x="1527302" y="1230630"/>
                  </a:lnTo>
                  <a:lnTo>
                    <a:pt x="1469390" y="1201674"/>
                  </a:lnTo>
                  <a:lnTo>
                    <a:pt x="1469390" y="1230630"/>
                  </a:lnTo>
                  <a:lnTo>
                    <a:pt x="86868" y="1230630"/>
                  </a:lnTo>
                  <a:lnTo>
                    <a:pt x="86868" y="1201674"/>
                  </a:lnTo>
                  <a:lnTo>
                    <a:pt x="0" y="1245108"/>
                  </a:lnTo>
                  <a:lnTo>
                    <a:pt x="86868" y="1288542"/>
                  </a:lnTo>
                  <a:lnTo>
                    <a:pt x="86868" y="1259586"/>
                  </a:lnTo>
                  <a:lnTo>
                    <a:pt x="1469390" y="1259586"/>
                  </a:lnTo>
                  <a:lnTo>
                    <a:pt x="1469390" y="1288542"/>
                  </a:lnTo>
                  <a:lnTo>
                    <a:pt x="1527302" y="1259586"/>
                  </a:lnTo>
                  <a:lnTo>
                    <a:pt x="1556258" y="1245108"/>
                  </a:lnTo>
                  <a:close/>
                </a:path>
                <a:path w="7621905" h="1289050">
                  <a:moveTo>
                    <a:pt x="6386195" y="1245108"/>
                  </a:moveTo>
                  <a:lnTo>
                    <a:pt x="6357239" y="1230630"/>
                  </a:lnTo>
                  <a:lnTo>
                    <a:pt x="6299327" y="1201674"/>
                  </a:lnTo>
                  <a:lnTo>
                    <a:pt x="6299327" y="1230630"/>
                  </a:lnTo>
                  <a:lnTo>
                    <a:pt x="4882896" y="1230630"/>
                  </a:lnTo>
                  <a:lnTo>
                    <a:pt x="4882896" y="1201674"/>
                  </a:lnTo>
                  <a:lnTo>
                    <a:pt x="4796028" y="1245108"/>
                  </a:lnTo>
                  <a:lnTo>
                    <a:pt x="4882896" y="1288542"/>
                  </a:lnTo>
                  <a:lnTo>
                    <a:pt x="4882896" y="1259586"/>
                  </a:lnTo>
                  <a:lnTo>
                    <a:pt x="6299327" y="1259586"/>
                  </a:lnTo>
                  <a:lnTo>
                    <a:pt x="6299327" y="1288542"/>
                  </a:lnTo>
                  <a:lnTo>
                    <a:pt x="6357239" y="1259586"/>
                  </a:lnTo>
                  <a:lnTo>
                    <a:pt x="6386195" y="1245108"/>
                  </a:lnTo>
                  <a:close/>
                </a:path>
                <a:path w="7621905" h="1289050">
                  <a:moveTo>
                    <a:pt x="7621651" y="86868"/>
                  </a:moveTo>
                  <a:lnTo>
                    <a:pt x="7614412" y="72390"/>
                  </a:lnTo>
                  <a:lnTo>
                    <a:pt x="7578217" y="0"/>
                  </a:lnTo>
                  <a:lnTo>
                    <a:pt x="7534783" y="86868"/>
                  </a:lnTo>
                  <a:lnTo>
                    <a:pt x="7563739" y="86868"/>
                  </a:lnTo>
                  <a:lnTo>
                    <a:pt x="7563739" y="469392"/>
                  </a:lnTo>
                  <a:lnTo>
                    <a:pt x="4630547" y="469392"/>
                  </a:lnTo>
                  <a:lnTo>
                    <a:pt x="4630547" y="86868"/>
                  </a:lnTo>
                  <a:lnTo>
                    <a:pt x="4659503" y="86868"/>
                  </a:lnTo>
                  <a:lnTo>
                    <a:pt x="4652264" y="72390"/>
                  </a:lnTo>
                  <a:lnTo>
                    <a:pt x="4616069" y="0"/>
                  </a:lnTo>
                  <a:lnTo>
                    <a:pt x="4572635" y="86868"/>
                  </a:lnTo>
                  <a:lnTo>
                    <a:pt x="4601591" y="86868"/>
                  </a:lnTo>
                  <a:lnTo>
                    <a:pt x="4601591" y="469392"/>
                  </a:lnTo>
                  <a:lnTo>
                    <a:pt x="3190875" y="469392"/>
                  </a:lnTo>
                  <a:lnTo>
                    <a:pt x="3161538" y="469392"/>
                  </a:lnTo>
                  <a:lnTo>
                    <a:pt x="189738" y="469392"/>
                  </a:lnTo>
                  <a:lnTo>
                    <a:pt x="189738" y="86868"/>
                  </a:lnTo>
                  <a:lnTo>
                    <a:pt x="218694" y="86868"/>
                  </a:lnTo>
                  <a:lnTo>
                    <a:pt x="211455" y="72390"/>
                  </a:lnTo>
                  <a:lnTo>
                    <a:pt x="175260" y="0"/>
                  </a:lnTo>
                  <a:lnTo>
                    <a:pt x="131826" y="86868"/>
                  </a:lnTo>
                  <a:lnTo>
                    <a:pt x="160782" y="86868"/>
                  </a:lnTo>
                  <a:lnTo>
                    <a:pt x="160782" y="498348"/>
                  </a:lnTo>
                  <a:lnTo>
                    <a:pt x="3161538" y="498348"/>
                  </a:lnTo>
                  <a:lnTo>
                    <a:pt x="3161538" y="880999"/>
                  </a:lnTo>
                  <a:lnTo>
                    <a:pt x="3132963" y="880999"/>
                  </a:lnTo>
                  <a:lnTo>
                    <a:pt x="3132582" y="880999"/>
                  </a:lnTo>
                  <a:lnTo>
                    <a:pt x="3176016" y="967867"/>
                  </a:lnTo>
                  <a:lnTo>
                    <a:pt x="3176206" y="967486"/>
                  </a:lnTo>
                  <a:lnTo>
                    <a:pt x="3176397" y="967867"/>
                  </a:lnTo>
                  <a:lnTo>
                    <a:pt x="3212592" y="895477"/>
                  </a:lnTo>
                  <a:lnTo>
                    <a:pt x="3219831" y="880999"/>
                  </a:lnTo>
                  <a:lnTo>
                    <a:pt x="3219450" y="880999"/>
                  </a:lnTo>
                  <a:lnTo>
                    <a:pt x="3190875" y="880999"/>
                  </a:lnTo>
                  <a:lnTo>
                    <a:pt x="3190875" y="498348"/>
                  </a:lnTo>
                  <a:lnTo>
                    <a:pt x="4630547" y="498348"/>
                  </a:lnTo>
                  <a:lnTo>
                    <a:pt x="7592695" y="498348"/>
                  </a:lnTo>
                  <a:lnTo>
                    <a:pt x="7592695" y="469392"/>
                  </a:lnTo>
                  <a:lnTo>
                    <a:pt x="7592695" y="86868"/>
                  </a:lnTo>
                  <a:lnTo>
                    <a:pt x="7621651" y="86868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353550" y="3086862"/>
              <a:ext cx="2452370" cy="551815"/>
            </a:xfrm>
            <a:custGeom>
              <a:avLst/>
              <a:gdLst/>
              <a:ahLst/>
              <a:cxnLst/>
              <a:rect l="l" t="t" r="r" b="b"/>
              <a:pathLst>
                <a:path w="2452370" h="551814">
                  <a:moveTo>
                    <a:pt x="2452116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2452116" y="551688"/>
                  </a:lnTo>
                  <a:lnTo>
                    <a:pt x="245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353550" y="3086862"/>
              <a:ext cx="2452370" cy="551815"/>
            </a:xfrm>
            <a:custGeom>
              <a:avLst/>
              <a:gdLst/>
              <a:ahLst/>
              <a:cxnLst/>
              <a:rect l="l" t="t" r="r" b="b"/>
              <a:pathLst>
                <a:path w="2452370" h="551814">
                  <a:moveTo>
                    <a:pt x="0" y="551688"/>
                  </a:moveTo>
                  <a:lnTo>
                    <a:pt x="2452116" y="551688"/>
                  </a:lnTo>
                  <a:lnTo>
                    <a:pt x="2452116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19811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363456" y="3096767"/>
            <a:ext cx="2449195" cy="3613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32715" rIns="0" bIns="0" rtlCol="0" vert="horz">
            <a:spAutoFit/>
          </a:bodyPr>
          <a:lstStyle/>
          <a:p>
            <a:pPr marL="507365">
              <a:lnSpc>
                <a:spcPts val="1795"/>
              </a:lnSpc>
              <a:spcBef>
                <a:spcPts val="1045"/>
              </a:spcBef>
            </a:pPr>
            <a:r>
              <a:rPr dirty="0" sz="1600" spc="-30">
                <a:latin typeface="Microsoft JhengHei"/>
                <a:cs typeface="Microsoft JhengHei"/>
              </a:rPr>
              <a:t>其他中後台部門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40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0189464" y="6547053"/>
            <a:ext cx="3206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r>
              <a:rPr dirty="0" sz="1800" spc="-25"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36467" y="2106549"/>
            <a:ext cx="2520315" cy="742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我們服務哪些業務部門及子公司我們對其業務發展和績效的價值</a:t>
            </a:r>
            <a:endParaRPr sz="1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期待我們提供的用戶體驗為何？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658982" y="2076957"/>
            <a:ext cx="1095375" cy="879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Microsoft JhengHei"/>
                <a:cs typeface="Microsoft JhengHei"/>
              </a:rPr>
              <a:t>監管</a:t>
            </a:r>
            <a:endParaRPr sz="1400">
              <a:latin typeface="Microsoft JhengHei"/>
              <a:cs typeface="Microsoft JhengHe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400" spc="-10" b="1">
                <a:latin typeface="Microsoft JhengHei"/>
                <a:cs typeface="Microsoft JhengHei"/>
              </a:rPr>
              <a:t>交易所、集保金融交易對手</a:t>
            </a:r>
            <a:r>
              <a:rPr dirty="0" sz="1400" spc="-25" b="1">
                <a:latin typeface="Microsoft JhengHei"/>
                <a:cs typeface="Microsoft JhengHei"/>
              </a:rPr>
              <a:t>媒體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54704" y="2981299"/>
            <a:ext cx="74041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業務價值用戶體驗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68767" y="2981299"/>
            <a:ext cx="73914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業務價值用戶體驗</a:t>
            </a:r>
            <a:endParaRPr sz="1400">
              <a:latin typeface="Microsoft JhengHei"/>
              <a:cs typeface="Microsoft JhengHei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41845" y="3691254"/>
          <a:ext cx="11379835" cy="254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4589145"/>
                <a:gridCol w="1335404"/>
                <a:gridCol w="883920"/>
                <a:gridCol w="843915"/>
                <a:gridCol w="1614804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ts val="2150"/>
                        </a:lnSpc>
                        <a:spcBef>
                          <a:spcPts val="27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服務對象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  <a:p>
                      <a:pPr marL="91440">
                        <a:lnSpc>
                          <a:spcPts val="2150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0"/>
                        </a:lnSpc>
                        <a:spcBef>
                          <a:spcPts val="27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服務內容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  <a:p>
                      <a:pPr marL="91440">
                        <a:lnSpc>
                          <a:spcPts val="2150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</a:t>
                      </a:r>
                      <a:r>
                        <a:rPr dirty="0" sz="18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2150"/>
                        </a:lnSpc>
                        <a:spcBef>
                          <a:spcPts val="27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績效考量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  <a:p>
                      <a:pPr marL="92075">
                        <a:lnSpc>
                          <a:spcPts val="2150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Measurement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ts val="2150"/>
                        </a:lnSpc>
                        <a:spcBef>
                          <a:spcPts val="27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績效指標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  <a:p>
                      <a:pPr marL="92710">
                        <a:lnSpc>
                          <a:spcPts val="2150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14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>
                          <a:latin typeface="Microsoft JhengHei"/>
                          <a:cs typeface="Microsoft JhengHei"/>
                        </a:rPr>
                        <a:t>現有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KPI</a:t>
                      </a:r>
                      <a:r>
                        <a:rPr dirty="0" sz="1800" spc="-50">
                          <a:latin typeface="Microsoft JhengHei"/>
                          <a:cs typeface="Microsoft JhengHei"/>
                        </a:rPr>
                        <a:t>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AD2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AD2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98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70"/>
                        </a:lnSpc>
                      </a:pPr>
                      <a:r>
                        <a:rPr dirty="0" sz="1800" spc="-15">
                          <a:latin typeface="Microsoft JhengHei"/>
                          <a:cs typeface="Microsoft JhengHei"/>
                        </a:rPr>
                        <a:t>－正確性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5">
                          <a:latin typeface="Microsoft JhengHei"/>
                          <a:cs typeface="Microsoft JhengHei"/>
                        </a:rPr>
                        <a:t>－時效性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0">
                          <a:latin typeface="Microsoft JhengHei"/>
                          <a:cs typeface="Microsoft JhengHei"/>
                        </a:rPr>
                        <a:t>－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ROI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ts val="990"/>
                        </a:lnSpc>
                      </a:pPr>
                      <a:r>
                        <a:rPr dirty="0" sz="1800" spc="-10">
                          <a:latin typeface="Microsoft JhengHei"/>
                          <a:cs typeface="Microsoft JhengHei"/>
                        </a:rPr>
                        <a:t>－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etc.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4782"/>
                      </a:solidFill>
                      <a:prstDash val="solid"/>
                    </a:lnR>
                    <a:solidFill>
                      <a:srgbClr val="CAD2E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結合公司目標</a:t>
                      </a:r>
                      <a:endParaRPr sz="1400">
                        <a:latin typeface="Microsoft JhengHei"/>
                        <a:cs typeface="Microsoft JhengHe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結合服務物件目標</a:t>
                      </a:r>
                      <a:endParaRPr sz="1400">
                        <a:latin typeface="Microsoft JhengHei"/>
                        <a:cs typeface="Microsoft JhengHe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結合部門目標</a:t>
                      </a:r>
                      <a:endParaRPr sz="14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004782"/>
                      </a:solidFill>
                      <a:prstDash val="solid"/>
                    </a:lnL>
                    <a:lnR w="12700">
                      <a:solidFill>
                        <a:srgbClr val="004782"/>
                      </a:solidFill>
                      <a:prstDash val="solid"/>
                    </a:lnR>
                    <a:lnT w="12700">
                      <a:solidFill>
                        <a:srgbClr val="004782"/>
                      </a:solidFill>
                      <a:prstDash val="solid"/>
                    </a:lnT>
                    <a:lnB w="12700">
                      <a:solidFill>
                        <a:srgbClr val="004782"/>
                      </a:solidFill>
                      <a:prstDash val="solid"/>
                    </a:lnB>
                    <a:solidFill>
                      <a:srgbClr val="2248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Microsoft JhengHei"/>
                          <a:cs typeface="Microsoft JhengHei"/>
                        </a:rPr>
                        <a:t>量化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4782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AD2E3"/>
                    </a:solidFill>
                  </a:tcPr>
                </a:tc>
              </a:tr>
              <a:tr h="6388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9940" y="748665"/>
            <a:ext cx="32219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關鍵能力：風管合規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1392174"/>
            <a:ext cx="11483340" cy="719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5" name="object 5"/>
            <p:cNvSpPr/>
            <p:nvPr/>
          </p:nvSpPr>
          <p:spPr>
            <a:xfrm>
              <a:off x="10661904" y="248411"/>
              <a:ext cx="1080770" cy="472440"/>
            </a:xfrm>
            <a:custGeom>
              <a:avLst/>
              <a:gdLst/>
              <a:ahLst/>
              <a:cxnLst/>
              <a:rect l="l" t="t" r="r" b="b"/>
              <a:pathLst>
                <a:path w="1080770" h="472440">
                  <a:moveTo>
                    <a:pt x="1080516" y="327660"/>
                  </a:moveTo>
                  <a:lnTo>
                    <a:pt x="0" y="327660"/>
                  </a:lnTo>
                  <a:lnTo>
                    <a:pt x="0" y="472440"/>
                  </a:lnTo>
                  <a:lnTo>
                    <a:pt x="1080516" y="472440"/>
                  </a:lnTo>
                  <a:lnTo>
                    <a:pt x="1080516" y="327660"/>
                  </a:lnTo>
                  <a:close/>
                </a:path>
                <a:path w="1080770" h="472440">
                  <a:moveTo>
                    <a:pt x="1080516" y="164604"/>
                  </a:moveTo>
                  <a:lnTo>
                    <a:pt x="0" y="164604"/>
                  </a:lnTo>
                  <a:lnTo>
                    <a:pt x="0" y="307848"/>
                  </a:lnTo>
                  <a:lnTo>
                    <a:pt x="1080516" y="307848"/>
                  </a:lnTo>
                  <a:lnTo>
                    <a:pt x="1080516" y="164604"/>
                  </a:lnTo>
                  <a:close/>
                </a:path>
                <a:path w="1080770" h="472440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61904" y="740663"/>
              <a:ext cx="1080770" cy="144780"/>
            </a:xfrm>
            <a:custGeom>
              <a:avLst/>
              <a:gdLst/>
              <a:ahLst/>
              <a:cxnLst/>
              <a:rect l="l" t="t" r="r" b="b"/>
              <a:pathLst>
                <a:path w="1080770" h="144780">
                  <a:moveTo>
                    <a:pt x="1080516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1080516" y="144779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61904" y="905256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61904" y="1069847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00050" y="1392174"/>
            <a:ext cx="11483340" cy="719455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wrap="square" lIns="0" tIns="212725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675"/>
              </a:spcBef>
            </a:pPr>
            <a:r>
              <a:rPr dirty="0" sz="1800" spc="-5" b="1">
                <a:solidFill>
                  <a:srgbClr val="FFFFFF"/>
                </a:solidFill>
                <a:latin typeface="Microsoft YaHei"/>
                <a:cs typeface="Microsoft YaHei"/>
              </a:rPr>
              <a:t>各部門根據自身業務特性，檢視對應到以下九大類風險管理與法遵合規要求時，所需要的關鍵能力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288" y="2220467"/>
            <a:ext cx="3671570" cy="1297305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操作風險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5300" y="2220467"/>
            <a:ext cx="3671570" cy="1297305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信用風險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1311" y="2220467"/>
            <a:ext cx="3671570" cy="1297305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市場風險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0623" y="3607308"/>
            <a:ext cx="3672840" cy="1295400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760"/>
              </a:spcBef>
            </a:pPr>
            <a:r>
              <a:rPr dirty="0" sz="1800" spc="-10" b="1">
                <a:latin typeface="Microsoft JhengHei"/>
                <a:cs typeface="Microsoft JhengHei"/>
              </a:rPr>
              <a:t>流動性風險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5300" y="3607308"/>
            <a:ext cx="3671570" cy="1295400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國家風險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1311" y="3607308"/>
            <a:ext cx="3671570" cy="1295400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3345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735"/>
              </a:spcBef>
            </a:pPr>
            <a:r>
              <a:rPr dirty="0" sz="1800" spc="-25" b="1">
                <a:latin typeface="Calibri"/>
                <a:cs typeface="Calibri"/>
              </a:rPr>
              <a:t>ESG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959" y="4994147"/>
            <a:ext cx="3672840" cy="1295400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法遵合規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5300" y="4994147"/>
            <a:ext cx="3671570" cy="1295400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客戶權益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11311" y="4994147"/>
            <a:ext cx="3671570" cy="1295400"/>
          </a:xfrm>
          <a:prstGeom prst="rect">
            <a:avLst/>
          </a:prstGeom>
          <a:ln w="12192">
            <a:solidFill>
              <a:srgbClr val="224876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760"/>
              </a:spcBef>
            </a:pPr>
            <a:r>
              <a:rPr dirty="0" sz="1800" spc="-15" b="1">
                <a:latin typeface="Microsoft JhengHei"/>
                <a:cs typeface="Microsoft JhengHei"/>
              </a:rPr>
              <a:t>資訊安全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624059" y="2276843"/>
            <a:ext cx="2173605" cy="1252220"/>
            <a:chOff x="9624059" y="2276843"/>
            <a:chExt cx="2173605" cy="1252220"/>
          </a:xfrm>
        </p:grpSpPr>
        <p:sp>
          <p:nvSpPr>
            <p:cNvPr id="20" name="object 20"/>
            <p:cNvSpPr/>
            <p:nvPr/>
          </p:nvSpPr>
          <p:spPr>
            <a:xfrm>
              <a:off x="9637775" y="2292096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4" h="1152525">
                  <a:moveTo>
                    <a:pt x="2159507" y="0"/>
                  </a:moveTo>
                  <a:lnTo>
                    <a:pt x="0" y="0"/>
                  </a:lnTo>
                  <a:lnTo>
                    <a:pt x="0" y="1152143"/>
                  </a:lnTo>
                  <a:lnTo>
                    <a:pt x="2159507" y="1152143"/>
                  </a:lnTo>
                  <a:lnTo>
                    <a:pt x="2159507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4059" y="2292083"/>
              <a:ext cx="355841" cy="3711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02951" y="2276843"/>
              <a:ext cx="1308353" cy="39853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4059" y="2505443"/>
              <a:ext cx="355841" cy="3711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2951" y="2490203"/>
              <a:ext cx="1308353" cy="39853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4059" y="2718803"/>
              <a:ext cx="355841" cy="37110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02951" y="2703563"/>
              <a:ext cx="1308353" cy="3985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4059" y="2932163"/>
              <a:ext cx="355841" cy="3711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02951" y="2916923"/>
              <a:ext cx="1308353" cy="3985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4059" y="3145523"/>
              <a:ext cx="355841" cy="3711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02951" y="3130283"/>
              <a:ext cx="1664970" cy="39853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637776" y="2292095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379095" indent="-287020">
              <a:lnSpc>
                <a:spcPct val="100000"/>
              </a:lnSpc>
              <a:spcBef>
                <a:spcPts val="290"/>
              </a:spcBef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標的風險檢視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內部預警管控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動態部位監控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預設停損執行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風險異動主動通報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11952" y="2281415"/>
            <a:ext cx="2173605" cy="1252220"/>
            <a:chOff x="5711952" y="2281415"/>
            <a:chExt cx="2173605" cy="1252220"/>
          </a:xfrm>
        </p:grpSpPr>
        <p:sp>
          <p:nvSpPr>
            <p:cNvPr id="33" name="object 33"/>
            <p:cNvSpPr/>
            <p:nvPr/>
          </p:nvSpPr>
          <p:spPr>
            <a:xfrm>
              <a:off x="5725668" y="2298192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4" h="1152525">
                  <a:moveTo>
                    <a:pt x="2159508" y="0"/>
                  </a:moveTo>
                  <a:lnTo>
                    <a:pt x="0" y="0"/>
                  </a:lnTo>
                  <a:lnTo>
                    <a:pt x="0" y="1152143"/>
                  </a:lnTo>
                  <a:lnTo>
                    <a:pt x="2159508" y="1152143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1952" y="2296655"/>
              <a:ext cx="355841" cy="3711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90844" y="2281415"/>
              <a:ext cx="1308353" cy="39853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0692" y="2281415"/>
              <a:ext cx="416826" cy="39853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1952" y="2510015"/>
              <a:ext cx="355841" cy="37110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0844" y="2494775"/>
              <a:ext cx="416826" cy="39853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69152" y="2494775"/>
              <a:ext cx="951738" cy="39853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82384" y="2494775"/>
              <a:ext cx="595122" cy="39853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1952" y="2723375"/>
              <a:ext cx="355841" cy="37110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90844" y="2708135"/>
              <a:ext cx="595122" cy="39853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47460" y="2708135"/>
              <a:ext cx="773430" cy="39853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82384" y="2708135"/>
              <a:ext cx="416826" cy="39853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1952" y="2936735"/>
              <a:ext cx="355841" cy="37110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90844" y="2921495"/>
              <a:ext cx="416826" cy="39853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69152" y="2921495"/>
              <a:ext cx="951738" cy="39853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82384" y="2921495"/>
              <a:ext cx="416826" cy="39853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1952" y="3150095"/>
              <a:ext cx="355841" cy="37110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90844" y="3134855"/>
              <a:ext cx="595122" cy="39853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47460" y="3134855"/>
              <a:ext cx="595121" cy="39853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04076" y="3134855"/>
              <a:ext cx="416826" cy="398538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725667" y="2298192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80"/>
              </a:spcBef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對手方持續檢視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擔保品自主核查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5" b="1">
                <a:solidFill>
                  <a:srgbClr val="FFFFFF"/>
                </a:solidFill>
                <a:latin typeface="Microsoft YaHei"/>
                <a:cs typeface="Microsoft YaHei"/>
              </a:rPr>
              <a:t>敞口動態跟蹤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違約信號識別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信用集中度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799844" y="2285987"/>
            <a:ext cx="2173605" cy="1252220"/>
            <a:chOff x="1799844" y="2285987"/>
            <a:chExt cx="2173605" cy="1252220"/>
          </a:xfrm>
        </p:grpSpPr>
        <p:sp>
          <p:nvSpPr>
            <p:cNvPr id="55" name="object 55"/>
            <p:cNvSpPr/>
            <p:nvPr/>
          </p:nvSpPr>
          <p:spPr>
            <a:xfrm>
              <a:off x="1813560" y="2302763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5" h="1152525">
                  <a:moveTo>
                    <a:pt x="2159508" y="0"/>
                  </a:moveTo>
                  <a:lnTo>
                    <a:pt x="0" y="0"/>
                  </a:lnTo>
                  <a:lnTo>
                    <a:pt x="0" y="1152143"/>
                  </a:lnTo>
                  <a:lnTo>
                    <a:pt x="2159508" y="1152143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9844" y="2301227"/>
              <a:ext cx="355841" cy="37110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78736" y="2285987"/>
              <a:ext cx="951738" cy="39853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791968" y="2285987"/>
              <a:ext cx="595121" cy="39853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9844" y="2514587"/>
              <a:ext cx="355841" cy="37110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78736" y="2499347"/>
              <a:ext cx="416826" cy="39853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57044" y="2499347"/>
              <a:ext cx="951738" cy="39853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70276" y="2499347"/>
              <a:ext cx="416826" cy="39853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9844" y="2727947"/>
              <a:ext cx="355841" cy="37110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78736" y="2712707"/>
              <a:ext cx="595122" cy="39853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35352" y="2712707"/>
              <a:ext cx="773430" cy="39853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70276" y="2712707"/>
              <a:ext cx="416826" cy="39853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9844" y="2941307"/>
              <a:ext cx="355841" cy="37110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78736" y="2926067"/>
              <a:ext cx="416826" cy="39853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257044" y="2926067"/>
              <a:ext cx="951738" cy="39853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70276" y="2926067"/>
              <a:ext cx="416826" cy="39853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9844" y="3154667"/>
              <a:ext cx="355841" cy="37110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078736" y="3139427"/>
              <a:ext cx="595122" cy="39853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435352" y="3139427"/>
              <a:ext cx="951738" cy="398538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1813560" y="2302764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280"/>
              </a:spcBef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流程權限分隔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異常事項偵測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20" b="1">
                <a:solidFill>
                  <a:srgbClr val="FFFFFF"/>
                </a:solidFill>
                <a:latin typeface="Microsoft YaHei"/>
                <a:cs typeface="Microsoft YaHei"/>
              </a:rPr>
              <a:t>交易軌跡留痕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spcBef>
                <a:spcPts val="5"/>
              </a:spcBef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風險事件通報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缺失改善閉環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822704" y="3663683"/>
            <a:ext cx="2171700" cy="1252220"/>
            <a:chOff x="1822704" y="3663683"/>
            <a:chExt cx="2171700" cy="1252220"/>
          </a:xfrm>
        </p:grpSpPr>
        <p:sp>
          <p:nvSpPr>
            <p:cNvPr id="76" name="object 76"/>
            <p:cNvSpPr/>
            <p:nvPr/>
          </p:nvSpPr>
          <p:spPr>
            <a:xfrm>
              <a:off x="1834896" y="3678936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5" h="1152525">
                  <a:moveTo>
                    <a:pt x="2159508" y="0"/>
                  </a:moveTo>
                  <a:lnTo>
                    <a:pt x="0" y="0"/>
                  </a:lnTo>
                  <a:lnTo>
                    <a:pt x="0" y="1152144"/>
                  </a:lnTo>
                  <a:lnTo>
                    <a:pt x="2159508" y="1152144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22704" y="3677412"/>
              <a:ext cx="355841" cy="37261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101596" y="3663683"/>
              <a:ext cx="1308354" cy="39853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171444" y="3663683"/>
              <a:ext cx="416826" cy="39853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22704" y="3890772"/>
              <a:ext cx="355841" cy="37261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101596" y="3877043"/>
              <a:ext cx="416826" cy="39853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279904" y="3877043"/>
              <a:ext cx="773430" cy="39853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814828" y="3877043"/>
              <a:ext cx="416826" cy="39853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22704" y="4104132"/>
              <a:ext cx="355841" cy="37261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101596" y="4090403"/>
              <a:ext cx="416826" cy="39853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279904" y="4090403"/>
              <a:ext cx="951738" cy="39853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993136" y="4090403"/>
              <a:ext cx="416826" cy="39853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22704" y="4317492"/>
              <a:ext cx="355841" cy="37261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101596" y="4303763"/>
              <a:ext cx="416826" cy="398538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279904" y="4303763"/>
              <a:ext cx="951738" cy="39853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993136" y="4303763"/>
              <a:ext cx="595122" cy="39853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22704" y="4530852"/>
              <a:ext cx="355841" cy="37261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101596" y="4517123"/>
              <a:ext cx="416826" cy="398538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279904" y="4517123"/>
              <a:ext cx="1486662" cy="398538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1834895" y="3678935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90"/>
              </a:spcBef>
              <a:buFont typeface="Wingdings"/>
              <a:buChar char=""/>
              <a:tabLst>
                <a:tab pos="377825" algn="l"/>
              </a:tabLst>
            </a:pPr>
            <a:r>
              <a:rPr dirty="0" sz="1400" spc="-15" b="1">
                <a:solidFill>
                  <a:srgbClr val="FFFFFF"/>
                </a:solidFill>
                <a:latin typeface="Microsoft YaHei"/>
                <a:cs typeface="Microsoft YaHei"/>
              </a:rPr>
              <a:t>資產流動性評估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現金流預判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衝擊成本管控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流動性儲備管理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壓力情景前置研判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5711952" y="3663683"/>
            <a:ext cx="2173605" cy="1252220"/>
            <a:chOff x="5711952" y="3663683"/>
            <a:chExt cx="2173605" cy="1252220"/>
          </a:xfrm>
        </p:grpSpPr>
        <p:sp>
          <p:nvSpPr>
            <p:cNvPr id="97" name="object 97"/>
            <p:cNvSpPr/>
            <p:nvPr/>
          </p:nvSpPr>
          <p:spPr>
            <a:xfrm>
              <a:off x="5725668" y="3678936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4" h="1152525">
                  <a:moveTo>
                    <a:pt x="2159508" y="0"/>
                  </a:moveTo>
                  <a:lnTo>
                    <a:pt x="0" y="0"/>
                  </a:lnTo>
                  <a:lnTo>
                    <a:pt x="0" y="1152144"/>
                  </a:lnTo>
                  <a:lnTo>
                    <a:pt x="2159508" y="1152144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11952" y="3677412"/>
              <a:ext cx="355841" cy="37261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990844" y="3663683"/>
              <a:ext cx="1308353" cy="39853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11952" y="3890772"/>
              <a:ext cx="355841" cy="37261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990844" y="3877043"/>
              <a:ext cx="1308353" cy="39853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11952" y="4104132"/>
              <a:ext cx="355841" cy="37261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990844" y="4090403"/>
              <a:ext cx="1308353" cy="398538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11952" y="4317492"/>
              <a:ext cx="355841" cy="37261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990844" y="4303763"/>
              <a:ext cx="1664970" cy="398538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11952" y="4530852"/>
              <a:ext cx="355841" cy="37261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990844" y="4517123"/>
              <a:ext cx="1843277" cy="398538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5725667" y="3678935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90"/>
              </a:spcBef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國家風險評級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國別風險限額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跨境風險識別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跨境敞口動態監測</a:t>
            </a:r>
            <a:endParaRPr sz="1400">
              <a:latin typeface="Microsoft YaHei"/>
              <a:cs typeface="Microsoft YaHei"/>
            </a:endParaRPr>
          </a:p>
          <a:p>
            <a:pPr marL="377825" indent="-286385">
              <a:lnSpc>
                <a:spcPct val="100000"/>
              </a:lnSpc>
              <a:buFont typeface="Wingdings"/>
              <a:buChar char=""/>
              <a:tabLst>
                <a:tab pos="37782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危機預案與緩釋處理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9624059" y="3671303"/>
            <a:ext cx="2173605" cy="1252220"/>
            <a:chOff x="9624059" y="3671303"/>
            <a:chExt cx="2173605" cy="1252220"/>
          </a:xfrm>
        </p:grpSpPr>
        <p:sp>
          <p:nvSpPr>
            <p:cNvPr id="110" name="object 110"/>
            <p:cNvSpPr/>
            <p:nvPr/>
          </p:nvSpPr>
          <p:spPr>
            <a:xfrm>
              <a:off x="9637775" y="3686556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4" h="1152525">
                  <a:moveTo>
                    <a:pt x="2159507" y="0"/>
                  </a:moveTo>
                  <a:lnTo>
                    <a:pt x="0" y="0"/>
                  </a:lnTo>
                  <a:lnTo>
                    <a:pt x="0" y="1152144"/>
                  </a:lnTo>
                  <a:lnTo>
                    <a:pt x="2159507" y="1152144"/>
                  </a:lnTo>
                  <a:lnTo>
                    <a:pt x="2159507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624059" y="3685032"/>
              <a:ext cx="355841" cy="372618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902951" y="3671303"/>
              <a:ext cx="595122" cy="39853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259567" y="3671303"/>
              <a:ext cx="584441" cy="398538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605515" y="3671303"/>
              <a:ext cx="773429" cy="398538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1140439" y="3671303"/>
              <a:ext cx="416826" cy="398538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624059" y="3898392"/>
              <a:ext cx="355841" cy="372618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902951" y="3884663"/>
              <a:ext cx="416826" cy="398538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081259" y="3884663"/>
              <a:ext cx="1308353" cy="39853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151107" y="3884663"/>
              <a:ext cx="595122" cy="39853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624059" y="4111752"/>
              <a:ext cx="355841" cy="37261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902951" y="4098023"/>
              <a:ext cx="416826" cy="39853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081259" y="4098023"/>
              <a:ext cx="951738" cy="398538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794491" y="4098023"/>
              <a:ext cx="416826" cy="39853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624059" y="4325112"/>
              <a:ext cx="355841" cy="37261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902951" y="4311383"/>
              <a:ext cx="416826" cy="398538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0081259" y="4311383"/>
              <a:ext cx="416826" cy="39853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259567" y="4311383"/>
              <a:ext cx="584441" cy="39853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0605515" y="4311383"/>
              <a:ext cx="595122" cy="39853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0962131" y="4311383"/>
              <a:ext cx="595122" cy="39853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624059" y="4538472"/>
              <a:ext cx="355841" cy="37261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902951" y="4524743"/>
              <a:ext cx="595122" cy="39853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0259567" y="4524743"/>
              <a:ext cx="1308353" cy="398538"/>
            </a:xfrm>
            <a:prstGeom prst="rect">
              <a:avLst/>
            </a:prstGeom>
          </p:spPr>
        </p:pic>
      </p:grpSp>
      <p:sp>
        <p:nvSpPr>
          <p:cNvPr id="133" name="object 133"/>
          <p:cNvSpPr txBox="1"/>
          <p:nvPr/>
        </p:nvSpPr>
        <p:spPr>
          <a:xfrm>
            <a:off x="9637776" y="3686555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379095" indent="-287020">
              <a:lnSpc>
                <a:spcPct val="100000"/>
              </a:lnSpc>
              <a:spcBef>
                <a:spcPts val="285"/>
              </a:spcBef>
              <a:buFont typeface="Wingdings"/>
              <a:buChar char=""/>
              <a:tabLst>
                <a:tab pos="379095" algn="l"/>
              </a:tabLst>
            </a:pP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標的</a:t>
            </a: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ESG</a:t>
            </a:r>
            <a:r>
              <a:rPr dirty="0" sz="1400" spc="-15" b="1">
                <a:solidFill>
                  <a:srgbClr val="FFFFFF"/>
                </a:solidFill>
                <a:latin typeface="Microsoft YaHei"/>
                <a:cs typeface="Microsoft YaHei"/>
              </a:rPr>
              <a:t>風險檢視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投融資負面清單遵循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氣候風險辨識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營運</a:t>
            </a: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ESG</a:t>
            </a:r>
            <a:r>
              <a:rPr dirty="0" sz="1400" spc="-15" b="1">
                <a:solidFill>
                  <a:srgbClr val="FFFFFF"/>
                </a:solidFill>
                <a:latin typeface="Microsoft YaHei"/>
                <a:cs typeface="Microsoft YaHei"/>
              </a:rPr>
              <a:t>資料留存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重大永續風險通報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1828800" y="5048999"/>
            <a:ext cx="2173605" cy="1252220"/>
            <a:chOff x="1828800" y="5048999"/>
            <a:chExt cx="2173605" cy="1252220"/>
          </a:xfrm>
        </p:grpSpPr>
        <p:sp>
          <p:nvSpPr>
            <p:cNvPr id="135" name="object 135"/>
            <p:cNvSpPr/>
            <p:nvPr/>
          </p:nvSpPr>
          <p:spPr>
            <a:xfrm>
              <a:off x="1842516" y="5065775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5" h="1152525">
                  <a:moveTo>
                    <a:pt x="2159508" y="0"/>
                  </a:moveTo>
                  <a:lnTo>
                    <a:pt x="0" y="0"/>
                  </a:lnTo>
                  <a:lnTo>
                    <a:pt x="0" y="1152144"/>
                  </a:lnTo>
                  <a:lnTo>
                    <a:pt x="2159508" y="1152144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828800" y="5064239"/>
              <a:ext cx="355841" cy="37110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107691" y="5048999"/>
              <a:ext cx="773430" cy="398538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642616" y="5048999"/>
              <a:ext cx="653033" cy="398538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828800" y="5277611"/>
              <a:ext cx="355841" cy="371106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107691" y="5262371"/>
              <a:ext cx="593598" cy="39853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828800" y="5490971"/>
              <a:ext cx="355841" cy="371106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107691" y="5475731"/>
              <a:ext cx="1130045" cy="398538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828800" y="5704331"/>
              <a:ext cx="355841" cy="371106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107691" y="5689091"/>
              <a:ext cx="1308354" cy="398538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828800" y="5917691"/>
              <a:ext cx="355841" cy="371106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2107691" y="5902451"/>
              <a:ext cx="1130045" cy="398538"/>
            </a:xfrm>
            <a:prstGeom prst="rect">
              <a:avLst/>
            </a:prstGeom>
          </p:spPr>
        </p:pic>
      </p:grpSp>
      <p:sp>
        <p:nvSpPr>
          <p:cNvPr id="147" name="object 147"/>
          <p:cNvSpPr txBox="1"/>
          <p:nvPr/>
        </p:nvSpPr>
        <p:spPr>
          <a:xfrm>
            <a:off x="1842516" y="5065776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285"/>
              </a:spcBef>
              <a:buFont typeface="Wingdings"/>
              <a:buChar char=""/>
              <a:tabLst>
                <a:tab pos="377190" algn="l"/>
              </a:tabLst>
            </a:pP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反洗錢</a:t>
            </a:r>
            <a:r>
              <a:rPr dirty="0" sz="1400" spc="-25" b="1">
                <a:solidFill>
                  <a:srgbClr val="FFFFFF"/>
                </a:solidFill>
                <a:latin typeface="Microsoft YaHei"/>
                <a:cs typeface="Microsoft YaHei"/>
              </a:rPr>
              <a:t>AML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25" b="1">
                <a:solidFill>
                  <a:srgbClr val="FFFFFF"/>
                </a:solidFill>
                <a:latin typeface="Microsoft YaHei"/>
                <a:cs typeface="Microsoft YaHei"/>
              </a:rPr>
              <a:t>KYC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客戶適合度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內線交易防制</a:t>
            </a:r>
            <a:endParaRPr sz="1400">
              <a:latin typeface="Microsoft YaHei"/>
              <a:cs typeface="Microsoft YaHei"/>
            </a:endParaRPr>
          </a:p>
          <a:p>
            <a:pPr marL="377190" indent="-286385">
              <a:lnSpc>
                <a:spcPct val="100000"/>
              </a:lnSpc>
              <a:buFont typeface="Wingdings"/>
              <a:buChar char=""/>
              <a:tabLst>
                <a:tab pos="377190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法規知識庫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5740908" y="5056619"/>
            <a:ext cx="2173605" cy="1252220"/>
            <a:chOff x="5740908" y="5056619"/>
            <a:chExt cx="2173605" cy="1252220"/>
          </a:xfrm>
        </p:grpSpPr>
        <p:sp>
          <p:nvSpPr>
            <p:cNvPr id="149" name="object 149"/>
            <p:cNvSpPr/>
            <p:nvPr/>
          </p:nvSpPr>
          <p:spPr>
            <a:xfrm>
              <a:off x="5753100" y="5073395"/>
              <a:ext cx="2161540" cy="1150620"/>
            </a:xfrm>
            <a:custGeom>
              <a:avLst/>
              <a:gdLst/>
              <a:ahLst/>
              <a:cxnLst/>
              <a:rect l="l" t="t" r="r" b="b"/>
              <a:pathLst>
                <a:path w="2161540" h="1150620">
                  <a:moveTo>
                    <a:pt x="2161031" y="0"/>
                  </a:moveTo>
                  <a:lnTo>
                    <a:pt x="0" y="0"/>
                  </a:lnTo>
                  <a:lnTo>
                    <a:pt x="0" y="1150619"/>
                  </a:lnTo>
                  <a:lnTo>
                    <a:pt x="2161031" y="1150619"/>
                  </a:lnTo>
                  <a:lnTo>
                    <a:pt x="2161031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740908" y="5071859"/>
              <a:ext cx="355841" cy="37110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019800" y="5056619"/>
              <a:ext cx="1130046" cy="398538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740908" y="5285231"/>
              <a:ext cx="355841" cy="371106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019800" y="5269991"/>
              <a:ext cx="1308353" cy="398538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740908" y="5498591"/>
              <a:ext cx="355841" cy="371106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019800" y="5483351"/>
              <a:ext cx="1308353" cy="398538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089648" y="5483351"/>
              <a:ext cx="581405" cy="398538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740908" y="5711951"/>
              <a:ext cx="355841" cy="371106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019800" y="5696711"/>
              <a:ext cx="1308353" cy="398538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740908" y="5925311"/>
              <a:ext cx="355841" cy="37110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019800" y="5910071"/>
              <a:ext cx="1843277" cy="398538"/>
            </a:xfrm>
            <a:prstGeom prst="rect">
              <a:avLst/>
            </a:prstGeom>
          </p:spPr>
        </p:pic>
      </p:grpSp>
      <p:sp>
        <p:nvSpPr>
          <p:cNvPr id="161" name="object 161"/>
          <p:cNvSpPr txBox="1"/>
          <p:nvPr/>
        </p:nvSpPr>
        <p:spPr>
          <a:xfrm>
            <a:off x="5753100" y="5073396"/>
            <a:ext cx="2161540" cy="1150620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379095" indent="-286385">
              <a:lnSpc>
                <a:spcPct val="100000"/>
              </a:lnSpc>
              <a:spcBef>
                <a:spcPts val="280"/>
              </a:spcBef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商品適合度</a:t>
            </a:r>
            <a:endParaRPr sz="1400">
              <a:latin typeface="Microsoft YaHei"/>
              <a:cs typeface="Microsoft YaHei"/>
            </a:endParaRPr>
          </a:p>
          <a:p>
            <a:pPr marL="379095" indent="-286385">
              <a:lnSpc>
                <a:spcPct val="100000"/>
              </a:lnSpc>
              <a:spcBef>
                <a:spcPts val="5"/>
              </a:spcBef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資訊即時揭露</a:t>
            </a:r>
            <a:endParaRPr sz="1400">
              <a:latin typeface="Microsoft YaHei"/>
              <a:cs typeface="Microsoft YaHei"/>
            </a:endParaRPr>
          </a:p>
          <a:p>
            <a:pPr marL="379095" indent="-286385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交易服務水準</a:t>
            </a:r>
            <a:r>
              <a:rPr dirty="0" sz="1400" spc="-25" b="1">
                <a:solidFill>
                  <a:srgbClr val="FFFFFF"/>
                </a:solidFill>
                <a:latin typeface="Microsoft YaHei"/>
                <a:cs typeface="Microsoft YaHei"/>
              </a:rPr>
              <a:t>SLA</a:t>
            </a:r>
            <a:endParaRPr sz="1400">
              <a:latin typeface="Microsoft YaHei"/>
              <a:cs typeface="Microsoft YaHei"/>
            </a:endParaRPr>
          </a:p>
          <a:p>
            <a:pPr marL="379095" indent="-286385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客戶資產資料</a:t>
            </a:r>
            <a:endParaRPr sz="1400">
              <a:latin typeface="Microsoft YaHei"/>
              <a:cs typeface="Microsoft YaHei"/>
            </a:endParaRPr>
          </a:p>
          <a:p>
            <a:pPr marL="379095" indent="-286385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客戶服務與客訴處理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9624059" y="5064239"/>
            <a:ext cx="2173605" cy="1252220"/>
            <a:chOff x="9624059" y="5064239"/>
            <a:chExt cx="2173605" cy="1252220"/>
          </a:xfrm>
        </p:grpSpPr>
        <p:sp>
          <p:nvSpPr>
            <p:cNvPr id="163" name="object 163"/>
            <p:cNvSpPr/>
            <p:nvPr/>
          </p:nvSpPr>
          <p:spPr>
            <a:xfrm>
              <a:off x="9637775" y="5079492"/>
              <a:ext cx="2159635" cy="1152525"/>
            </a:xfrm>
            <a:custGeom>
              <a:avLst/>
              <a:gdLst/>
              <a:ahLst/>
              <a:cxnLst/>
              <a:rect l="l" t="t" r="r" b="b"/>
              <a:pathLst>
                <a:path w="2159634" h="1152525">
                  <a:moveTo>
                    <a:pt x="2159507" y="0"/>
                  </a:moveTo>
                  <a:lnTo>
                    <a:pt x="0" y="0"/>
                  </a:lnTo>
                  <a:lnTo>
                    <a:pt x="0" y="1152143"/>
                  </a:lnTo>
                  <a:lnTo>
                    <a:pt x="2159507" y="1152143"/>
                  </a:lnTo>
                  <a:lnTo>
                    <a:pt x="2159507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624059" y="5077968"/>
              <a:ext cx="355841" cy="372618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9902951" y="5064239"/>
              <a:ext cx="1308353" cy="398538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624059" y="5291328"/>
              <a:ext cx="355841" cy="372618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9902951" y="5277612"/>
              <a:ext cx="1843277" cy="398538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624059" y="5504688"/>
              <a:ext cx="355841" cy="37261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9902951" y="5490972"/>
              <a:ext cx="1843277" cy="398538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624059" y="5718048"/>
              <a:ext cx="355841" cy="372618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9902951" y="5704332"/>
              <a:ext cx="1843277" cy="398538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624059" y="5931408"/>
              <a:ext cx="355841" cy="372617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9902951" y="5917691"/>
              <a:ext cx="1486661" cy="398538"/>
            </a:xfrm>
            <a:prstGeom prst="rect">
              <a:avLst/>
            </a:prstGeom>
          </p:spPr>
        </p:pic>
      </p:grpSp>
      <p:sp>
        <p:nvSpPr>
          <p:cNvPr id="174" name="object 174"/>
          <p:cNvSpPr txBox="1"/>
          <p:nvPr/>
        </p:nvSpPr>
        <p:spPr>
          <a:xfrm>
            <a:off x="9637776" y="5079491"/>
            <a:ext cx="2159635" cy="1152525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379095" indent="-287020">
              <a:lnSpc>
                <a:spcPct val="100000"/>
              </a:lnSpc>
              <a:spcBef>
                <a:spcPts val="290"/>
              </a:spcBef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網路邊境防護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客戶及敏感資料保護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5" b="1">
                <a:solidFill>
                  <a:srgbClr val="FFFFFF"/>
                </a:solidFill>
                <a:latin typeface="Microsoft YaHei"/>
                <a:cs typeface="Microsoft YaHei"/>
              </a:rPr>
              <a:t>身份許可權安全管理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spcBef>
                <a:spcPts val="5"/>
              </a:spcBef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資安事件偵測與應變</a:t>
            </a:r>
            <a:endParaRPr sz="1400">
              <a:latin typeface="Microsoft YaHei"/>
              <a:cs typeface="Microsoft YaHei"/>
            </a:endParaRPr>
          </a:p>
          <a:p>
            <a:pPr marL="379095" indent="-287020">
              <a:lnSpc>
                <a:spcPct val="100000"/>
              </a:lnSpc>
              <a:buFont typeface="Wingdings"/>
              <a:buChar char=""/>
              <a:tabLst>
                <a:tab pos="379095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第三方委外資安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75" name="object 17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關鍵能力：運營管理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4" name="object 4"/>
            <p:cNvSpPr/>
            <p:nvPr/>
          </p:nvSpPr>
          <p:spPr>
            <a:xfrm>
              <a:off x="10661904" y="248411"/>
              <a:ext cx="1080770" cy="637540"/>
            </a:xfrm>
            <a:custGeom>
              <a:avLst/>
              <a:gdLst/>
              <a:ahLst/>
              <a:cxnLst/>
              <a:rect l="l" t="t" r="r" b="b"/>
              <a:pathLst>
                <a:path w="1080770" h="637540">
                  <a:moveTo>
                    <a:pt x="1080516" y="492264"/>
                  </a:moveTo>
                  <a:lnTo>
                    <a:pt x="0" y="492264"/>
                  </a:lnTo>
                  <a:lnTo>
                    <a:pt x="0" y="637032"/>
                  </a:lnTo>
                  <a:lnTo>
                    <a:pt x="1080516" y="637032"/>
                  </a:lnTo>
                  <a:lnTo>
                    <a:pt x="1080516" y="492264"/>
                  </a:lnTo>
                  <a:close/>
                </a:path>
                <a:path w="1080770" h="637540">
                  <a:moveTo>
                    <a:pt x="1080516" y="327660"/>
                  </a:moveTo>
                  <a:lnTo>
                    <a:pt x="0" y="327660"/>
                  </a:lnTo>
                  <a:lnTo>
                    <a:pt x="0" y="472440"/>
                  </a:lnTo>
                  <a:lnTo>
                    <a:pt x="1080516" y="472440"/>
                  </a:lnTo>
                  <a:lnTo>
                    <a:pt x="1080516" y="327660"/>
                  </a:lnTo>
                  <a:close/>
                </a:path>
                <a:path w="1080770" h="637540">
                  <a:moveTo>
                    <a:pt x="1080516" y="164604"/>
                  </a:moveTo>
                  <a:lnTo>
                    <a:pt x="0" y="164604"/>
                  </a:lnTo>
                  <a:lnTo>
                    <a:pt x="0" y="307848"/>
                  </a:lnTo>
                  <a:lnTo>
                    <a:pt x="1080516" y="307848"/>
                  </a:lnTo>
                  <a:lnTo>
                    <a:pt x="1080516" y="164604"/>
                  </a:lnTo>
                  <a:close/>
                </a:path>
                <a:path w="1080770" h="637540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1904" y="905256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61904" y="1069847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3560" y="1328927"/>
            <a:ext cx="1082802" cy="4549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8764" y="1328927"/>
            <a:ext cx="1893569" cy="45491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248143" y="1328927"/>
            <a:ext cx="2183130" cy="461009"/>
            <a:chOff x="7248143" y="1328927"/>
            <a:chExt cx="2183130" cy="46100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8143" y="1328927"/>
              <a:ext cx="1082802" cy="4549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58911" y="1328927"/>
              <a:ext cx="474713" cy="4549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1603" y="1335023"/>
              <a:ext cx="358901" cy="4549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8471" y="1328927"/>
              <a:ext cx="1082802" cy="454913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56647" y="1328927"/>
            <a:ext cx="1690877" cy="454913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82587" y="1322450"/>
          <a:ext cx="11431905" cy="4088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3002279"/>
                <a:gridCol w="3357245"/>
                <a:gridCol w="2251709"/>
                <a:gridCol w="2273300"/>
              </a:tblGrid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核心流程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868044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3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重要性與管理重點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期望差異化</a:t>
                      </a:r>
                      <a:r>
                        <a:rPr dirty="0" sz="1600" spc="-30" b="1" i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數位能力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3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目前優勢或痛點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4B1"/>
                    </a:solidFill>
                  </a:tcPr>
                </a:tc>
              </a:tr>
              <a:tr h="1850389">
                <a:tc>
                  <a:txBody>
                    <a:bodyPr/>
                    <a:lstStyle/>
                    <a:p>
                      <a:pPr algn="just" marL="90805" marR="154940">
                        <a:lnSpc>
                          <a:spcPct val="99700"/>
                        </a:lnSpc>
                        <a:spcBef>
                          <a:spcPts val="525"/>
                        </a:spcBef>
                      </a:pPr>
                      <a:r>
                        <a:rPr dirty="0" sz="1600" spc="-50" b="1">
                          <a:latin typeface="Microsoft JhengHei"/>
                          <a:cs typeface="Microsoft JhengHei"/>
                        </a:rPr>
                        <a:t>作業類核心流程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E3"/>
                    </a:solidFill>
                  </a:tcPr>
                </a:tc>
              </a:tr>
              <a:tr h="1850389">
                <a:tc>
                  <a:txBody>
                    <a:bodyPr/>
                    <a:lstStyle/>
                    <a:p>
                      <a:pPr algn="just" marL="90805" marR="154940">
                        <a:lnSpc>
                          <a:spcPct val="99700"/>
                        </a:lnSpc>
                        <a:spcBef>
                          <a:spcPts val="525"/>
                        </a:spcBef>
                      </a:pPr>
                      <a:r>
                        <a:rPr dirty="0" sz="1600" spc="-50" b="1">
                          <a:latin typeface="Microsoft JhengHei"/>
                          <a:cs typeface="Microsoft JhengHei"/>
                        </a:rPr>
                        <a:t>管理類核心流程</a:t>
                      </a:r>
                      <a:endParaRPr sz="16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1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42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214864" y="6547053"/>
            <a:ext cx="2571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25">
                <a:latin typeface="Calibri"/>
                <a:cs typeface="Calibri"/>
              </a:rPr>
              <a:t>42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7886" y="5323078"/>
            <a:ext cx="11683365" cy="1535430"/>
            <a:chOff x="357886" y="5323078"/>
            <a:chExt cx="11683365" cy="1535430"/>
          </a:xfrm>
        </p:grpSpPr>
        <p:sp>
          <p:nvSpPr>
            <p:cNvPr id="3" name="object 3"/>
            <p:cNvSpPr/>
            <p:nvPr/>
          </p:nvSpPr>
          <p:spPr>
            <a:xfrm>
              <a:off x="2898647" y="5329428"/>
              <a:ext cx="2592705" cy="972819"/>
            </a:xfrm>
            <a:custGeom>
              <a:avLst/>
              <a:gdLst/>
              <a:ahLst/>
              <a:cxnLst/>
              <a:rect l="l" t="t" r="r" b="b"/>
              <a:pathLst>
                <a:path w="2592704" h="972820">
                  <a:moveTo>
                    <a:pt x="2592324" y="0"/>
                  </a:moveTo>
                  <a:lnTo>
                    <a:pt x="0" y="0"/>
                  </a:lnTo>
                  <a:lnTo>
                    <a:pt x="0" y="972312"/>
                  </a:lnTo>
                  <a:lnTo>
                    <a:pt x="2592324" y="972312"/>
                  </a:lnTo>
                  <a:lnTo>
                    <a:pt x="2592324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898647" y="5329428"/>
              <a:ext cx="2592705" cy="972819"/>
            </a:xfrm>
            <a:custGeom>
              <a:avLst/>
              <a:gdLst/>
              <a:ahLst/>
              <a:cxnLst/>
              <a:rect l="l" t="t" r="r" b="b"/>
              <a:pathLst>
                <a:path w="2592704" h="972820">
                  <a:moveTo>
                    <a:pt x="0" y="972312"/>
                  </a:moveTo>
                  <a:lnTo>
                    <a:pt x="2592324" y="972312"/>
                  </a:lnTo>
                  <a:lnTo>
                    <a:pt x="2592324" y="0"/>
                  </a:lnTo>
                  <a:lnTo>
                    <a:pt x="0" y="0"/>
                  </a:lnTo>
                  <a:lnTo>
                    <a:pt x="0" y="972312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7663" y="5329428"/>
              <a:ext cx="1285493" cy="4549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124" y="5335524"/>
              <a:ext cx="576834" cy="45491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關鍵能力：科技能力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1392174"/>
            <a:ext cx="11483340" cy="71932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661904" y="248411"/>
            <a:ext cx="1080770" cy="965200"/>
            <a:chOff x="10661904" y="248411"/>
            <a:chExt cx="1080770" cy="965200"/>
          </a:xfrm>
        </p:grpSpPr>
        <p:sp>
          <p:nvSpPr>
            <p:cNvPr id="10" name="object 10"/>
            <p:cNvSpPr/>
            <p:nvPr/>
          </p:nvSpPr>
          <p:spPr>
            <a:xfrm>
              <a:off x="10661904" y="248411"/>
              <a:ext cx="1080770" cy="800100"/>
            </a:xfrm>
            <a:custGeom>
              <a:avLst/>
              <a:gdLst/>
              <a:ahLst/>
              <a:cxnLst/>
              <a:rect l="l" t="t" r="r" b="b"/>
              <a:pathLst>
                <a:path w="1080770" h="800100">
                  <a:moveTo>
                    <a:pt x="1080516" y="656856"/>
                  </a:moveTo>
                  <a:lnTo>
                    <a:pt x="0" y="656856"/>
                  </a:lnTo>
                  <a:lnTo>
                    <a:pt x="0" y="800100"/>
                  </a:lnTo>
                  <a:lnTo>
                    <a:pt x="1080516" y="800100"/>
                  </a:lnTo>
                  <a:lnTo>
                    <a:pt x="1080516" y="656856"/>
                  </a:lnTo>
                  <a:close/>
                </a:path>
                <a:path w="1080770" h="800100">
                  <a:moveTo>
                    <a:pt x="1080516" y="492264"/>
                  </a:moveTo>
                  <a:lnTo>
                    <a:pt x="0" y="492264"/>
                  </a:lnTo>
                  <a:lnTo>
                    <a:pt x="0" y="637032"/>
                  </a:lnTo>
                  <a:lnTo>
                    <a:pt x="1080516" y="637032"/>
                  </a:lnTo>
                  <a:lnTo>
                    <a:pt x="1080516" y="492264"/>
                  </a:lnTo>
                  <a:close/>
                </a:path>
                <a:path w="1080770" h="800100">
                  <a:moveTo>
                    <a:pt x="1080516" y="327660"/>
                  </a:moveTo>
                  <a:lnTo>
                    <a:pt x="0" y="327660"/>
                  </a:lnTo>
                  <a:lnTo>
                    <a:pt x="0" y="472440"/>
                  </a:lnTo>
                  <a:lnTo>
                    <a:pt x="1080516" y="472440"/>
                  </a:lnTo>
                  <a:lnTo>
                    <a:pt x="1080516" y="327660"/>
                  </a:lnTo>
                  <a:close/>
                </a:path>
                <a:path w="1080770" h="800100">
                  <a:moveTo>
                    <a:pt x="1080516" y="164604"/>
                  </a:moveTo>
                  <a:lnTo>
                    <a:pt x="0" y="164604"/>
                  </a:lnTo>
                  <a:lnTo>
                    <a:pt x="0" y="307848"/>
                  </a:lnTo>
                  <a:lnTo>
                    <a:pt x="1080516" y="307848"/>
                  </a:lnTo>
                  <a:lnTo>
                    <a:pt x="1080516" y="164604"/>
                  </a:lnTo>
                  <a:close/>
                </a:path>
                <a:path w="1080770" h="800100">
                  <a:moveTo>
                    <a:pt x="1080516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1080516" y="14325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661904" y="1069847"/>
              <a:ext cx="1080770" cy="143510"/>
            </a:xfrm>
            <a:custGeom>
              <a:avLst/>
              <a:gdLst/>
              <a:ahLst/>
              <a:cxnLst/>
              <a:rect l="l" t="t" r="r" b="b"/>
              <a:pathLst>
                <a:path w="1080770" h="143509">
                  <a:moveTo>
                    <a:pt x="1080516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80516" y="143255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2248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00050" y="1392174"/>
            <a:ext cx="11483340" cy="719455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wrap="square" lIns="0" tIns="212725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675"/>
              </a:spcBef>
            </a:pPr>
            <a:r>
              <a:rPr dirty="0" sz="1800" spc="-5" b="1">
                <a:solidFill>
                  <a:srgbClr val="FFFFFF"/>
                </a:solidFill>
                <a:latin typeface="Microsoft YaHei"/>
                <a:cs typeface="Microsoft YaHei"/>
              </a:rPr>
              <a:t>基於證券市場領先地位，以業務導向的科技賦能以體現服務效率與競爭力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7833" y="2506217"/>
            <a:ext cx="10368280" cy="2414270"/>
            <a:chOff x="957833" y="2506217"/>
            <a:chExt cx="10368280" cy="241427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833" y="2980181"/>
              <a:ext cx="10367772" cy="5166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7833" y="2506217"/>
              <a:ext cx="10367772" cy="5166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7833" y="3455669"/>
              <a:ext cx="10367772" cy="51511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833" y="4403597"/>
              <a:ext cx="10367772" cy="5166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7833" y="3929633"/>
              <a:ext cx="10367772" cy="516636"/>
            </a:xfrm>
            <a:prstGeom prst="rect">
              <a:avLst/>
            </a:prstGeom>
          </p:spPr>
        </p:pic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938783" y="2487167"/>
          <a:ext cx="10482580" cy="241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7645"/>
              </a:tblGrid>
              <a:tr h="495300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客戶行銷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27635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80772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通路服務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0668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80772">
                      <a:solidFill>
                        <a:srgbClr val="FFFFFF"/>
                      </a:solidFill>
                      <a:prstDash val="solid"/>
                    </a:lnT>
                    <a:lnB w="79248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73709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產品定價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0668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79248">
                      <a:solidFill>
                        <a:srgbClr val="FFFFFF"/>
                      </a:solidFill>
                      <a:prstDash val="solid"/>
                    </a:lnT>
                    <a:lnB w="79248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風管合規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07314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79248">
                      <a:solidFill>
                        <a:srgbClr val="FFFFFF"/>
                      </a:solidFill>
                      <a:prstDash val="solid"/>
                    </a:lnT>
                    <a:lnB w="80772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運營管理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07314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80772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399288" y="2272283"/>
            <a:ext cx="10855960" cy="2880360"/>
            <a:chOff x="399288" y="2272283"/>
            <a:chExt cx="10855960" cy="288036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25980" y="2566403"/>
              <a:ext cx="9116568" cy="4236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57983" y="2598419"/>
              <a:ext cx="9002395" cy="309880"/>
            </a:xfrm>
            <a:custGeom>
              <a:avLst/>
              <a:gdLst/>
              <a:ahLst/>
              <a:cxnLst/>
              <a:rect l="l" t="t" r="r" b="b"/>
              <a:pathLst>
                <a:path w="9002395" h="309880">
                  <a:moveTo>
                    <a:pt x="900226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9002268" y="309372"/>
                  </a:lnTo>
                  <a:lnTo>
                    <a:pt x="9002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57983" y="2598419"/>
              <a:ext cx="9002395" cy="309880"/>
            </a:xfrm>
            <a:custGeom>
              <a:avLst/>
              <a:gdLst/>
              <a:ahLst/>
              <a:cxnLst/>
              <a:rect l="l" t="t" r="r" b="b"/>
              <a:pathLst>
                <a:path w="9002395" h="309880">
                  <a:moveTo>
                    <a:pt x="0" y="309372"/>
                  </a:moveTo>
                  <a:lnTo>
                    <a:pt x="9002268" y="309372"/>
                  </a:lnTo>
                  <a:lnTo>
                    <a:pt x="900226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2076" y="3051035"/>
              <a:ext cx="9116568" cy="42368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64080" y="3083051"/>
              <a:ext cx="9002395" cy="309880"/>
            </a:xfrm>
            <a:custGeom>
              <a:avLst/>
              <a:gdLst/>
              <a:ahLst/>
              <a:cxnLst/>
              <a:rect l="l" t="t" r="r" b="b"/>
              <a:pathLst>
                <a:path w="9002395" h="309879">
                  <a:moveTo>
                    <a:pt x="900226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9002268" y="309372"/>
                  </a:lnTo>
                  <a:lnTo>
                    <a:pt x="9002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64080" y="3083051"/>
              <a:ext cx="9002395" cy="309880"/>
            </a:xfrm>
            <a:custGeom>
              <a:avLst/>
              <a:gdLst/>
              <a:ahLst/>
              <a:cxnLst/>
              <a:rect l="l" t="t" r="r" b="b"/>
              <a:pathLst>
                <a:path w="9002395" h="309879">
                  <a:moveTo>
                    <a:pt x="0" y="309372"/>
                  </a:moveTo>
                  <a:lnTo>
                    <a:pt x="9002268" y="309372"/>
                  </a:lnTo>
                  <a:lnTo>
                    <a:pt x="900226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3524999"/>
              <a:ext cx="9115044" cy="42368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71699" y="3557016"/>
              <a:ext cx="9001125" cy="309880"/>
            </a:xfrm>
            <a:custGeom>
              <a:avLst/>
              <a:gdLst/>
              <a:ahLst/>
              <a:cxnLst/>
              <a:rect l="l" t="t" r="r" b="b"/>
              <a:pathLst>
                <a:path w="9001125" h="309879">
                  <a:moveTo>
                    <a:pt x="9000744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9000744" y="309372"/>
                  </a:lnTo>
                  <a:lnTo>
                    <a:pt x="9000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1699" y="3557016"/>
              <a:ext cx="9001125" cy="309880"/>
            </a:xfrm>
            <a:custGeom>
              <a:avLst/>
              <a:gdLst/>
              <a:ahLst/>
              <a:cxnLst/>
              <a:rect l="l" t="t" r="r" b="b"/>
              <a:pathLst>
                <a:path w="9001125" h="309879">
                  <a:moveTo>
                    <a:pt x="0" y="309372"/>
                  </a:moveTo>
                  <a:lnTo>
                    <a:pt x="9000744" y="309372"/>
                  </a:lnTo>
                  <a:lnTo>
                    <a:pt x="9000744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2076" y="3988295"/>
              <a:ext cx="9116568" cy="42368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64080" y="4020311"/>
              <a:ext cx="9002395" cy="309880"/>
            </a:xfrm>
            <a:custGeom>
              <a:avLst/>
              <a:gdLst/>
              <a:ahLst/>
              <a:cxnLst/>
              <a:rect l="l" t="t" r="r" b="b"/>
              <a:pathLst>
                <a:path w="9002395" h="309879">
                  <a:moveTo>
                    <a:pt x="9002268" y="0"/>
                  </a:moveTo>
                  <a:lnTo>
                    <a:pt x="0" y="0"/>
                  </a:lnTo>
                  <a:lnTo>
                    <a:pt x="0" y="309371"/>
                  </a:lnTo>
                  <a:lnTo>
                    <a:pt x="9002268" y="309371"/>
                  </a:lnTo>
                  <a:lnTo>
                    <a:pt x="9002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164080" y="4020311"/>
              <a:ext cx="9002395" cy="309880"/>
            </a:xfrm>
            <a:custGeom>
              <a:avLst/>
              <a:gdLst/>
              <a:ahLst/>
              <a:cxnLst/>
              <a:rect l="l" t="t" r="r" b="b"/>
              <a:pathLst>
                <a:path w="9002395" h="309879">
                  <a:moveTo>
                    <a:pt x="0" y="309371"/>
                  </a:moveTo>
                  <a:lnTo>
                    <a:pt x="9002268" y="309371"/>
                  </a:lnTo>
                  <a:lnTo>
                    <a:pt x="9002268" y="0"/>
                  </a:lnTo>
                  <a:lnTo>
                    <a:pt x="0" y="0"/>
                  </a:lnTo>
                  <a:lnTo>
                    <a:pt x="0" y="30937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5980" y="4471416"/>
              <a:ext cx="9116568" cy="42519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57983" y="4503419"/>
              <a:ext cx="9002395" cy="311150"/>
            </a:xfrm>
            <a:custGeom>
              <a:avLst/>
              <a:gdLst/>
              <a:ahLst/>
              <a:cxnLst/>
              <a:rect l="l" t="t" r="r" b="b"/>
              <a:pathLst>
                <a:path w="9002395" h="311150">
                  <a:moveTo>
                    <a:pt x="9002268" y="0"/>
                  </a:moveTo>
                  <a:lnTo>
                    <a:pt x="0" y="0"/>
                  </a:lnTo>
                  <a:lnTo>
                    <a:pt x="0" y="310895"/>
                  </a:lnTo>
                  <a:lnTo>
                    <a:pt x="9002268" y="310895"/>
                  </a:lnTo>
                  <a:lnTo>
                    <a:pt x="9002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157983" y="4503419"/>
              <a:ext cx="9002395" cy="311150"/>
            </a:xfrm>
            <a:custGeom>
              <a:avLst/>
              <a:gdLst/>
              <a:ahLst/>
              <a:cxnLst/>
              <a:rect l="l" t="t" r="r" b="b"/>
              <a:pathLst>
                <a:path w="9002395" h="311150">
                  <a:moveTo>
                    <a:pt x="0" y="310895"/>
                  </a:moveTo>
                  <a:lnTo>
                    <a:pt x="9002268" y="310895"/>
                  </a:lnTo>
                  <a:lnTo>
                    <a:pt x="9002268" y="0"/>
                  </a:lnTo>
                  <a:lnTo>
                    <a:pt x="0" y="0"/>
                  </a:lnTo>
                  <a:lnTo>
                    <a:pt x="0" y="31089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99288" y="2272283"/>
              <a:ext cx="539750" cy="2880360"/>
            </a:xfrm>
            <a:custGeom>
              <a:avLst/>
              <a:gdLst/>
              <a:ahLst/>
              <a:cxnLst/>
              <a:rect l="l" t="t" r="r" b="b"/>
              <a:pathLst>
                <a:path w="539750" h="2880360">
                  <a:moveTo>
                    <a:pt x="269748" y="0"/>
                  </a:moveTo>
                  <a:lnTo>
                    <a:pt x="0" y="269748"/>
                  </a:lnTo>
                  <a:lnTo>
                    <a:pt x="134874" y="269748"/>
                  </a:lnTo>
                  <a:lnTo>
                    <a:pt x="134874" y="2610611"/>
                  </a:lnTo>
                  <a:lnTo>
                    <a:pt x="0" y="2610611"/>
                  </a:lnTo>
                  <a:lnTo>
                    <a:pt x="269748" y="2880360"/>
                  </a:lnTo>
                  <a:lnTo>
                    <a:pt x="539496" y="2610611"/>
                  </a:lnTo>
                  <a:lnTo>
                    <a:pt x="404621" y="2610611"/>
                  </a:lnTo>
                  <a:lnTo>
                    <a:pt x="404621" y="269748"/>
                  </a:lnTo>
                  <a:lnTo>
                    <a:pt x="539496" y="269748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54837" y="3450716"/>
            <a:ext cx="228600" cy="5080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0"/>
              </a:spcBef>
            </a:pPr>
            <a:r>
              <a:rPr dirty="0" sz="1600" spc="-50" b="1">
                <a:solidFill>
                  <a:srgbClr val="224876"/>
                </a:solidFill>
                <a:latin typeface="Microsoft JhengHei"/>
                <a:cs typeface="Microsoft JhengHei"/>
              </a:rPr>
              <a:t>業務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343131" y="2272283"/>
            <a:ext cx="539750" cy="2880360"/>
          </a:xfrm>
          <a:custGeom>
            <a:avLst/>
            <a:gdLst/>
            <a:ahLst/>
            <a:cxnLst/>
            <a:rect l="l" t="t" r="r" b="b"/>
            <a:pathLst>
              <a:path w="539750" h="2880360">
                <a:moveTo>
                  <a:pt x="269748" y="0"/>
                </a:moveTo>
                <a:lnTo>
                  <a:pt x="0" y="269748"/>
                </a:lnTo>
                <a:lnTo>
                  <a:pt x="134874" y="269748"/>
                </a:lnTo>
                <a:lnTo>
                  <a:pt x="134874" y="2610611"/>
                </a:lnTo>
                <a:lnTo>
                  <a:pt x="0" y="2610611"/>
                </a:lnTo>
                <a:lnTo>
                  <a:pt x="269748" y="2880360"/>
                </a:lnTo>
                <a:lnTo>
                  <a:pt x="539496" y="2610611"/>
                </a:lnTo>
                <a:lnTo>
                  <a:pt x="404622" y="2610611"/>
                </a:lnTo>
                <a:lnTo>
                  <a:pt x="404622" y="269748"/>
                </a:lnTo>
                <a:lnTo>
                  <a:pt x="539496" y="269748"/>
                </a:lnTo>
                <a:lnTo>
                  <a:pt x="26974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525504" y="3566540"/>
            <a:ext cx="1784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24876"/>
                </a:solidFill>
                <a:latin typeface="Calibri"/>
                <a:cs typeface="Calibri"/>
              </a:rPr>
              <a:t>IT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63269" y="2164842"/>
            <a:ext cx="18497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Microsoft JhengHei"/>
                <a:cs typeface="Microsoft JhengHei"/>
              </a:rPr>
              <a:t>市場領先且難以複製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26828" y="2167509"/>
            <a:ext cx="1307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One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Kind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99540" y="4930266"/>
            <a:ext cx="1038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>
                <a:solidFill>
                  <a:srgbClr val="7E7E7E"/>
                </a:solidFill>
                <a:latin typeface="Microsoft JhengHei"/>
                <a:cs typeface="Microsoft JhengHei"/>
              </a:rPr>
              <a:t>市場跟隨者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08183" y="4925695"/>
            <a:ext cx="1106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7E7E7E"/>
                </a:solidFill>
                <a:latin typeface="Calibri"/>
                <a:cs typeface="Calibri"/>
              </a:rPr>
              <a:t>Commodity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98348" y="2410980"/>
            <a:ext cx="11340465" cy="398145"/>
            <a:chOff x="498348" y="2410980"/>
            <a:chExt cx="11340465" cy="398145"/>
          </a:xfrm>
        </p:grpSpPr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8348" y="2410980"/>
              <a:ext cx="390131" cy="39013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4256" y="2436876"/>
              <a:ext cx="288036" cy="28803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48288" y="2418600"/>
              <a:ext cx="390131" cy="39013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74195" y="2444496"/>
              <a:ext cx="288035" cy="28803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535679" y="5379516"/>
            <a:ext cx="1330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Microsoft JhengHei"/>
                <a:cs typeface="Microsoft JhengHei"/>
              </a:rPr>
              <a:t>應用功能與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973323" y="5570220"/>
            <a:ext cx="2513330" cy="802005"/>
            <a:chOff x="2973323" y="5570220"/>
            <a:chExt cx="2513330" cy="802005"/>
          </a:xfrm>
        </p:grpSpPr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73323" y="5609844"/>
              <a:ext cx="1264920" cy="36732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89147" y="5577840"/>
              <a:ext cx="1028700" cy="47552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005327" y="5641848"/>
              <a:ext cx="1150620" cy="253365"/>
            </a:xfrm>
            <a:custGeom>
              <a:avLst/>
              <a:gdLst/>
              <a:ahLst/>
              <a:cxnLst/>
              <a:rect l="l" t="t" r="r" b="b"/>
              <a:pathLst>
                <a:path w="1150620" h="253364">
                  <a:moveTo>
                    <a:pt x="1024127" y="0"/>
                  </a:moveTo>
                  <a:lnTo>
                    <a:pt x="126492" y="0"/>
                  </a:lnTo>
                  <a:lnTo>
                    <a:pt x="77259" y="9939"/>
                  </a:lnTo>
                  <a:lnTo>
                    <a:pt x="37052" y="37047"/>
                  </a:lnTo>
                  <a:lnTo>
                    <a:pt x="9941" y="77254"/>
                  </a:lnTo>
                  <a:lnTo>
                    <a:pt x="0" y="126491"/>
                  </a:lnTo>
                  <a:lnTo>
                    <a:pt x="9941" y="175729"/>
                  </a:lnTo>
                  <a:lnTo>
                    <a:pt x="37052" y="215936"/>
                  </a:lnTo>
                  <a:lnTo>
                    <a:pt x="77259" y="243044"/>
                  </a:lnTo>
                  <a:lnTo>
                    <a:pt x="126492" y="252983"/>
                  </a:lnTo>
                  <a:lnTo>
                    <a:pt x="1024127" y="252983"/>
                  </a:lnTo>
                  <a:lnTo>
                    <a:pt x="1073360" y="243044"/>
                  </a:lnTo>
                  <a:lnTo>
                    <a:pt x="1113567" y="215936"/>
                  </a:lnTo>
                  <a:lnTo>
                    <a:pt x="1140678" y="175729"/>
                  </a:lnTo>
                  <a:lnTo>
                    <a:pt x="1150620" y="126491"/>
                  </a:lnTo>
                  <a:lnTo>
                    <a:pt x="1140678" y="77254"/>
                  </a:lnTo>
                  <a:lnTo>
                    <a:pt x="1113567" y="37047"/>
                  </a:lnTo>
                  <a:lnTo>
                    <a:pt x="1073360" y="9939"/>
                  </a:lnTo>
                  <a:lnTo>
                    <a:pt x="1024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005327" y="5641848"/>
              <a:ext cx="1150620" cy="253365"/>
            </a:xfrm>
            <a:custGeom>
              <a:avLst/>
              <a:gdLst/>
              <a:ahLst/>
              <a:cxnLst/>
              <a:rect l="l" t="t" r="r" b="b"/>
              <a:pathLst>
                <a:path w="1150620" h="253364">
                  <a:moveTo>
                    <a:pt x="0" y="126491"/>
                  </a:moveTo>
                  <a:lnTo>
                    <a:pt x="9941" y="77254"/>
                  </a:lnTo>
                  <a:lnTo>
                    <a:pt x="37052" y="37047"/>
                  </a:lnTo>
                  <a:lnTo>
                    <a:pt x="77259" y="9939"/>
                  </a:lnTo>
                  <a:lnTo>
                    <a:pt x="126492" y="0"/>
                  </a:lnTo>
                  <a:lnTo>
                    <a:pt x="1024127" y="0"/>
                  </a:lnTo>
                  <a:lnTo>
                    <a:pt x="1073360" y="9939"/>
                  </a:lnTo>
                  <a:lnTo>
                    <a:pt x="1113567" y="37047"/>
                  </a:lnTo>
                  <a:lnTo>
                    <a:pt x="1140678" y="77254"/>
                  </a:lnTo>
                  <a:lnTo>
                    <a:pt x="1150620" y="126491"/>
                  </a:lnTo>
                  <a:lnTo>
                    <a:pt x="1140678" y="175729"/>
                  </a:lnTo>
                  <a:lnTo>
                    <a:pt x="1113567" y="215936"/>
                  </a:lnTo>
                  <a:lnTo>
                    <a:pt x="1073360" y="243044"/>
                  </a:lnTo>
                  <a:lnTo>
                    <a:pt x="1024127" y="252983"/>
                  </a:lnTo>
                  <a:lnTo>
                    <a:pt x="126492" y="252983"/>
                  </a:lnTo>
                  <a:lnTo>
                    <a:pt x="77259" y="243044"/>
                  </a:lnTo>
                  <a:lnTo>
                    <a:pt x="37052" y="215936"/>
                  </a:lnTo>
                  <a:lnTo>
                    <a:pt x="9941" y="175729"/>
                  </a:lnTo>
                  <a:lnTo>
                    <a:pt x="0" y="126491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1479" y="5603748"/>
              <a:ext cx="1264920" cy="36581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50435" y="5570220"/>
              <a:ext cx="1207020" cy="47552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253483" y="5635752"/>
              <a:ext cx="1150620" cy="251460"/>
            </a:xfrm>
            <a:custGeom>
              <a:avLst/>
              <a:gdLst/>
              <a:ahLst/>
              <a:cxnLst/>
              <a:rect l="l" t="t" r="r" b="b"/>
              <a:pathLst>
                <a:path w="1150620" h="251460">
                  <a:moveTo>
                    <a:pt x="1024889" y="0"/>
                  </a:moveTo>
                  <a:lnTo>
                    <a:pt x="125729" y="0"/>
                  </a:lnTo>
                  <a:lnTo>
                    <a:pt x="76777" y="9879"/>
                  </a:lnTo>
                  <a:lnTo>
                    <a:pt x="36814" y="36823"/>
                  </a:lnTo>
                  <a:lnTo>
                    <a:pt x="9876" y="76788"/>
                  </a:lnTo>
                  <a:lnTo>
                    <a:pt x="0" y="125730"/>
                  </a:lnTo>
                  <a:lnTo>
                    <a:pt x="9876" y="174671"/>
                  </a:lnTo>
                  <a:lnTo>
                    <a:pt x="36814" y="214636"/>
                  </a:lnTo>
                  <a:lnTo>
                    <a:pt x="76777" y="241580"/>
                  </a:lnTo>
                  <a:lnTo>
                    <a:pt x="125729" y="251460"/>
                  </a:lnTo>
                  <a:lnTo>
                    <a:pt x="1024889" y="251460"/>
                  </a:lnTo>
                  <a:lnTo>
                    <a:pt x="1073842" y="241580"/>
                  </a:lnTo>
                  <a:lnTo>
                    <a:pt x="1113805" y="214636"/>
                  </a:lnTo>
                  <a:lnTo>
                    <a:pt x="1140743" y="174671"/>
                  </a:lnTo>
                  <a:lnTo>
                    <a:pt x="1150619" y="125730"/>
                  </a:lnTo>
                  <a:lnTo>
                    <a:pt x="1140743" y="76788"/>
                  </a:lnTo>
                  <a:lnTo>
                    <a:pt x="1113805" y="36823"/>
                  </a:lnTo>
                  <a:lnTo>
                    <a:pt x="1073842" y="9879"/>
                  </a:lnTo>
                  <a:lnTo>
                    <a:pt x="1024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253483" y="5635752"/>
              <a:ext cx="1150620" cy="251460"/>
            </a:xfrm>
            <a:custGeom>
              <a:avLst/>
              <a:gdLst/>
              <a:ahLst/>
              <a:cxnLst/>
              <a:rect l="l" t="t" r="r" b="b"/>
              <a:pathLst>
                <a:path w="1150620" h="251460">
                  <a:moveTo>
                    <a:pt x="0" y="125730"/>
                  </a:moveTo>
                  <a:lnTo>
                    <a:pt x="9876" y="76788"/>
                  </a:lnTo>
                  <a:lnTo>
                    <a:pt x="36814" y="36823"/>
                  </a:lnTo>
                  <a:lnTo>
                    <a:pt x="76777" y="9879"/>
                  </a:lnTo>
                  <a:lnTo>
                    <a:pt x="125729" y="0"/>
                  </a:lnTo>
                  <a:lnTo>
                    <a:pt x="1024889" y="0"/>
                  </a:lnTo>
                  <a:lnTo>
                    <a:pt x="1073842" y="9879"/>
                  </a:lnTo>
                  <a:lnTo>
                    <a:pt x="1113805" y="36823"/>
                  </a:lnTo>
                  <a:lnTo>
                    <a:pt x="1140743" y="76788"/>
                  </a:lnTo>
                  <a:lnTo>
                    <a:pt x="1150619" y="125730"/>
                  </a:lnTo>
                  <a:lnTo>
                    <a:pt x="1140743" y="174671"/>
                  </a:lnTo>
                  <a:lnTo>
                    <a:pt x="1113805" y="214636"/>
                  </a:lnTo>
                  <a:lnTo>
                    <a:pt x="1073842" y="241580"/>
                  </a:lnTo>
                  <a:lnTo>
                    <a:pt x="1024889" y="251460"/>
                  </a:lnTo>
                  <a:lnTo>
                    <a:pt x="125729" y="251460"/>
                  </a:lnTo>
                  <a:lnTo>
                    <a:pt x="76777" y="241580"/>
                  </a:lnTo>
                  <a:lnTo>
                    <a:pt x="36814" y="214636"/>
                  </a:lnTo>
                  <a:lnTo>
                    <a:pt x="9876" y="174671"/>
                  </a:lnTo>
                  <a:lnTo>
                    <a:pt x="0" y="125730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73323" y="5922264"/>
              <a:ext cx="1264920" cy="36732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28771" y="5890260"/>
              <a:ext cx="951001" cy="48157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005327" y="5954268"/>
              <a:ext cx="1150620" cy="253365"/>
            </a:xfrm>
            <a:custGeom>
              <a:avLst/>
              <a:gdLst/>
              <a:ahLst/>
              <a:cxnLst/>
              <a:rect l="l" t="t" r="r" b="b"/>
              <a:pathLst>
                <a:path w="1150620" h="253364">
                  <a:moveTo>
                    <a:pt x="1024127" y="0"/>
                  </a:moveTo>
                  <a:lnTo>
                    <a:pt x="126492" y="0"/>
                  </a:lnTo>
                  <a:lnTo>
                    <a:pt x="77259" y="9939"/>
                  </a:lnTo>
                  <a:lnTo>
                    <a:pt x="37052" y="37047"/>
                  </a:lnTo>
                  <a:lnTo>
                    <a:pt x="9941" y="77254"/>
                  </a:lnTo>
                  <a:lnTo>
                    <a:pt x="0" y="126491"/>
                  </a:lnTo>
                  <a:lnTo>
                    <a:pt x="9941" y="175729"/>
                  </a:lnTo>
                  <a:lnTo>
                    <a:pt x="37052" y="215936"/>
                  </a:lnTo>
                  <a:lnTo>
                    <a:pt x="77259" y="243044"/>
                  </a:lnTo>
                  <a:lnTo>
                    <a:pt x="126492" y="252983"/>
                  </a:lnTo>
                  <a:lnTo>
                    <a:pt x="1024127" y="252983"/>
                  </a:lnTo>
                  <a:lnTo>
                    <a:pt x="1073360" y="243044"/>
                  </a:lnTo>
                  <a:lnTo>
                    <a:pt x="1113567" y="215936"/>
                  </a:lnTo>
                  <a:lnTo>
                    <a:pt x="1140678" y="175729"/>
                  </a:lnTo>
                  <a:lnTo>
                    <a:pt x="1150620" y="126491"/>
                  </a:lnTo>
                  <a:lnTo>
                    <a:pt x="1140678" y="77254"/>
                  </a:lnTo>
                  <a:lnTo>
                    <a:pt x="1113567" y="37047"/>
                  </a:lnTo>
                  <a:lnTo>
                    <a:pt x="1073360" y="9939"/>
                  </a:lnTo>
                  <a:lnTo>
                    <a:pt x="1024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05327" y="5954268"/>
              <a:ext cx="1150620" cy="253365"/>
            </a:xfrm>
            <a:custGeom>
              <a:avLst/>
              <a:gdLst/>
              <a:ahLst/>
              <a:cxnLst/>
              <a:rect l="l" t="t" r="r" b="b"/>
              <a:pathLst>
                <a:path w="1150620" h="253364">
                  <a:moveTo>
                    <a:pt x="0" y="126491"/>
                  </a:moveTo>
                  <a:lnTo>
                    <a:pt x="9941" y="77254"/>
                  </a:lnTo>
                  <a:lnTo>
                    <a:pt x="37052" y="37047"/>
                  </a:lnTo>
                  <a:lnTo>
                    <a:pt x="77259" y="9939"/>
                  </a:lnTo>
                  <a:lnTo>
                    <a:pt x="126492" y="0"/>
                  </a:lnTo>
                  <a:lnTo>
                    <a:pt x="1024127" y="0"/>
                  </a:lnTo>
                  <a:lnTo>
                    <a:pt x="1073360" y="9939"/>
                  </a:lnTo>
                  <a:lnTo>
                    <a:pt x="1113567" y="37047"/>
                  </a:lnTo>
                  <a:lnTo>
                    <a:pt x="1140678" y="77254"/>
                  </a:lnTo>
                  <a:lnTo>
                    <a:pt x="1150620" y="126491"/>
                  </a:lnTo>
                  <a:lnTo>
                    <a:pt x="1140678" y="175729"/>
                  </a:lnTo>
                  <a:lnTo>
                    <a:pt x="1113567" y="215936"/>
                  </a:lnTo>
                  <a:lnTo>
                    <a:pt x="1073360" y="243044"/>
                  </a:lnTo>
                  <a:lnTo>
                    <a:pt x="1024127" y="252983"/>
                  </a:lnTo>
                  <a:lnTo>
                    <a:pt x="126492" y="252983"/>
                  </a:lnTo>
                  <a:lnTo>
                    <a:pt x="77259" y="243044"/>
                  </a:lnTo>
                  <a:lnTo>
                    <a:pt x="37052" y="215936"/>
                  </a:lnTo>
                  <a:lnTo>
                    <a:pt x="9941" y="175729"/>
                  </a:lnTo>
                  <a:lnTo>
                    <a:pt x="0" y="126491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3223260" y="5541670"/>
            <a:ext cx="2064385" cy="65024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75"/>
              </a:spcBef>
              <a:tabLst>
                <a:tab pos="1159510" algn="l"/>
              </a:tabLst>
            </a:pPr>
            <a:r>
              <a:rPr dirty="0" sz="1400">
                <a:latin typeface="Microsoft JhengHei"/>
                <a:cs typeface="Microsoft JhengHei"/>
              </a:rPr>
              <a:t>業務參</a:t>
            </a:r>
            <a:r>
              <a:rPr dirty="0" sz="1400" spc="-50">
                <a:latin typeface="Microsoft JhengHei"/>
                <a:cs typeface="Microsoft JhengHei"/>
              </a:rPr>
              <a:t>數</a:t>
            </a:r>
            <a:r>
              <a:rPr dirty="0" sz="1400">
                <a:latin typeface="Microsoft JhengHei"/>
                <a:cs typeface="Microsoft JhengHei"/>
              </a:rPr>
              <a:t>	</a:t>
            </a:r>
            <a:r>
              <a:rPr dirty="0" baseline="1984" sz="2100">
                <a:latin typeface="Microsoft JhengHei"/>
                <a:cs typeface="Microsoft JhengHei"/>
              </a:rPr>
              <a:t>模組化設</a:t>
            </a:r>
            <a:r>
              <a:rPr dirty="0" baseline="1984" sz="2100" spc="-75">
                <a:latin typeface="Microsoft JhengHei"/>
                <a:cs typeface="Microsoft JhengHei"/>
              </a:rPr>
              <a:t>計</a:t>
            </a:r>
            <a:endParaRPr baseline="1984" sz="2100">
              <a:latin typeface="Microsoft JhengHei"/>
              <a:cs typeface="Microsoft JhengHei"/>
            </a:endParaRPr>
          </a:p>
          <a:p>
            <a:pPr marL="39370">
              <a:lnSpc>
                <a:spcPct val="100000"/>
              </a:lnSpc>
              <a:spcBef>
                <a:spcPts val="780"/>
              </a:spcBef>
            </a:pPr>
            <a:r>
              <a:rPr dirty="0" sz="1400" spc="-50">
                <a:latin typeface="Calibri"/>
                <a:cs typeface="Calibri"/>
              </a:rPr>
              <a:t>RPA</a:t>
            </a:r>
            <a:r>
              <a:rPr dirty="0" sz="1400" spc="-25">
                <a:latin typeface="Microsoft JhengHei"/>
                <a:cs typeface="Microsoft JhengHei"/>
              </a:rPr>
              <a:t>應用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174235" y="5916167"/>
            <a:ext cx="1358265" cy="475615"/>
            <a:chOff x="4174235" y="5916167"/>
            <a:chExt cx="1358265" cy="475615"/>
          </a:xfrm>
        </p:grpSpPr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21479" y="5943599"/>
              <a:ext cx="1264920" cy="36732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74235" y="5916167"/>
              <a:ext cx="1357884" cy="47552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253483" y="5975603"/>
              <a:ext cx="1150620" cy="253365"/>
            </a:xfrm>
            <a:custGeom>
              <a:avLst/>
              <a:gdLst/>
              <a:ahLst/>
              <a:cxnLst/>
              <a:rect l="l" t="t" r="r" b="b"/>
              <a:pathLst>
                <a:path w="1150620" h="253364">
                  <a:moveTo>
                    <a:pt x="1024127" y="0"/>
                  </a:moveTo>
                  <a:lnTo>
                    <a:pt x="126491" y="0"/>
                  </a:lnTo>
                  <a:lnTo>
                    <a:pt x="77259" y="9939"/>
                  </a:lnTo>
                  <a:lnTo>
                    <a:pt x="37052" y="37047"/>
                  </a:lnTo>
                  <a:lnTo>
                    <a:pt x="9941" y="77254"/>
                  </a:lnTo>
                  <a:lnTo>
                    <a:pt x="0" y="126492"/>
                  </a:lnTo>
                  <a:lnTo>
                    <a:pt x="9941" y="175729"/>
                  </a:lnTo>
                  <a:lnTo>
                    <a:pt x="37052" y="215936"/>
                  </a:lnTo>
                  <a:lnTo>
                    <a:pt x="77259" y="243044"/>
                  </a:lnTo>
                  <a:lnTo>
                    <a:pt x="126491" y="252984"/>
                  </a:lnTo>
                  <a:lnTo>
                    <a:pt x="1024127" y="252984"/>
                  </a:lnTo>
                  <a:lnTo>
                    <a:pt x="1073360" y="243044"/>
                  </a:lnTo>
                  <a:lnTo>
                    <a:pt x="1113567" y="215936"/>
                  </a:lnTo>
                  <a:lnTo>
                    <a:pt x="1140678" y="175729"/>
                  </a:lnTo>
                  <a:lnTo>
                    <a:pt x="1150619" y="126492"/>
                  </a:lnTo>
                  <a:lnTo>
                    <a:pt x="1140678" y="77254"/>
                  </a:lnTo>
                  <a:lnTo>
                    <a:pt x="1113567" y="37047"/>
                  </a:lnTo>
                  <a:lnTo>
                    <a:pt x="1073360" y="9939"/>
                  </a:lnTo>
                  <a:lnTo>
                    <a:pt x="1024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253483" y="5975603"/>
              <a:ext cx="1150620" cy="253365"/>
            </a:xfrm>
            <a:custGeom>
              <a:avLst/>
              <a:gdLst/>
              <a:ahLst/>
              <a:cxnLst/>
              <a:rect l="l" t="t" r="r" b="b"/>
              <a:pathLst>
                <a:path w="1150620" h="253364">
                  <a:moveTo>
                    <a:pt x="0" y="126492"/>
                  </a:moveTo>
                  <a:lnTo>
                    <a:pt x="9941" y="77254"/>
                  </a:lnTo>
                  <a:lnTo>
                    <a:pt x="37052" y="37047"/>
                  </a:lnTo>
                  <a:lnTo>
                    <a:pt x="77259" y="9939"/>
                  </a:lnTo>
                  <a:lnTo>
                    <a:pt x="126491" y="0"/>
                  </a:lnTo>
                  <a:lnTo>
                    <a:pt x="1024127" y="0"/>
                  </a:lnTo>
                  <a:lnTo>
                    <a:pt x="1073360" y="9939"/>
                  </a:lnTo>
                  <a:lnTo>
                    <a:pt x="1113567" y="37047"/>
                  </a:lnTo>
                  <a:lnTo>
                    <a:pt x="1140678" y="77254"/>
                  </a:lnTo>
                  <a:lnTo>
                    <a:pt x="1150619" y="126492"/>
                  </a:lnTo>
                  <a:lnTo>
                    <a:pt x="1140678" y="175729"/>
                  </a:lnTo>
                  <a:lnTo>
                    <a:pt x="1113567" y="215936"/>
                  </a:lnTo>
                  <a:lnTo>
                    <a:pt x="1073360" y="243044"/>
                  </a:lnTo>
                  <a:lnTo>
                    <a:pt x="1024127" y="252984"/>
                  </a:lnTo>
                  <a:lnTo>
                    <a:pt x="126491" y="252984"/>
                  </a:lnTo>
                  <a:lnTo>
                    <a:pt x="77259" y="243044"/>
                  </a:lnTo>
                  <a:lnTo>
                    <a:pt x="37052" y="215936"/>
                  </a:lnTo>
                  <a:lnTo>
                    <a:pt x="9941" y="175729"/>
                  </a:lnTo>
                  <a:lnTo>
                    <a:pt x="0" y="126492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4307078" y="5972047"/>
            <a:ext cx="10547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CM+Workflow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99288" y="5329428"/>
            <a:ext cx="2489200" cy="1044575"/>
            <a:chOff x="399288" y="5329428"/>
            <a:chExt cx="2489200" cy="1044575"/>
          </a:xfrm>
        </p:grpSpPr>
        <p:sp>
          <p:nvSpPr>
            <p:cNvPr id="71" name="object 71"/>
            <p:cNvSpPr/>
            <p:nvPr/>
          </p:nvSpPr>
          <p:spPr>
            <a:xfrm>
              <a:off x="399288" y="5329428"/>
              <a:ext cx="2447925" cy="972819"/>
            </a:xfrm>
            <a:custGeom>
              <a:avLst/>
              <a:gdLst/>
              <a:ahLst/>
              <a:cxnLst/>
              <a:rect l="l" t="t" r="r" b="b"/>
              <a:pathLst>
                <a:path w="2447925" h="972820">
                  <a:moveTo>
                    <a:pt x="2447544" y="0"/>
                  </a:moveTo>
                  <a:lnTo>
                    <a:pt x="0" y="0"/>
                  </a:lnTo>
                  <a:lnTo>
                    <a:pt x="0" y="972312"/>
                  </a:lnTo>
                  <a:lnTo>
                    <a:pt x="2447544" y="972312"/>
                  </a:lnTo>
                  <a:lnTo>
                    <a:pt x="2447544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8136" y="5329428"/>
              <a:ext cx="1082802" cy="45491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3672" y="5609844"/>
              <a:ext cx="1266443" cy="36732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0936" y="5577840"/>
              <a:ext cx="850417" cy="47552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55676" y="5641848"/>
              <a:ext cx="1152525" cy="253365"/>
            </a:xfrm>
            <a:custGeom>
              <a:avLst/>
              <a:gdLst/>
              <a:ahLst/>
              <a:cxnLst/>
              <a:rect l="l" t="t" r="r" b="b"/>
              <a:pathLst>
                <a:path w="1152525" h="253364">
                  <a:moveTo>
                    <a:pt x="1025651" y="0"/>
                  </a:moveTo>
                  <a:lnTo>
                    <a:pt x="126492" y="0"/>
                  </a:lnTo>
                  <a:lnTo>
                    <a:pt x="77254" y="9939"/>
                  </a:lnTo>
                  <a:lnTo>
                    <a:pt x="37047" y="37047"/>
                  </a:lnTo>
                  <a:lnTo>
                    <a:pt x="9939" y="77254"/>
                  </a:lnTo>
                  <a:lnTo>
                    <a:pt x="0" y="126491"/>
                  </a:lnTo>
                  <a:lnTo>
                    <a:pt x="9939" y="175729"/>
                  </a:lnTo>
                  <a:lnTo>
                    <a:pt x="37047" y="215936"/>
                  </a:lnTo>
                  <a:lnTo>
                    <a:pt x="77254" y="243044"/>
                  </a:lnTo>
                  <a:lnTo>
                    <a:pt x="126492" y="252983"/>
                  </a:lnTo>
                  <a:lnTo>
                    <a:pt x="1025651" y="252983"/>
                  </a:lnTo>
                  <a:lnTo>
                    <a:pt x="1074884" y="243044"/>
                  </a:lnTo>
                  <a:lnTo>
                    <a:pt x="1115091" y="215936"/>
                  </a:lnTo>
                  <a:lnTo>
                    <a:pt x="1142202" y="175729"/>
                  </a:lnTo>
                  <a:lnTo>
                    <a:pt x="1152144" y="126491"/>
                  </a:lnTo>
                  <a:lnTo>
                    <a:pt x="1142202" y="77254"/>
                  </a:lnTo>
                  <a:lnTo>
                    <a:pt x="1115091" y="37047"/>
                  </a:lnTo>
                  <a:lnTo>
                    <a:pt x="1074884" y="9939"/>
                  </a:lnTo>
                  <a:lnTo>
                    <a:pt x="1025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55676" y="5641848"/>
              <a:ext cx="1152525" cy="253365"/>
            </a:xfrm>
            <a:custGeom>
              <a:avLst/>
              <a:gdLst/>
              <a:ahLst/>
              <a:cxnLst/>
              <a:rect l="l" t="t" r="r" b="b"/>
              <a:pathLst>
                <a:path w="1152525" h="253364">
                  <a:moveTo>
                    <a:pt x="0" y="126491"/>
                  </a:moveTo>
                  <a:lnTo>
                    <a:pt x="9939" y="77254"/>
                  </a:lnTo>
                  <a:lnTo>
                    <a:pt x="37047" y="37047"/>
                  </a:lnTo>
                  <a:lnTo>
                    <a:pt x="77254" y="9939"/>
                  </a:lnTo>
                  <a:lnTo>
                    <a:pt x="126492" y="0"/>
                  </a:lnTo>
                  <a:lnTo>
                    <a:pt x="1025651" y="0"/>
                  </a:lnTo>
                  <a:lnTo>
                    <a:pt x="1074884" y="9939"/>
                  </a:lnTo>
                  <a:lnTo>
                    <a:pt x="1115091" y="37047"/>
                  </a:lnTo>
                  <a:lnTo>
                    <a:pt x="1142202" y="77254"/>
                  </a:lnTo>
                  <a:lnTo>
                    <a:pt x="1152144" y="126491"/>
                  </a:lnTo>
                  <a:lnTo>
                    <a:pt x="1142202" y="175729"/>
                  </a:lnTo>
                  <a:lnTo>
                    <a:pt x="1115091" y="215936"/>
                  </a:lnTo>
                  <a:lnTo>
                    <a:pt x="1074884" y="243044"/>
                  </a:lnTo>
                  <a:lnTo>
                    <a:pt x="1025651" y="252983"/>
                  </a:lnTo>
                  <a:lnTo>
                    <a:pt x="126492" y="252983"/>
                  </a:lnTo>
                  <a:lnTo>
                    <a:pt x="77254" y="243044"/>
                  </a:lnTo>
                  <a:lnTo>
                    <a:pt x="37047" y="215936"/>
                  </a:lnTo>
                  <a:lnTo>
                    <a:pt x="9939" y="175729"/>
                  </a:lnTo>
                  <a:lnTo>
                    <a:pt x="0" y="126491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1535" y="5609844"/>
              <a:ext cx="1266444" cy="36732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33955" y="5582412"/>
              <a:ext cx="640118" cy="47552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653540" y="5641848"/>
              <a:ext cx="1152525" cy="253365"/>
            </a:xfrm>
            <a:custGeom>
              <a:avLst/>
              <a:gdLst/>
              <a:ahLst/>
              <a:cxnLst/>
              <a:rect l="l" t="t" r="r" b="b"/>
              <a:pathLst>
                <a:path w="1152525" h="253364">
                  <a:moveTo>
                    <a:pt x="1025652" y="0"/>
                  </a:moveTo>
                  <a:lnTo>
                    <a:pt x="126492" y="0"/>
                  </a:lnTo>
                  <a:lnTo>
                    <a:pt x="77259" y="9939"/>
                  </a:lnTo>
                  <a:lnTo>
                    <a:pt x="37052" y="37047"/>
                  </a:lnTo>
                  <a:lnTo>
                    <a:pt x="9941" y="77254"/>
                  </a:lnTo>
                  <a:lnTo>
                    <a:pt x="0" y="126491"/>
                  </a:lnTo>
                  <a:lnTo>
                    <a:pt x="9941" y="175729"/>
                  </a:lnTo>
                  <a:lnTo>
                    <a:pt x="37052" y="215936"/>
                  </a:lnTo>
                  <a:lnTo>
                    <a:pt x="77259" y="243044"/>
                  </a:lnTo>
                  <a:lnTo>
                    <a:pt x="126492" y="252983"/>
                  </a:lnTo>
                  <a:lnTo>
                    <a:pt x="1025652" y="252983"/>
                  </a:lnTo>
                  <a:lnTo>
                    <a:pt x="1074884" y="243044"/>
                  </a:lnTo>
                  <a:lnTo>
                    <a:pt x="1115091" y="215936"/>
                  </a:lnTo>
                  <a:lnTo>
                    <a:pt x="1142202" y="175729"/>
                  </a:lnTo>
                  <a:lnTo>
                    <a:pt x="1152144" y="126491"/>
                  </a:lnTo>
                  <a:lnTo>
                    <a:pt x="1142202" y="77254"/>
                  </a:lnTo>
                  <a:lnTo>
                    <a:pt x="1115091" y="37047"/>
                  </a:lnTo>
                  <a:lnTo>
                    <a:pt x="1074884" y="9939"/>
                  </a:lnTo>
                  <a:lnTo>
                    <a:pt x="1025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653540" y="5641848"/>
              <a:ext cx="1152525" cy="253365"/>
            </a:xfrm>
            <a:custGeom>
              <a:avLst/>
              <a:gdLst/>
              <a:ahLst/>
              <a:cxnLst/>
              <a:rect l="l" t="t" r="r" b="b"/>
              <a:pathLst>
                <a:path w="1152525" h="253364">
                  <a:moveTo>
                    <a:pt x="0" y="126491"/>
                  </a:moveTo>
                  <a:lnTo>
                    <a:pt x="9941" y="77254"/>
                  </a:lnTo>
                  <a:lnTo>
                    <a:pt x="37052" y="37047"/>
                  </a:lnTo>
                  <a:lnTo>
                    <a:pt x="77259" y="9939"/>
                  </a:lnTo>
                  <a:lnTo>
                    <a:pt x="126492" y="0"/>
                  </a:lnTo>
                  <a:lnTo>
                    <a:pt x="1025652" y="0"/>
                  </a:lnTo>
                  <a:lnTo>
                    <a:pt x="1074884" y="9939"/>
                  </a:lnTo>
                  <a:lnTo>
                    <a:pt x="1115091" y="37047"/>
                  </a:lnTo>
                  <a:lnTo>
                    <a:pt x="1142202" y="77254"/>
                  </a:lnTo>
                  <a:lnTo>
                    <a:pt x="1152144" y="126491"/>
                  </a:lnTo>
                  <a:lnTo>
                    <a:pt x="1142202" y="175729"/>
                  </a:lnTo>
                  <a:lnTo>
                    <a:pt x="1115091" y="215936"/>
                  </a:lnTo>
                  <a:lnTo>
                    <a:pt x="1074884" y="243044"/>
                  </a:lnTo>
                  <a:lnTo>
                    <a:pt x="1025652" y="252983"/>
                  </a:lnTo>
                  <a:lnTo>
                    <a:pt x="126492" y="252983"/>
                  </a:lnTo>
                  <a:lnTo>
                    <a:pt x="77259" y="243044"/>
                  </a:lnTo>
                  <a:lnTo>
                    <a:pt x="37052" y="215936"/>
                  </a:lnTo>
                  <a:lnTo>
                    <a:pt x="9941" y="175729"/>
                  </a:lnTo>
                  <a:lnTo>
                    <a:pt x="0" y="126491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2604" y="5926836"/>
              <a:ext cx="1266444" cy="36581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75588" y="5897880"/>
              <a:ext cx="757415" cy="47552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054607" y="5958840"/>
              <a:ext cx="1152525" cy="251460"/>
            </a:xfrm>
            <a:custGeom>
              <a:avLst/>
              <a:gdLst/>
              <a:ahLst/>
              <a:cxnLst/>
              <a:rect l="l" t="t" r="r" b="b"/>
              <a:pathLst>
                <a:path w="1152525" h="251460">
                  <a:moveTo>
                    <a:pt x="1026414" y="0"/>
                  </a:moveTo>
                  <a:lnTo>
                    <a:pt x="125729" y="0"/>
                  </a:lnTo>
                  <a:lnTo>
                    <a:pt x="76788" y="9879"/>
                  </a:lnTo>
                  <a:lnTo>
                    <a:pt x="36823" y="36823"/>
                  </a:lnTo>
                  <a:lnTo>
                    <a:pt x="9879" y="76788"/>
                  </a:lnTo>
                  <a:lnTo>
                    <a:pt x="0" y="125730"/>
                  </a:lnTo>
                  <a:lnTo>
                    <a:pt x="9879" y="174671"/>
                  </a:lnTo>
                  <a:lnTo>
                    <a:pt x="36823" y="214636"/>
                  </a:lnTo>
                  <a:lnTo>
                    <a:pt x="76788" y="241580"/>
                  </a:lnTo>
                  <a:lnTo>
                    <a:pt x="125729" y="251460"/>
                  </a:lnTo>
                  <a:lnTo>
                    <a:pt x="1026414" y="251460"/>
                  </a:lnTo>
                  <a:lnTo>
                    <a:pt x="1075366" y="241580"/>
                  </a:lnTo>
                  <a:lnTo>
                    <a:pt x="1115329" y="214636"/>
                  </a:lnTo>
                  <a:lnTo>
                    <a:pt x="1142267" y="174671"/>
                  </a:lnTo>
                  <a:lnTo>
                    <a:pt x="1152143" y="125730"/>
                  </a:lnTo>
                  <a:lnTo>
                    <a:pt x="1142267" y="76788"/>
                  </a:lnTo>
                  <a:lnTo>
                    <a:pt x="1115329" y="36823"/>
                  </a:lnTo>
                  <a:lnTo>
                    <a:pt x="1075366" y="9879"/>
                  </a:lnTo>
                  <a:lnTo>
                    <a:pt x="10264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054607" y="5958840"/>
              <a:ext cx="1152525" cy="251460"/>
            </a:xfrm>
            <a:custGeom>
              <a:avLst/>
              <a:gdLst/>
              <a:ahLst/>
              <a:cxnLst/>
              <a:rect l="l" t="t" r="r" b="b"/>
              <a:pathLst>
                <a:path w="1152525" h="251460">
                  <a:moveTo>
                    <a:pt x="0" y="125730"/>
                  </a:moveTo>
                  <a:lnTo>
                    <a:pt x="9879" y="76788"/>
                  </a:lnTo>
                  <a:lnTo>
                    <a:pt x="36823" y="36823"/>
                  </a:lnTo>
                  <a:lnTo>
                    <a:pt x="76788" y="9879"/>
                  </a:lnTo>
                  <a:lnTo>
                    <a:pt x="125729" y="0"/>
                  </a:lnTo>
                  <a:lnTo>
                    <a:pt x="1026414" y="0"/>
                  </a:lnTo>
                  <a:lnTo>
                    <a:pt x="1075366" y="9879"/>
                  </a:lnTo>
                  <a:lnTo>
                    <a:pt x="1115329" y="36823"/>
                  </a:lnTo>
                  <a:lnTo>
                    <a:pt x="1142267" y="76788"/>
                  </a:lnTo>
                  <a:lnTo>
                    <a:pt x="1152143" y="125730"/>
                  </a:lnTo>
                  <a:lnTo>
                    <a:pt x="1142267" y="174671"/>
                  </a:lnTo>
                  <a:lnTo>
                    <a:pt x="1115329" y="214636"/>
                  </a:lnTo>
                  <a:lnTo>
                    <a:pt x="1075366" y="241580"/>
                  </a:lnTo>
                  <a:lnTo>
                    <a:pt x="1026414" y="251460"/>
                  </a:lnTo>
                  <a:lnTo>
                    <a:pt x="125729" y="251460"/>
                  </a:lnTo>
                  <a:lnTo>
                    <a:pt x="76788" y="241580"/>
                  </a:lnTo>
                  <a:lnTo>
                    <a:pt x="36823" y="214636"/>
                  </a:lnTo>
                  <a:lnTo>
                    <a:pt x="9879" y="174671"/>
                  </a:lnTo>
                  <a:lnTo>
                    <a:pt x="0" y="125730"/>
                  </a:lnTo>
                  <a:close/>
                </a:path>
              </a:pathLst>
            </a:custGeom>
            <a:ln w="12192">
              <a:solidFill>
                <a:srgbClr val="0047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399288" y="5329428"/>
            <a:ext cx="2447925" cy="972819"/>
          </a:xfrm>
          <a:prstGeom prst="rect">
            <a:avLst/>
          </a:prstGeom>
          <a:ln w="12191">
            <a:solidFill>
              <a:srgbClr val="004782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dirty="0" sz="1600" spc="-35" b="1">
                <a:solidFill>
                  <a:srgbClr val="FFFFFF"/>
                </a:solidFill>
                <a:latin typeface="Microsoft JhengHei"/>
                <a:cs typeface="Microsoft JhengHei"/>
              </a:rPr>
              <a:t>人機介面</a:t>
            </a:r>
            <a:endParaRPr sz="1600">
              <a:latin typeface="Microsoft JhengHei"/>
              <a:cs typeface="Microsoft JhengHei"/>
            </a:endParaRPr>
          </a:p>
          <a:p>
            <a:pPr marL="364490">
              <a:lnSpc>
                <a:spcPct val="100000"/>
              </a:lnSpc>
              <a:spcBef>
                <a:spcPts val="135"/>
              </a:spcBef>
              <a:tabLst>
                <a:tab pos="1666875" algn="l"/>
              </a:tabLst>
            </a:pPr>
            <a:r>
              <a:rPr dirty="0" sz="1400">
                <a:latin typeface="Microsoft JhengHei"/>
                <a:cs typeface="Microsoft JhengHei"/>
              </a:rPr>
              <a:t>全通</a:t>
            </a:r>
            <a:r>
              <a:rPr dirty="0" sz="1400" spc="-50">
                <a:latin typeface="Microsoft JhengHei"/>
                <a:cs typeface="Microsoft JhengHei"/>
              </a:rPr>
              <a:t>路</a:t>
            </a:r>
            <a:r>
              <a:rPr dirty="0" sz="1400">
                <a:latin typeface="Microsoft JhengHei"/>
                <a:cs typeface="Microsoft JhengHei"/>
              </a:rPr>
              <a:t>	</a:t>
            </a:r>
            <a:r>
              <a:rPr dirty="0" sz="1400" spc="-25">
                <a:latin typeface="Calibri"/>
                <a:cs typeface="Calibri"/>
              </a:rPr>
              <a:t>O2O</a:t>
            </a:r>
            <a:endParaRPr sz="1400">
              <a:latin typeface="Calibri"/>
              <a:cs typeface="Calibri"/>
            </a:endParaRPr>
          </a:p>
          <a:p>
            <a:pPr algn="ctr" marL="12700">
              <a:lnSpc>
                <a:spcPct val="100000"/>
              </a:lnSpc>
              <a:spcBef>
                <a:spcPts val="795"/>
              </a:spcBef>
            </a:pPr>
            <a:r>
              <a:rPr dirty="0" sz="1400" spc="-10">
                <a:latin typeface="Calibri"/>
                <a:cs typeface="Calibri"/>
              </a:rPr>
              <a:t>GenAI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5542788" y="5329428"/>
            <a:ext cx="6300470" cy="972819"/>
            <a:chOff x="5542788" y="5329428"/>
            <a:chExt cx="6300470" cy="972819"/>
          </a:xfrm>
        </p:grpSpPr>
        <p:sp>
          <p:nvSpPr>
            <p:cNvPr id="87" name="object 87"/>
            <p:cNvSpPr/>
            <p:nvPr/>
          </p:nvSpPr>
          <p:spPr>
            <a:xfrm>
              <a:off x="5542788" y="5329428"/>
              <a:ext cx="6300470" cy="972819"/>
            </a:xfrm>
            <a:custGeom>
              <a:avLst/>
              <a:gdLst/>
              <a:ahLst/>
              <a:cxnLst/>
              <a:rect l="l" t="t" r="r" b="b"/>
              <a:pathLst>
                <a:path w="6300470" h="972820">
                  <a:moveTo>
                    <a:pt x="6300216" y="0"/>
                  </a:moveTo>
                  <a:lnTo>
                    <a:pt x="0" y="0"/>
                  </a:lnTo>
                  <a:lnTo>
                    <a:pt x="0" y="972312"/>
                  </a:lnTo>
                  <a:lnTo>
                    <a:pt x="6300216" y="972312"/>
                  </a:lnTo>
                  <a:lnTo>
                    <a:pt x="6300216" y="0"/>
                  </a:lnTo>
                  <a:close/>
                </a:path>
              </a:pathLst>
            </a:custGeom>
            <a:solidFill>
              <a:srgbClr val="0064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27036" y="5329428"/>
              <a:ext cx="677418" cy="45491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32420" y="5335524"/>
              <a:ext cx="526542" cy="45491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186927" y="5329428"/>
              <a:ext cx="1690877" cy="45491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657088" y="5728716"/>
              <a:ext cx="6054852" cy="493776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5542788" y="5329428"/>
            <a:ext cx="6300470" cy="972819"/>
          </a:xfrm>
          <a:prstGeom prst="rect">
            <a:avLst/>
          </a:prstGeom>
          <a:ln w="12192">
            <a:solidFill>
              <a:srgbClr val="004782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490"/>
              </a:spcBef>
            </a:pPr>
            <a:r>
              <a:rPr dirty="0" sz="1600" spc="-25" b="1">
                <a:solidFill>
                  <a:srgbClr val="FFFFFF"/>
                </a:solidFill>
                <a:latin typeface="Microsoft JhengHei"/>
                <a:cs typeface="Microsoft JhengHei"/>
              </a:rPr>
              <a:t>資料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/AI</a:t>
            </a:r>
            <a:r>
              <a:rPr dirty="0" sz="16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應用與資料治理</a:t>
            </a:r>
            <a:endParaRPr sz="1600">
              <a:latin typeface="Microsoft JhengHei"/>
              <a:cs typeface="Microsoft JhengHei"/>
            </a:endParaRPr>
          </a:p>
          <a:p>
            <a:pPr algn="ctr" marL="197485" marR="206375">
              <a:lnSpc>
                <a:spcPts val="1639"/>
              </a:lnSpc>
              <a:spcBef>
                <a:spcPts val="1335"/>
              </a:spcBef>
              <a:tabLst>
                <a:tab pos="751205" algn="l"/>
                <a:tab pos="1303655" algn="l"/>
                <a:tab pos="1857375" algn="l"/>
                <a:tab pos="2409825" algn="l"/>
                <a:tab pos="2962910" algn="l"/>
                <a:tab pos="3515995" algn="l"/>
                <a:tab pos="4069079" algn="l"/>
                <a:tab pos="4622165" algn="l"/>
                <a:tab pos="5175250" algn="l"/>
                <a:tab pos="5728335" algn="l"/>
              </a:tabLst>
            </a:pPr>
            <a:r>
              <a:rPr dirty="0" baseline="1984" sz="2100" b="1">
                <a:latin typeface="Microsoft JhengHei"/>
                <a:cs typeface="Microsoft JhengHei"/>
              </a:rPr>
              <a:t>客</a:t>
            </a:r>
            <a:r>
              <a:rPr dirty="0" baseline="1984" sz="2100" spc="-75" b="1">
                <a:latin typeface="Microsoft JhengHei"/>
                <a:cs typeface="Microsoft JhengHei"/>
              </a:rPr>
              <a:t>戶</a:t>
            </a:r>
            <a:r>
              <a:rPr dirty="0" baseline="1984" sz="2100" b="1">
                <a:latin typeface="Microsoft JhengHei"/>
                <a:cs typeface="Microsoft JhengHei"/>
              </a:rPr>
              <a:t>	</a:t>
            </a:r>
            <a:r>
              <a:rPr dirty="0" sz="1400" b="1">
                <a:latin typeface="Microsoft JhengHei"/>
                <a:cs typeface="Microsoft JhengHei"/>
              </a:rPr>
              <a:t>精</a:t>
            </a:r>
            <a:r>
              <a:rPr dirty="0" sz="1400" spc="-50" b="1">
                <a:latin typeface="Microsoft JhengHei"/>
                <a:cs typeface="Microsoft JhengHei"/>
              </a:rPr>
              <a:t>準</a:t>
            </a:r>
            <a:r>
              <a:rPr dirty="0" sz="1400" b="1">
                <a:latin typeface="Microsoft JhengHei"/>
                <a:cs typeface="Microsoft JhengHei"/>
              </a:rPr>
              <a:t>	產</a:t>
            </a:r>
            <a:r>
              <a:rPr dirty="0" sz="1400" spc="-50" b="1">
                <a:latin typeface="Microsoft JhengHei"/>
                <a:cs typeface="Microsoft JhengHei"/>
              </a:rPr>
              <a:t>品</a:t>
            </a:r>
            <a:r>
              <a:rPr dirty="0" sz="1400" b="1">
                <a:latin typeface="Microsoft JhengHei"/>
                <a:cs typeface="Microsoft JhengHei"/>
              </a:rPr>
              <a:t>	財</a:t>
            </a:r>
            <a:r>
              <a:rPr dirty="0" sz="1400" spc="-50" b="1">
                <a:latin typeface="Microsoft JhengHei"/>
                <a:cs typeface="Microsoft JhengHei"/>
              </a:rPr>
              <a:t>富</a:t>
            </a:r>
            <a:r>
              <a:rPr dirty="0" sz="1400" b="1">
                <a:latin typeface="Microsoft JhengHei"/>
                <a:cs typeface="Microsoft JhengHei"/>
              </a:rPr>
              <a:t>	風</a:t>
            </a:r>
            <a:r>
              <a:rPr dirty="0" sz="1400" spc="-50" b="1">
                <a:latin typeface="Microsoft JhengHei"/>
                <a:cs typeface="Microsoft JhengHei"/>
              </a:rPr>
              <a:t>險</a:t>
            </a:r>
            <a:r>
              <a:rPr dirty="0" sz="1400" b="1">
                <a:latin typeface="Microsoft JhengHei"/>
                <a:cs typeface="Microsoft JhengHei"/>
              </a:rPr>
              <a:t>	智</a:t>
            </a:r>
            <a:r>
              <a:rPr dirty="0" sz="1400" spc="-50" b="1">
                <a:latin typeface="Microsoft JhengHei"/>
                <a:cs typeface="Microsoft JhengHei"/>
              </a:rPr>
              <a:t>能</a:t>
            </a:r>
            <a:r>
              <a:rPr dirty="0" sz="1400" b="1">
                <a:latin typeface="Microsoft JhengHei"/>
                <a:cs typeface="Microsoft JhengHei"/>
              </a:rPr>
              <a:t>	策</a:t>
            </a:r>
            <a:r>
              <a:rPr dirty="0" sz="1400" spc="-50" b="1">
                <a:latin typeface="Microsoft JhengHei"/>
                <a:cs typeface="Microsoft JhengHei"/>
              </a:rPr>
              <a:t>略</a:t>
            </a:r>
            <a:r>
              <a:rPr dirty="0" sz="1400" b="1">
                <a:latin typeface="Microsoft JhengHei"/>
                <a:cs typeface="Microsoft JhengHei"/>
              </a:rPr>
              <a:t>	</a:t>
            </a:r>
            <a:r>
              <a:rPr dirty="0" baseline="1984" sz="2100" b="1">
                <a:latin typeface="Microsoft JhengHei"/>
                <a:cs typeface="Microsoft JhengHei"/>
              </a:rPr>
              <a:t>政</a:t>
            </a:r>
            <a:r>
              <a:rPr dirty="0" baseline="1984" sz="2100" spc="-75" b="1">
                <a:latin typeface="Microsoft JhengHei"/>
                <a:cs typeface="Microsoft JhengHei"/>
              </a:rPr>
              <a:t>策</a:t>
            </a:r>
            <a:r>
              <a:rPr dirty="0" baseline="1984" sz="2100" b="1">
                <a:latin typeface="Microsoft JhengHei"/>
                <a:cs typeface="Microsoft JhengHei"/>
              </a:rPr>
              <a:t>	</a:t>
            </a:r>
            <a:r>
              <a:rPr dirty="0" sz="1400" b="1">
                <a:latin typeface="Microsoft JhengHei"/>
                <a:cs typeface="Microsoft JhengHei"/>
              </a:rPr>
              <a:t>常</a:t>
            </a:r>
            <a:r>
              <a:rPr dirty="0" sz="1400" spc="-50" b="1">
                <a:latin typeface="Microsoft JhengHei"/>
                <a:cs typeface="Microsoft JhengHei"/>
              </a:rPr>
              <a:t>見</a:t>
            </a:r>
            <a:r>
              <a:rPr dirty="0" sz="1400" b="1">
                <a:latin typeface="Microsoft JhengHei"/>
                <a:cs typeface="Microsoft JhengHei"/>
              </a:rPr>
              <a:t>	</a:t>
            </a:r>
            <a:r>
              <a:rPr dirty="0" baseline="1984" sz="2100" b="1">
                <a:latin typeface="Microsoft JhengHei"/>
                <a:cs typeface="Microsoft JhengHei"/>
              </a:rPr>
              <a:t>影</a:t>
            </a:r>
            <a:r>
              <a:rPr dirty="0" baseline="1984" sz="2100" spc="-75" b="1">
                <a:latin typeface="Microsoft JhengHei"/>
                <a:cs typeface="Microsoft JhengHei"/>
              </a:rPr>
              <a:t>音</a:t>
            </a:r>
            <a:r>
              <a:rPr dirty="0" baseline="1984" sz="2100" b="1">
                <a:latin typeface="Microsoft JhengHei"/>
                <a:cs typeface="Microsoft JhengHei"/>
              </a:rPr>
              <a:t>	業</a:t>
            </a:r>
            <a:r>
              <a:rPr dirty="0" baseline="1984" sz="2100" spc="-75" b="1">
                <a:latin typeface="Microsoft JhengHei"/>
                <a:cs typeface="Microsoft JhengHei"/>
              </a:rPr>
              <a:t>務</a:t>
            </a:r>
            <a:r>
              <a:rPr dirty="0" sz="1400" b="1">
                <a:latin typeface="Microsoft JhengHei"/>
                <a:cs typeface="Microsoft JhengHei"/>
              </a:rPr>
              <a:t>管</a:t>
            </a:r>
            <a:r>
              <a:rPr dirty="0" sz="1400" spc="-50" b="1">
                <a:latin typeface="Microsoft JhengHei"/>
                <a:cs typeface="Microsoft JhengHei"/>
              </a:rPr>
              <a:t>理</a:t>
            </a:r>
            <a:r>
              <a:rPr dirty="0" sz="1400" b="1">
                <a:latin typeface="Microsoft JhengHei"/>
                <a:cs typeface="Microsoft JhengHei"/>
              </a:rPr>
              <a:t>	行</a:t>
            </a:r>
            <a:r>
              <a:rPr dirty="0" sz="1400" spc="-50" b="1">
                <a:latin typeface="Microsoft JhengHei"/>
                <a:cs typeface="Microsoft JhengHei"/>
              </a:rPr>
              <a:t>銷</a:t>
            </a:r>
            <a:r>
              <a:rPr dirty="0" sz="1400" b="1">
                <a:latin typeface="Microsoft JhengHei"/>
                <a:cs typeface="Microsoft JhengHei"/>
              </a:rPr>
              <a:t>	管</a:t>
            </a:r>
            <a:r>
              <a:rPr dirty="0" sz="1400" spc="-50" b="1">
                <a:latin typeface="Microsoft JhengHei"/>
                <a:cs typeface="Microsoft JhengHei"/>
              </a:rPr>
              <a:t>理</a:t>
            </a:r>
            <a:r>
              <a:rPr dirty="0" sz="1400" b="1">
                <a:latin typeface="Microsoft JhengHei"/>
                <a:cs typeface="Microsoft JhengHei"/>
              </a:rPr>
              <a:t>	管</a:t>
            </a:r>
            <a:r>
              <a:rPr dirty="0" sz="1400" spc="-50" b="1">
                <a:latin typeface="Microsoft JhengHei"/>
                <a:cs typeface="Microsoft JhengHei"/>
              </a:rPr>
              <a:t>理</a:t>
            </a:r>
            <a:r>
              <a:rPr dirty="0" sz="1400" b="1">
                <a:latin typeface="Microsoft JhengHei"/>
                <a:cs typeface="Microsoft JhengHei"/>
              </a:rPr>
              <a:t>	管</a:t>
            </a:r>
            <a:r>
              <a:rPr dirty="0" sz="1400" spc="-50" b="1">
                <a:latin typeface="Microsoft JhengHei"/>
                <a:cs typeface="Microsoft JhengHei"/>
              </a:rPr>
              <a:t>理</a:t>
            </a:r>
            <a:r>
              <a:rPr dirty="0" sz="1400" b="1">
                <a:latin typeface="Microsoft JhengHei"/>
                <a:cs typeface="Microsoft JhengHei"/>
              </a:rPr>
              <a:t>	投</a:t>
            </a:r>
            <a:r>
              <a:rPr dirty="0" sz="1400" spc="-50" b="1">
                <a:latin typeface="Microsoft JhengHei"/>
                <a:cs typeface="Microsoft JhengHei"/>
              </a:rPr>
              <a:t>研</a:t>
            </a:r>
            <a:r>
              <a:rPr dirty="0" sz="1400" b="1">
                <a:latin typeface="Microsoft JhengHei"/>
                <a:cs typeface="Microsoft JhengHei"/>
              </a:rPr>
              <a:t>	輔</a:t>
            </a:r>
            <a:r>
              <a:rPr dirty="0" sz="1400" spc="-50" b="1">
                <a:latin typeface="Microsoft JhengHei"/>
                <a:cs typeface="Microsoft JhengHei"/>
              </a:rPr>
              <a:t>助</a:t>
            </a:r>
            <a:r>
              <a:rPr dirty="0" sz="1400" b="1">
                <a:latin typeface="Microsoft JhengHei"/>
                <a:cs typeface="Microsoft JhengHei"/>
              </a:rPr>
              <a:t>	法</a:t>
            </a:r>
            <a:r>
              <a:rPr dirty="0" sz="1400" spc="-50" b="1">
                <a:latin typeface="Microsoft JhengHei"/>
                <a:cs typeface="Microsoft JhengHei"/>
              </a:rPr>
              <a:t>規</a:t>
            </a:r>
            <a:r>
              <a:rPr dirty="0" sz="1400" b="1">
                <a:latin typeface="Microsoft JhengHei"/>
                <a:cs typeface="Microsoft JhengHei"/>
              </a:rPr>
              <a:t>	問</a:t>
            </a:r>
            <a:r>
              <a:rPr dirty="0" sz="1400" spc="-50" b="1">
                <a:latin typeface="Microsoft JhengHei"/>
                <a:cs typeface="Microsoft JhengHei"/>
              </a:rPr>
              <a:t>答</a:t>
            </a:r>
            <a:r>
              <a:rPr dirty="0" sz="1400" b="1">
                <a:latin typeface="Microsoft JhengHei"/>
                <a:cs typeface="Microsoft JhengHei"/>
              </a:rPr>
              <a:t>	視</a:t>
            </a:r>
            <a:r>
              <a:rPr dirty="0" sz="1400" spc="-50" b="1">
                <a:latin typeface="Microsoft JhengHei"/>
                <a:cs typeface="Microsoft JhengHei"/>
              </a:rPr>
              <a:t>頻</a:t>
            </a:r>
            <a:r>
              <a:rPr dirty="0" sz="1400" b="1">
                <a:latin typeface="Microsoft JhengHei"/>
                <a:cs typeface="Microsoft JhengHei"/>
              </a:rPr>
              <a:t>	管</a:t>
            </a:r>
            <a:r>
              <a:rPr dirty="0" sz="1400" spc="-50" b="1">
                <a:latin typeface="Microsoft JhengHei"/>
                <a:cs typeface="Microsoft JhengHei"/>
              </a:rPr>
              <a:t>理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43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10214864" y="6547053"/>
            <a:ext cx="2571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25">
                <a:latin typeface="Calibri"/>
                <a:cs typeface="Calibri"/>
              </a:rPr>
              <a:t>43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2026-08-28T01:54:59Z</dcterms:created>
  <dcterms:modified xsi:type="dcterms:W3CDTF">2026-08-28T01:54:59Z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2026-08-28T00:00:00Z</vt:filetime>
  </property>
  <property fmtid="{D5CDD505-2E9C-101B-9397-08002B2CF9AE}" pid="5" name="Producer">
    <vt:lpwstr>pdf-lib (https://github.com/Hopding/pdf-lib)</vt:lpwstr>
  </property>
</Properties>
</file>