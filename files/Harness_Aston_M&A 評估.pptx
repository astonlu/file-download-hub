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ags/tag2.xml" ContentType="application/vnd.openxmlformats-officedocument.presentationml.tags+xml"/>
  <Override PartName="/ppt/theme/themeOverride1.xml" ContentType="application/vnd.openxmlformats-officedocument.themeOverr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2.xml" ContentType="application/vnd.openxmlformats-officedocument.theme+xml"/>
  <Override PartName="/ppt/tags/tag15.xml" ContentType="application/vnd.openxmlformats-officedocument.presentationml.tags+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ags/tag16.xml" ContentType="application/vnd.openxmlformats-officedocument.presentationml.tags+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theme/themeOverride17.xml" ContentType="application/vnd.openxmlformats-officedocument.themeOverride+xml"/>
  <Override PartName="/ppt/theme/themeOverride18.xml" ContentType="application/vnd.openxmlformats-officedocument.themeOverride+xml"/>
  <Override PartName="/ppt/theme/themeOverride19.xml" ContentType="application/vnd.openxmlformats-officedocument.themeOverride+xml"/>
  <Override PartName="/ppt/theme/themeOverride20.xml" ContentType="application/vnd.openxmlformats-officedocument.themeOverride+xml"/>
  <Override PartName="/ppt/theme/themeOverride21.xml" ContentType="application/vnd.openxmlformats-officedocument.themeOverride+xml"/>
  <Override PartName="/ppt/theme/themeOverride22.xml" ContentType="application/vnd.openxmlformats-officedocument.themeOverride+xml"/>
  <Override PartName="/ppt/theme/themeOverride23.xml" ContentType="application/vnd.openxmlformats-officedocument.themeOverride+xml"/>
  <Override PartName="/ppt/tags/tag17.xml" ContentType="application/vnd.openxmlformats-officedocument.presentationml.tags+xml"/>
  <Override PartName="/ppt/theme/themeOverride24.xml" ContentType="application/vnd.openxmlformats-officedocument.themeOverride+xml"/>
  <Override PartName="/ppt/theme/themeOverride25.xml" ContentType="application/vnd.openxmlformats-officedocument.themeOverride+xml"/>
  <Override PartName="/ppt/theme/themeOverride26.xml" ContentType="application/vnd.openxmlformats-officedocument.themeOverride+xml"/>
  <Override PartName="/ppt/theme/themeOverride27.xml" ContentType="application/vnd.openxmlformats-officedocument.themeOverride+xml"/>
  <Override PartName="/ppt/theme/themeOverride28.xml" ContentType="application/vnd.openxmlformats-officedocument.themeOverride+xml"/>
  <Override PartName="/ppt/theme/themeOverride29.xml" ContentType="application/vnd.openxmlformats-officedocument.themeOverr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heme/themeOverride30.xml" ContentType="application/vnd.openxmlformats-officedocument.themeOverride+xml"/>
  <Override PartName="/ppt/theme/themeOverride31.xml" ContentType="application/vnd.openxmlformats-officedocument.themeOverride+xml"/>
  <Override PartName="/ppt/tags/tag21.xml" ContentType="application/vnd.openxmlformats-officedocument.presentationml.tags+xml"/>
  <Override PartName="/ppt/tags/tag22.xml" ContentType="application/vnd.openxmlformats-officedocument.presentationml.tags+xml"/>
  <Override PartName="/ppt/theme/themeOverride32.xml" ContentType="application/vnd.openxmlformats-officedocument.themeOverride+xml"/>
  <Override PartName="/ppt/tags/tag23.xml" ContentType="application/vnd.openxmlformats-officedocument.presentationml.tags+xml"/>
  <Override PartName="/ppt/theme/themeOverride33.xml" ContentType="application/vnd.openxmlformats-officedocument.themeOverride+xml"/>
  <Override PartName="/ppt/tags/tag24.xml" ContentType="application/vnd.openxmlformats-officedocument.presentationml.tags+xml"/>
  <Override PartName="/ppt/theme/themeOverride34.xml" ContentType="application/vnd.openxmlformats-officedocument.themeOverride+xml"/>
  <Override PartName="/ppt/tags/tag25.xml" ContentType="application/vnd.openxmlformats-officedocument.presentationml.tags+xml"/>
  <Override PartName="/ppt/theme/themeOverride35.xml" ContentType="application/vnd.openxmlformats-officedocument.themeOverride+xml"/>
  <Override PartName="/ppt/tags/tag26.xml" ContentType="application/vnd.openxmlformats-officedocument.presentationml.tags+xml"/>
  <Override PartName="/ppt/tags/tag27.xml" ContentType="application/vnd.openxmlformats-officedocument.presentationml.tags+xml"/>
  <Override PartName="/ppt/theme/themeOverride36.xml" ContentType="application/vnd.openxmlformats-officedocument.themeOverride+xml"/>
  <Override PartName="/ppt/tags/tag28.xml" ContentType="application/vnd.openxmlformats-officedocument.presentationml.tags+xml"/>
  <Override PartName="/ppt/theme/themeOverride37.xml" ContentType="application/vnd.openxmlformats-officedocument.themeOverride+xml"/>
  <Override PartName="/ppt/tags/tag29.xml" ContentType="application/vnd.openxmlformats-officedocument.presentationml.tags+xml"/>
  <Override PartName="/ppt/theme/themeOverride38.xml" ContentType="application/vnd.openxmlformats-officedocument.themeOverride+xml"/>
  <Override PartName="/ppt/tags/tag30.xml" ContentType="application/vnd.openxmlformats-officedocument.presentationml.tags+xml"/>
  <Override PartName="/ppt/theme/themeOverride39.xml" ContentType="application/vnd.openxmlformats-officedocument.themeOverride+xml"/>
  <Override PartName="/ppt/tags/tag31.xml" ContentType="application/vnd.openxmlformats-officedocument.presentationml.tags+xml"/>
  <Override PartName="/ppt/theme/themeOverride40.xml" ContentType="application/vnd.openxmlformats-officedocument.themeOverride+xml"/>
  <Override PartName="/ppt/tags/tag32.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17" r:id="rId4"/>
    <p:sldMasterId id="2147485192" r:id="rId5"/>
  </p:sldMasterIdLst>
  <p:notesMasterIdLst>
    <p:notesMasterId r:id="rId9"/>
  </p:notesMasterIdLst>
  <p:handoutMasterIdLst>
    <p:handoutMasterId r:id="rId10"/>
  </p:handoutMasterIdLst>
  <p:sldIdLst>
    <p:sldId id="2147473097" r:id="rId6"/>
    <p:sldId id="2147473104" r:id="rId7"/>
    <p:sldId id="2147473105" r:id="rId8"/>
  </p:sldIdLst>
  <p:sldSz cx="12192000" cy="6858000"/>
  <p:notesSz cx="6950075" cy="9236075"/>
  <p:custShowLst>
    <p:custShow name="Format Guide Workshop" id="0">
      <p:sldLst/>
    </p:custShow>
  </p:custShowLst>
  <p:custDataLst>
    <p:tags r:id="rId1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9CA08AE-6537-492A-8CEA-132F5CAB1DCC}">
          <p14:sldIdLst>
            <p14:sldId id="2147473097"/>
            <p14:sldId id="2147473104"/>
            <p14:sldId id="2147473105"/>
          </p14:sldIdLst>
        </p14:section>
        <p14:section name="reference material" id="{1AF59FB2-211F-4D83-9E10-5E210AD4CB30}">
          <p14:sldIdLst/>
        </p14:section>
      </p14:sectionLst>
    </p:ext>
    <p:ext uri="{EFAFB233-063F-42B5-8137-9DF3F51BA10A}">
      <p15:sldGuideLst xmlns:p15="http://schemas.microsoft.com/office/powerpoint/2012/main">
        <p15:guide id="3" orient="horz" pos="360" userDrawn="1">
          <p15:clr>
            <a:srgbClr val="A4A3A4"/>
          </p15:clr>
        </p15:guide>
        <p15:guide id="4" pos="7680" userDrawn="1">
          <p15:clr>
            <a:srgbClr val="A4A3A4"/>
          </p15:clr>
        </p15:guide>
        <p15:guide id="5" pos="3840" userDrawn="1">
          <p15:clr>
            <a:srgbClr val="A4A3A4"/>
          </p15:clr>
        </p15:guide>
        <p15:guide id="6" orient="horz" pos="365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DFED6"/>
    <a:srgbClr val="FBFCA9"/>
    <a:srgbClr val="EBC5D0"/>
    <a:srgbClr val="000000"/>
    <a:srgbClr val="E2E2E5"/>
    <a:srgbClr val="C4D6F5"/>
    <a:srgbClr val="122C61"/>
    <a:srgbClr val="565656"/>
    <a:srgbClr val="D9D9D9"/>
    <a:srgbClr val="2A6B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434"/>
    <p:restoredTop sz="96165"/>
  </p:normalViewPr>
  <p:slideViewPr>
    <p:cSldViewPr snapToGrid="0">
      <p:cViewPr varScale="1">
        <p:scale>
          <a:sx n="110" d="100"/>
          <a:sy n="110" d="100"/>
        </p:scale>
        <p:origin x="1182" y="114"/>
      </p:cViewPr>
      <p:guideLst>
        <p:guide orient="horz" pos="360"/>
        <p:guide pos="7680"/>
        <p:guide pos="3840"/>
        <p:guide orient="horz" pos="3657"/>
      </p:guideLst>
    </p:cSldViewPr>
  </p:slideViewPr>
  <p:notesTextViewPr>
    <p:cViewPr>
      <p:scale>
        <a:sx n="1" d="1"/>
        <a:sy n="1" d="1"/>
      </p:scale>
      <p:origin x="0" y="0"/>
    </p:cViewPr>
  </p:notesTextViewPr>
  <p:sorterViewPr>
    <p:cViewPr>
      <p:scale>
        <a:sx n="75" d="100"/>
        <a:sy n="75" d="100"/>
      </p:scale>
      <p:origin x="0" y="-2064"/>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gs" Target="tags/tag1.xml"/><Relationship Id="rId5" Type="http://schemas.openxmlformats.org/officeDocument/2006/relationships/slideMaster" Target="slideMasters/slideMaster2.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9/18/2026</a:t>
            </a:fld>
            <a:endParaRPr lang="en-US" sz="80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a:t>Notes view: </a:t>
            </a:r>
            <a:fld id="{128CEAFE-FA94-43E5-B0FF-D47E1CCDD1B4}" type="slidenum">
              <a:rPr lang="en-US" smtClean="0"/>
              <a:pPr/>
              <a:t>‹#›</a:t>
            </a:fld>
            <a:endParaRPr lang="en-US"/>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9/18/2026</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4.jpg"/><Relationship Id="rId3" Type="http://schemas.openxmlformats.org/officeDocument/2006/relationships/tags" Target="../tags/tag4.xml"/><Relationship Id="rId7" Type="http://schemas.openxmlformats.org/officeDocument/2006/relationships/image" Target="../media/image3.png"/><Relationship Id="rId2" Type="http://schemas.openxmlformats.org/officeDocument/2006/relationships/tags" Target="../tags/tag3.xml"/><Relationship Id="rId1" Type="http://schemas.openxmlformats.org/officeDocument/2006/relationships/themeOverride" Target="../theme/themeOverride1.xml"/><Relationship Id="rId6" Type="http://schemas.openxmlformats.org/officeDocument/2006/relationships/image" Target="../media/image2.emf"/><Relationship Id="rId5" Type="http://schemas.openxmlformats.org/officeDocument/2006/relationships/oleObject" Target="../embeddings/oleObject2.bin"/><Relationship Id="rId10" Type="http://schemas.openxmlformats.org/officeDocument/2006/relationships/image" Target="../media/image6.svg"/><Relationship Id="rId4" Type="http://schemas.openxmlformats.org/officeDocument/2006/relationships/slideMaster" Target="../slideMasters/slideMaster1.xml"/><Relationship Id="rId9"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7.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6.xml"/><Relationship Id="rId5" Type="http://schemas.openxmlformats.org/officeDocument/2006/relationships/image" Target="../media/image11.png"/><Relationship Id="rId4" Type="http://schemas.openxmlformats.org/officeDocument/2006/relationships/image" Target="../media/image10.emf"/></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7.xml"/><Relationship Id="rId5" Type="http://schemas.openxmlformats.org/officeDocument/2006/relationships/image" Target="../media/image12.png"/><Relationship Id="rId4" Type="http://schemas.openxmlformats.org/officeDocument/2006/relationships/image" Target="../media/image10.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Master" Target="../slideMasters/slideMaster1.xml"/><Relationship Id="rId1" Type="http://schemas.openxmlformats.org/officeDocument/2006/relationships/tags" Target="../tags/tag8.xml"/><Relationship Id="rId5" Type="http://schemas.openxmlformats.org/officeDocument/2006/relationships/image" Target="../media/image2.emf"/><Relationship Id="rId4" Type="http://schemas.openxmlformats.org/officeDocument/2006/relationships/oleObject" Target="../embeddings/oleObject5.bin"/></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11.xml"/><Relationship Id="rId7" Type="http://schemas.openxmlformats.org/officeDocument/2006/relationships/image" Target="../media/image2.emf"/><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oleObject" Target="../embeddings/oleObject6.bin"/><Relationship Id="rId5" Type="http://schemas.openxmlformats.org/officeDocument/2006/relationships/slideMaster" Target="../slideMasters/slideMaster1.xml"/><Relationship Id="rId4" Type="http://schemas.openxmlformats.org/officeDocument/2006/relationships/tags" Target="../tags/tag12.xml"/><Relationship Id="rId9" Type="http://schemas.openxmlformats.org/officeDocument/2006/relationships/image" Target="../media/image13.jpe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13.xml"/><Relationship Id="rId5" Type="http://schemas.openxmlformats.org/officeDocument/2006/relationships/image" Target="../media/image8.png"/><Relationship Id="rId4" Type="http://schemas.openxmlformats.org/officeDocument/2006/relationships/image" Target="../media/image10.emf"/></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14.xml"/><Relationship Id="rId5" Type="http://schemas.openxmlformats.org/officeDocument/2006/relationships/image" Target="../media/image12.png"/><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xml"/></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3.xml"/></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4.xml"/></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5.xml"/></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6.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2.xml"/><Relationship Id="rId1" Type="http://schemas.openxmlformats.org/officeDocument/2006/relationships/themeOverride" Target="../theme/themeOverride7.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2.xml"/><Relationship Id="rId1" Type="http://schemas.openxmlformats.org/officeDocument/2006/relationships/themeOverride" Target="../theme/themeOverride8.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2.xml"/><Relationship Id="rId1" Type="http://schemas.openxmlformats.org/officeDocument/2006/relationships/themeOverride" Target="../theme/themeOverride9.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2.xml"/><Relationship Id="rId1" Type="http://schemas.openxmlformats.org/officeDocument/2006/relationships/themeOverride" Target="../theme/themeOverride10.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2.xml"/><Relationship Id="rId1" Type="http://schemas.openxmlformats.org/officeDocument/2006/relationships/themeOverride" Target="../theme/themeOverride11.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2.xml"/><Relationship Id="rId1" Type="http://schemas.openxmlformats.org/officeDocument/2006/relationships/themeOverride" Target="../theme/themeOverride12.xml"/></Relationships>
</file>

<file path=ppt/slideLayouts/_rels/slideLayout6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6.xml"/><Relationship Id="rId1" Type="http://schemas.openxmlformats.org/officeDocument/2006/relationships/themeOverride" Target="../theme/themeOverride13.xml"/><Relationship Id="rId6" Type="http://schemas.openxmlformats.org/officeDocument/2006/relationships/image" Target="../media/image8.png"/><Relationship Id="rId5" Type="http://schemas.openxmlformats.org/officeDocument/2006/relationships/image" Target="../media/image10.emf"/><Relationship Id="rId4" Type="http://schemas.openxmlformats.org/officeDocument/2006/relationships/oleObject" Target="../embeddings/oleObject4.bin"/></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2.xml"/><Relationship Id="rId1" Type="http://schemas.openxmlformats.org/officeDocument/2006/relationships/themeOverride" Target="../theme/themeOverride14.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2.xml"/><Relationship Id="rId1" Type="http://schemas.openxmlformats.org/officeDocument/2006/relationships/themeOverride" Target="../theme/themeOverride15.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2.xml"/><Relationship Id="rId1" Type="http://schemas.openxmlformats.org/officeDocument/2006/relationships/themeOverride" Target="../theme/themeOverride16.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2.xml"/><Relationship Id="rId1" Type="http://schemas.openxmlformats.org/officeDocument/2006/relationships/themeOverride" Target="../theme/themeOverride17.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2.xml"/><Relationship Id="rId1" Type="http://schemas.openxmlformats.org/officeDocument/2006/relationships/themeOverride" Target="../theme/themeOverride18.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2.xml"/><Relationship Id="rId1" Type="http://schemas.openxmlformats.org/officeDocument/2006/relationships/themeOverride" Target="../theme/themeOverride19.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2.xml"/><Relationship Id="rId1" Type="http://schemas.openxmlformats.org/officeDocument/2006/relationships/themeOverride" Target="../theme/themeOverride20.xml"/></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1.xml"/></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2.xml"/></Relationships>
</file>

<file path=ppt/slideLayouts/_rels/slideLayout7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7.xml"/><Relationship Id="rId1" Type="http://schemas.openxmlformats.org/officeDocument/2006/relationships/themeOverride" Target="../theme/themeOverride23.xml"/><Relationship Id="rId6" Type="http://schemas.openxmlformats.org/officeDocument/2006/relationships/image" Target="../media/image12.png"/><Relationship Id="rId5" Type="http://schemas.openxmlformats.org/officeDocument/2006/relationships/image" Target="../media/image2.emf"/><Relationship Id="rId4" Type="http://schemas.openxmlformats.org/officeDocument/2006/relationships/oleObject" Target="../embeddings/oleObject4.bin"/></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4.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2.xml"/><Relationship Id="rId1" Type="http://schemas.openxmlformats.org/officeDocument/2006/relationships/themeOverride" Target="../theme/themeOverride25.xml"/></Relationships>
</file>

<file path=ppt/slideLayouts/_rels/slideLayout8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6.xml"/></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7.xml"/></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8.xml"/></Relationships>
</file>

<file path=ppt/slideLayouts/_rels/slideLayout85.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tags" Target="../tags/tag19.xml"/><Relationship Id="rId7" Type="http://schemas.openxmlformats.org/officeDocument/2006/relationships/image" Target="../media/image2.emf"/><Relationship Id="rId2" Type="http://schemas.openxmlformats.org/officeDocument/2006/relationships/tags" Target="../tags/tag18.xml"/><Relationship Id="rId1" Type="http://schemas.openxmlformats.org/officeDocument/2006/relationships/themeOverride" Target="../theme/themeOverride29.xml"/><Relationship Id="rId6" Type="http://schemas.openxmlformats.org/officeDocument/2006/relationships/oleObject" Target="../embeddings/oleObject8.bin"/><Relationship Id="rId5" Type="http://schemas.openxmlformats.org/officeDocument/2006/relationships/slideMaster" Target="../slideMasters/slideMaster2.xml"/><Relationship Id="rId4" Type="http://schemas.openxmlformats.org/officeDocument/2006/relationships/tags" Target="../tags/tag20.xml"/></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30.xml"/></Relationships>
</file>

<file path=ppt/slideLayouts/_rels/slideLayout87.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hemeOverride" Target="../theme/themeOverride31.xml"/><Relationship Id="rId6" Type="http://schemas.openxmlformats.org/officeDocument/2006/relationships/image" Target="../media/image1.emf"/><Relationship Id="rId5" Type="http://schemas.openxmlformats.org/officeDocument/2006/relationships/oleObject" Target="../embeddings/oleObject9.bin"/><Relationship Id="rId4"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3.xml"/><Relationship Id="rId1" Type="http://schemas.openxmlformats.org/officeDocument/2006/relationships/themeOverride" Target="../theme/themeOverride32.xml"/><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8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4.xml"/><Relationship Id="rId1" Type="http://schemas.openxmlformats.org/officeDocument/2006/relationships/themeOverride" Target="../theme/themeOverride33.x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9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5.xml"/><Relationship Id="rId1" Type="http://schemas.openxmlformats.org/officeDocument/2006/relationships/themeOverride" Target="../theme/themeOverride34.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2.bin"/></Relationships>
</file>

<file path=ppt/slideLayouts/_rels/slideLayout91.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hemeOverride" Target="../theme/themeOverride35.xml"/><Relationship Id="rId6" Type="http://schemas.openxmlformats.org/officeDocument/2006/relationships/image" Target="../media/image1.emf"/><Relationship Id="rId5" Type="http://schemas.openxmlformats.org/officeDocument/2006/relationships/oleObject" Target="../embeddings/oleObject13.bin"/><Relationship Id="rId4"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8.xml"/><Relationship Id="rId1" Type="http://schemas.openxmlformats.org/officeDocument/2006/relationships/themeOverride" Target="../theme/themeOverride36.xml"/><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9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9.xml"/><Relationship Id="rId1" Type="http://schemas.openxmlformats.org/officeDocument/2006/relationships/themeOverride" Target="../theme/themeOverride37.xml"/><Relationship Id="rId5" Type="http://schemas.openxmlformats.org/officeDocument/2006/relationships/image" Target="../media/image1.emf"/><Relationship Id="rId4" Type="http://schemas.openxmlformats.org/officeDocument/2006/relationships/oleObject" Target="../embeddings/oleObject15.bin"/></Relationships>
</file>

<file path=ppt/slideLayouts/_rels/slideLayout9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0.xml"/><Relationship Id="rId1" Type="http://schemas.openxmlformats.org/officeDocument/2006/relationships/themeOverride" Target="../theme/themeOverride38.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6.bin"/></Relationships>
</file>

<file path=ppt/slideLayouts/_rels/slideLayout9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1.xml"/><Relationship Id="rId1" Type="http://schemas.openxmlformats.org/officeDocument/2006/relationships/themeOverride" Target="../theme/themeOverride39.xml"/><Relationship Id="rId6" Type="http://schemas.openxmlformats.org/officeDocument/2006/relationships/image" Target="../media/image8.png"/><Relationship Id="rId5" Type="http://schemas.openxmlformats.org/officeDocument/2006/relationships/image" Target="../media/image1.emf"/><Relationship Id="rId4" Type="http://schemas.openxmlformats.org/officeDocument/2006/relationships/oleObject" Target="../embeddings/oleObject17.bin"/></Relationships>
</file>

<file path=ppt/slideLayouts/_rels/slideLayout9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2.xml"/><Relationship Id="rId1" Type="http://schemas.openxmlformats.org/officeDocument/2006/relationships/themeOverride" Target="../theme/themeOverride40.xml"/><Relationship Id="rId5" Type="http://schemas.openxmlformats.org/officeDocument/2006/relationships/image" Target="../media/image14.emf"/><Relationship Id="rId4" Type="http://schemas.openxmlformats.org/officeDocument/2006/relationships/oleObject" Target="../embeddings/oleObject18.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bg1"/>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extLst>
              <p:ext uri="{D42A27DB-BD31-4B8C-83A1-F6EECF244321}">
                <p14:modId xmlns:p14="http://schemas.microsoft.com/office/powerpoint/2010/main" val="39856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5" imgW="384" imgH="384" progId="TCLayout.ActiveDocument.1">
                  <p:embed/>
                </p:oleObj>
              </mc:Choice>
              <mc:Fallback>
                <p:oleObj name="thinkcell 幻灯片" r:id="rId5" imgW="384" imgH="384" progId="TCLayout.ActiveDocument.1">
                  <p:embed/>
                  <p:pic>
                    <p:nvPicPr>
                      <p:cNvPr id="4" name="Object 3"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3"/>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7">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9" name="圖片 8">
            <a:extLst>
              <a:ext uri="{FF2B5EF4-FFF2-40B4-BE49-F238E27FC236}">
                <a16:creationId xmlns:a16="http://schemas.microsoft.com/office/drawing/2014/main" id="{34CD0F31-03F6-64FE-AA83-205C40AB8C2C}"/>
              </a:ext>
            </a:extLst>
          </p:cNvPr>
          <p:cNvPicPr>
            <a:picLocks noChangeAspect="1"/>
          </p:cNvPicPr>
          <p:nvPr userDrawn="1"/>
        </p:nvPicPr>
        <p:blipFill>
          <a:blip r:embed="rId8">
            <a:alphaModFix amt="70000"/>
          </a:blip>
          <a:srcRect l="-275" t="5240" r="275" b="19019"/>
          <a:stretch>
            <a:fillRect/>
          </a:stretch>
        </p:blipFill>
        <p:spPr>
          <a:xfrm>
            <a:off x="-33653" y="18871"/>
            <a:ext cx="12224861" cy="520827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a:t>Logo</a:t>
            </a:r>
          </a:p>
        </p:txBody>
      </p:sp>
      <p:sp>
        <p:nvSpPr>
          <p:cNvPr id="21" name="Rectangle 20"/>
          <p:cNvSpPr/>
          <p:nvPr userDrawn="1"/>
        </p:nvSpPr>
        <p:spPr bwMode="black">
          <a:xfrm>
            <a:off x="630936" y="626200"/>
            <a:ext cx="8125200" cy="5529600"/>
          </a:xfrm>
          <a:prstGeom prst="rect">
            <a:avLst/>
          </a:prstGeom>
          <a:gradFill flip="none" rotWithShape="1">
            <a:gsLst>
              <a:gs pos="0">
                <a:schemeClr val="bg1">
                  <a:lumMod val="95000"/>
                  <a:shade val="30000"/>
                  <a:satMod val="115000"/>
                  <a:alpha val="90000"/>
                </a:schemeClr>
              </a:gs>
              <a:gs pos="50000">
                <a:schemeClr val="bg1">
                  <a:lumMod val="95000"/>
                  <a:shade val="67500"/>
                  <a:satMod val="115000"/>
                  <a:alpha val="90000"/>
                </a:schemeClr>
              </a:gs>
              <a:gs pos="100000">
                <a:schemeClr val="bg1">
                  <a:lumMod val="95000"/>
                  <a:shade val="100000"/>
                  <a:satMod val="115000"/>
                  <a:alpha val="9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a:solidFill>
                <a:schemeClr val="tx1"/>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tx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tx1"/>
                </a:solidFill>
                <a:latin typeface="+mj-lt"/>
                <a:sym typeface="Trebuchet MS" panose="020B0603020202020204" pitchFamily="34" charset="0"/>
              </a:defRPr>
            </a:lvl1pPr>
          </a:lstStyle>
          <a:p>
            <a:r>
              <a:rPr lang="en-US"/>
              <a:t>Title in Title Case</a:t>
            </a:r>
          </a:p>
        </p:txBody>
      </p:sp>
      <p:pic>
        <p:nvPicPr>
          <p:cNvPr id="2" name="圖形 1">
            <a:extLst>
              <a:ext uri="{FF2B5EF4-FFF2-40B4-BE49-F238E27FC236}">
                <a16:creationId xmlns:a16="http://schemas.microsoft.com/office/drawing/2014/main" id="{15B34EF8-756E-DAA3-D9A2-B1CBA16D868A}"/>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1117415" y="926099"/>
            <a:ext cx="2031384" cy="507846"/>
          </a:xfrm>
          <a:prstGeom prst="rect">
            <a:avLst/>
          </a:prstGeom>
        </p:spPr>
      </p:pic>
    </p:spTree>
    <p:extLst>
      <p:ext uri="{BB962C8B-B14F-4D97-AF65-F5344CB8AC3E}">
        <p14:creationId xmlns:p14="http://schemas.microsoft.com/office/powerpoint/2010/main" val="15151835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7A3F2CCF-188F-F0F2-2601-181FD5A799D8}"/>
              </a:ext>
            </a:extLst>
          </p:cNvPr>
          <p:cNvGraphicFramePr>
            <a:graphicFrameLocks/>
          </p:cNvGraphicFramePr>
          <p:nvPr userDrawn="1">
            <p:custDataLst>
              <p:tags r:id="rId1"/>
            </p:custDataLst>
            <p:extLst>
              <p:ext uri="{D42A27DB-BD31-4B8C-83A1-F6EECF244321}">
                <p14:modId xmlns:p14="http://schemas.microsoft.com/office/powerpoint/2010/main" val="18854759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4" name="think-cell data - do not delete" hidden="1">
                        <a:extLst>
                          <a:ext uri="{FF2B5EF4-FFF2-40B4-BE49-F238E27FC236}">
                            <a16:creationId xmlns:a16="http://schemas.microsoft.com/office/drawing/2014/main" id="{7A3F2CCF-188F-F0F2-2601-181FD5A799D8}"/>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a:p>
        </p:txBody>
      </p:sp>
      <p:sp>
        <p:nvSpPr>
          <p:cNvPr id="5" name="Title 4"/>
          <p:cNvSpPr>
            <a:spLocks noGrp="1"/>
          </p:cNvSpPr>
          <p:nvPr>
            <p:ph type="title" hasCustomPrompt="1"/>
          </p:nvPr>
        </p:nvSpPr>
        <p:spPr>
          <a:xfrm>
            <a:off x="630000" y="622800"/>
            <a:ext cx="10933200" cy="332399"/>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2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2" name="圖形 1">
            <a:extLst>
              <a:ext uri="{FF2B5EF4-FFF2-40B4-BE49-F238E27FC236}">
                <a16:creationId xmlns:a16="http://schemas.microsoft.com/office/drawing/2014/main" id="{912296C2-D3B9-75AC-D6DB-FE62447E1EF7}"/>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01336" y="6359021"/>
            <a:ext cx="983672" cy="245918"/>
          </a:xfrm>
          <a:prstGeom prst="rect">
            <a:avLst/>
          </a:prstGeom>
        </p:spPr>
      </p:pic>
    </p:spTree>
    <p:extLst>
      <p:ext uri="{BB962C8B-B14F-4D97-AF65-F5344CB8AC3E}">
        <p14:creationId xmlns:p14="http://schemas.microsoft.com/office/powerpoint/2010/main" val="165731206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a:t>Click to add title</a:t>
            </a:r>
          </a:p>
        </p:txBody>
      </p:sp>
    </p:spTree>
    <p:extLst>
      <p:ext uri="{BB962C8B-B14F-4D97-AF65-F5344CB8AC3E}">
        <p14:creationId xmlns:p14="http://schemas.microsoft.com/office/powerpoint/2010/main" val="20527104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a:solidFill>
                  <a:schemeClr val="tx2"/>
                </a:solidFill>
              </a:rPr>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3" imgW="324" imgH="324" progId="TCLayout.ActiveDocument.1">
                  <p:embed/>
                </p:oleObj>
              </mc:Choice>
              <mc:Fallback>
                <p:oleObj name="thinkcell 幻灯片" r:id="rId3" imgW="324" imgH="32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a:t>Click to add title</a:t>
            </a:r>
          </a:p>
        </p:txBody>
      </p:sp>
      <p:pic>
        <p:nvPicPr>
          <p:cNvPr id="15" name="Picture 14"/>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pic>
        <p:nvPicPr>
          <p:cNvPr id="16" name="Picture 1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3" imgW="324" imgH="324" progId="TCLayout.ActiveDocument.1">
                  <p:embed/>
                </p:oleObj>
              </mc:Choice>
              <mc:Fallback>
                <p:oleObj name="thinkcell 幻灯片" r:id="rId3" imgW="324" imgH="32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a:latin typeface="+mn-lt"/>
              <a:sym typeface="Trebuchet MS" panose="020B0603020202020204" pitchFamily="34" charset="0"/>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a:latin typeface="+mn-lt"/>
                <a:sym typeface="Trebuchet MS" panose="020B0603020202020204" pitchFamily="34" charset="0"/>
              </a:rPr>
              <a:t>The services and materials provided by Boston Consulting Group (BCG) are subject to BCG's Standard Terms </a:t>
            </a:r>
            <a:br>
              <a:rPr lang="en-US" sz="900" b="0">
                <a:latin typeface="+mn-lt"/>
                <a:sym typeface="Trebuchet MS" panose="020B0603020202020204" pitchFamily="34" charset="0"/>
              </a:rPr>
            </a:br>
            <a:r>
              <a:rPr lang="en-US" sz="900" b="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a:latin typeface="+mn-lt"/>
                <a:sym typeface="Trebuchet MS" panose="020B0603020202020204" pitchFamily="34" charset="0"/>
              </a:rPr>
            </a:br>
            <a:r>
              <a:rPr lang="en-US" sz="900" b="0">
                <a:latin typeface="+mn-lt"/>
                <a:sym typeface="Trebuchet MS" panose="020B0603020202020204" pitchFamily="34" charset="0"/>
              </a:rPr>
              <a:t>to update these materials after the date hereof, notwithstanding that such information may become outdated </a:t>
            </a:r>
            <a:br>
              <a:rPr lang="en-US" sz="900" b="0">
                <a:latin typeface="+mn-lt"/>
                <a:sym typeface="Trebuchet MS" panose="020B0603020202020204" pitchFamily="34" charset="0"/>
              </a:rPr>
            </a:br>
            <a:r>
              <a:rPr lang="en-US" sz="900" b="0">
                <a:latin typeface="+mn-lt"/>
                <a:sym typeface="Trebuchet MS" panose="020B0603020202020204" pitchFamily="34" charset="0"/>
              </a:rPr>
              <a:t>or inaccurate.</a:t>
            </a:r>
          </a:p>
          <a:p>
            <a:pPr indent="0">
              <a:lnSpc>
                <a:spcPct val="100000"/>
              </a:lnSpc>
            </a:pPr>
            <a:r>
              <a:rPr lang="en-US" sz="900" b="0">
                <a:latin typeface="+mn-lt"/>
                <a:sym typeface="Trebuchet MS" panose="020B0603020202020204" pitchFamily="34" charset="0"/>
              </a:rPr>
              <a:t> </a:t>
            </a:r>
          </a:p>
          <a:p>
            <a:pPr indent="0">
              <a:lnSpc>
                <a:spcPct val="100000"/>
              </a:lnSpc>
            </a:pPr>
            <a:r>
              <a:rPr lang="en-US" sz="900" b="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bg>
      <p:bgPr>
        <a:solidFill>
          <a:schemeClr val="bg1"/>
        </a:solidFill>
        <a:effectLst/>
      </p:bgPr>
    </p:bg>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68A94D52-32AD-E89B-C060-3D3B221548D9}"/>
              </a:ext>
            </a:extLst>
          </p:cNvPr>
          <p:cNvPicPr>
            <a:picLocks noChangeAspect="1"/>
          </p:cNvPicPr>
          <p:nvPr userDrawn="1"/>
        </p:nvPicPr>
        <p:blipFill>
          <a:blip r:embed="rId3">
            <a:alphaModFix amt="70000"/>
          </a:blip>
          <a:stretch>
            <a:fillRect/>
          </a:stretch>
        </p:blipFill>
        <p:spPr>
          <a:xfrm>
            <a:off x="0" y="0"/>
            <a:ext cx="12192000" cy="6858000"/>
          </a:xfrm>
          <a:prstGeom prst="rect">
            <a:avLst/>
          </a:prstGeom>
        </p:spPr>
      </p:pic>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7353693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4" imgW="384" imgH="384" progId="TCLayout.ActiveDocument.1">
                  <p:embed/>
                </p:oleObj>
              </mc:Choice>
              <mc:Fallback>
                <p:oleObj name="thinkcell 幻灯片" r:id="rId4" imgW="384" imgH="384"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Rectangle 7"/>
          <p:cNvSpPr/>
          <p:nvPr userDrawn="1"/>
        </p:nvSpPr>
        <p:spPr bwMode="black">
          <a:xfrm>
            <a:off x="630936" y="626200"/>
            <a:ext cx="8125200" cy="5529600"/>
          </a:xfrm>
          <a:prstGeom prst="rect">
            <a:avLst/>
          </a:prstGeom>
          <a:gradFill flip="none" rotWithShape="1">
            <a:gsLst>
              <a:gs pos="0">
                <a:schemeClr val="bg1">
                  <a:lumMod val="95000"/>
                  <a:shade val="30000"/>
                  <a:satMod val="115000"/>
                  <a:alpha val="80000"/>
                </a:schemeClr>
              </a:gs>
              <a:gs pos="50000">
                <a:schemeClr val="bg1">
                  <a:lumMod val="95000"/>
                  <a:shade val="67500"/>
                  <a:satMod val="115000"/>
                  <a:alpha val="80000"/>
                </a:schemeClr>
              </a:gs>
              <a:gs pos="100000">
                <a:schemeClr val="bg1">
                  <a:lumMod val="95000"/>
                  <a:shade val="100000"/>
                  <a:satMod val="115000"/>
                  <a:alpha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a:solidFill>
                <a:schemeClr val="tx1"/>
              </a:solidFill>
              <a:sym typeface="Trebuchet MS" panose="020B0603020202020204" pitchFamily="34" charset="0"/>
            </a:endParaRPr>
          </a:p>
        </p:txBody>
      </p:sp>
    </p:spTree>
    <p:extLst>
      <p:ext uri="{BB962C8B-B14F-4D97-AF65-F5344CB8AC3E}">
        <p14:creationId xmlns:p14="http://schemas.microsoft.com/office/powerpoint/2010/main" val="36612475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1. </a:t>
              </a:r>
              <a:r>
                <a:rPr kumimoji="0" lang="en-US" sz="1000" b="0" i="0" u="none" strike="noStrike" kern="1200" cap="none" spc="0" normalizeH="0" baseline="0" noProof="0" err="1">
                  <a:ln>
                    <a:noFill/>
                  </a:ln>
                  <a:solidFill>
                    <a:schemeClr val="bg1">
                      <a:lumMod val="50000"/>
                    </a:schemeClr>
                  </a:solidFill>
                  <a:effectLst/>
                  <a:uLnTx/>
                  <a:uFillTx/>
                  <a:latin typeface="+mn-lt"/>
                  <a:ea typeface="+mn-ea"/>
                  <a:cs typeface="+mn-cs"/>
                  <a:sym typeface="Trebuchet MS" panose="020B0603020202020204" pitchFamily="34" charset="0"/>
                </a:rPr>
                <a:t>xxxx</a:t>
              </a: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  2. </a:t>
              </a:r>
              <a:r>
                <a:rPr kumimoji="0" lang="en-US" sz="1000" b="0" i="0" u="none" strike="noStrike" kern="1200" cap="none" spc="0" normalizeH="0" baseline="0" noProof="0" err="1">
                  <a:ln>
                    <a:noFill/>
                  </a:ln>
                  <a:solidFill>
                    <a:schemeClr val="bg1">
                      <a:lumMod val="50000"/>
                    </a:schemeClr>
                  </a:solidFill>
                  <a:effectLst/>
                  <a:uLnTx/>
                  <a:uFillTx/>
                  <a:latin typeface="+mn-lt"/>
                  <a:ea typeface="+mn-ea"/>
                  <a:cs typeface="+mn-cs"/>
                  <a:sym typeface="Trebuchet MS" panose="020B0603020202020204" pitchFamily="34" charset="0"/>
                </a:rPr>
                <a:t>xxxx</a:t>
              </a: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654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6" imgW="384" imgH="384" progId="TCLayout.ActiveDocument.1">
                  <p:embed/>
                </p:oleObj>
              </mc:Choice>
              <mc:Fallback>
                <p:oleObj name="thinkcell 幻灯片" r:id="rId6" imgW="384" imgH="384" progId="TCLayout.ActiveDocument.1">
                  <p:embed/>
                  <p:pic>
                    <p:nvPicPr>
                      <p:cNvPr id="3" name="Object 2"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a:t>Title in Title Case</a:t>
            </a:r>
          </a:p>
        </p:txBody>
      </p:sp>
      <p:sp>
        <p:nvSpPr>
          <p:cNvPr id="13" name="Freeform 1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bg>
      <p:bgPr>
        <a:solidFill>
          <a:schemeClr val="bg1"/>
        </a:solidFill>
        <a:effectLst/>
      </p:bgPr>
    </p:bg>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22206985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40434002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39007530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bg>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solidFill>
          <a:schemeClr val="bg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252236646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solidFill>
          <a:schemeClr val="bg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34829456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solidFill>
          <a:schemeClr val="bg1"/>
        </a:soli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379392254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solidFill>
          <a:schemeClr val="bg1"/>
        </a:soli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06045207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solidFill>
          <a:schemeClr val="bg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19301659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solidFill>
          <a:schemeClr val="bg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29057896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3" imgW="324" imgH="324" progId="TCLayout.ActiveDocument.1">
                  <p:embed/>
                </p:oleObj>
              </mc:Choice>
              <mc:Fallback>
                <p:oleObj name="thinkcell 幻灯片" r:id="rId3" imgW="324" imgH="32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a:solidFill>
                  <a:schemeClr val="tx2"/>
                </a:solidFill>
              </a:rPr>
              <a:t>Click to add title</a:t>
            </a:r>
          </a:p>
        </p:txBody>
      </p:sp>
      <p:pic>
        <p:nvPicPr>
          <p:cNvPr id="12"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21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9979161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solidFill>
          <a:schemeClr val="bg1"/>
        </a:soli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992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58935686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8095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902738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36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849398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solidFill>
          <a:schemeClr val="bg1"/>
        </a:soli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58507585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393619210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3" imgW="384" imgH="384" progId="TCLayout.ActiveDocument.1">
                  <p:embed/>
                </p:oleObj>
              </mc:Choice>
              <mc:Fallback>
                <p:oleObj name="thinkcell 幻灯片" r:id="rId3" imgW="384" imgH="38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a:latin typeface="+mn-lt"/>
              <a:sym typeface="Trebuchet MS" panose="020B0603020202020204" pitchFamily="34" charset="0"/>
            </a:endParaRPr>
          </a:p>
        </p:txBody>
      </p:sp>
    </p:spTree>
    <p:extLst>
      <p:ext uri="{BB962C8B-B14F-4D97-AF65-F5344CB8AC3E}">
        <p14:creationId xmlns:p14="http://schemas.microsoft.com/office/powerpoint/2010/main" val="37419413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bg1"/>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254837553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solidFill>
          <a:schemeClr val="bg1"/>
        </a:soli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0906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solidFill>
          <a:schemeClr val="bg1"/>
        </a:soli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16408276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157118530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bg>
      <p:bgPr>
        <a:solidFill>
          <a:schemeClr val="bg1"/>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a:latin typeface="+mn-lt"/>
                <a:sym typeface="Trebuchet MS" panose="020B0603020202020204" pitchFamily="34" charset="0"/>
              </a:rPr>
              <a:t>The services and materials provided by Boston Consulting Group (BCG) are subject to BCG's Standard Terms </a:t>
            </a:r>
            <a:br>
              <a:rPr lang="en-US" sz="900" b="0">
                <a:latin typeface="+mn-lt"/>
                <a:sym typeface="Trebuchet MS" panose="020B0603020202020204" pitchFamily="34" charset="0"/>
              </a:rPr>
            </a:br>
            <a:r>
              <a:rPr lang="en-US" sz="900" b="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a:latin typeface="+mn-lt"/>
                <a:sym typeface="Trebuchet MS" panose="020B0603020202020204" pitchFamily="34" charset="0"/>
              </a:rPr>
            </a:br>
            <a:r>
              <a:rPr lang="en-US" sz="900" b="0">
                <a:latin typeface="+mn-lt"/>
                <a:sym typeface="Trebuchet MS" panose="020B0603020202020204" pitchFamily="34" charset="0"/>
              </a:rPr>
              <a:t>to update these materials after the date hereof, notwithstanding that such information may become outdated </a:t>
            </a:r>
            <a:br>
              <a:rPr lang="en-US" sz="900" b="0">
                <a:latin typeface="+mn-lt"/>
                <a:sym typeface="Trebuchet MS" panose="020B0603020202020204" pitchFamily="34" charset="0"/>
              </a:rPr>
            </a:br>
            <a:r>
              <a:rPr lang="en-US" sz="900" b="0">
                <a:latin typeface="+mn-lt"/>
                <a:sym typeface="Trebuchet MS" panose="020B0603020202020204" pitchFamily="34" charset="0"/>
              </a:rPr>
              <a:t>or inaccurate.</a:t>
            </a:r>
          </a:p>
          <a:p>
            <a:pPr indent="0">
              <a:lnSpc>
                <a:spcPct val="100000"/>
              </a:lnSpc>
            </a:pPr>
            <a:r>
              <a:rPr lang="en-US" sz="900" b="0">
                <a:latin typeface="+mn-lt"/>
                <a:sym typeface="Trebuchet MS" panose="020B0603020202020204" pitchFamily="34" charset="0"/>
              </a:rPr>
              <a:t> </a:t>
            </a:r>
          </a:p>
          <a:p>
            <a:pPr indent="0">
              <a:lnSpc>
                <a:spcPct val="100000"/>
              </a:lnSpc>
            </a:pPr>
            <a:r>
              <a:rPr lang="en-US" sz="900" b="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a:latin typeface="+mn-lt"/>
                <a:sym typeface="Trebuchet MS" panose="020B0603020202020204" pitchFamily="34" charset="0"/>
              </a:rPr>
            </a:br>
            <a:r>
              <a:rPr lang="en-US" sz="900" b="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a:latin typeface="+mn-lt"/>
                <a:sym typeface="Trebuchet MS" panose="020B0603020202020204" pitchFamily="34" charset="0"/>
              </a:rPr>
              <a:t>BCG does not provide fairness opinions or valuations of market transactions, and these materials should not be relied </a:t>
            </a:r>
            <a:br>
              <a:rPr lang="en-US" sz="900" b="0">
                <a:latin typeface="+mn-lt"/>
                <a:sym typeface="Trebuchet MS" panose="020B0603020202020204" pitchFamily="34" charset="0"/>
              </a:rPr>
            </a:br>
            <a:r>
              <a:rPr lang="en-US" sz="900" b="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a:latin typeface="+mn-lt"/>
                <a:sym typeface="Trebuchet MS" panose="020B0603020202020204" pitchFamily="34" charset="0"/>
              </a:rPr>
            </a:br>
            <a:r>
              <a:rPr lang="en-US" sz="900" b="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241322118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B81753-E729-AEB4-8C64-8D94A0979745}"/>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57B5BC4C-8B3C-8D61-63A2-1F322E4B1959}"/>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36253966-BE86-412D-0020-35037316EA75}"/>
              </a:ext>
            </a:extLst>
          </p:cNvPr>
          <p:cNvSpPr>
            <a:spLocks noGrp="1"/>
          </p:cNvSpPr>
          <p:nvPr>
            <p:ph type="dt" sz="half" idx="10"/>
          </p:nvPr>
        </p:nvSpPr>
        <p:spPr/>
        <p:txBody>
          <a:bodyPr/>
          <a:lstStyle/>
          <a:p>
            <a:endParaRPr lang="en-US"/>
          </a:p>
        </p:txBody>
      </p:sp>
    </p:spTree>
    <p:extLst>
      <p:ext uri="{BB962C8B-B14F-4D97-AF65-F5344CB8AC3E}">
        <p14:creationId xmlns:p14="http://schemas.microsoft.com/office/powerpoint/2010/main" val="22727579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D. Title Only">
    <p:bg>
      <p:bgPr>
        <a:solidFill>
          <a:schemeClr val="bg1"/>
        </a:solidFill>
        <a:effectLst/>
      </p:bgPr>
    </p:bg>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2022 by Boston Consulting Group. All rights reserved.</a:t>
            </a: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45402997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D. Title and Tex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2022 by Boston Consulting Group. All rights reserved.</a:t>
            </a:r>
          </a:p>
        </p:txBody>
      </p:sp>
    </p:spTree>
    <p:extLst>
      <p:ext uri="{BB962C8B-B14F-4D97-AF65-F5344CB8AC3E}">
        <p14:creationId xmlns:p14="http://schemas.microsoft.com/office/powerpoint/2010/main" val="306526097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2022 by Boston Consulting Group. All rights reserved.</a:t>
            </a: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209649034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D. Section header box">
    <p:bg>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2022 by Boston Consulting Group. All rights reserved.</a:t>
            </a: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1307167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62149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solidFill>
          <a:schemeClr val="bg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2022 by Boston Consulting Group. All rights reserved.</a:t>
            </a: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3682677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solidFill>
          <a:schemeClr val="bg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2022 by Boston Consulting Group. All rights reserved.</a:t>
            </a: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7897828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solidFill>
          <a:schemeClr val="bg1"/>
        </a:soli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2022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149153749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solidFill>
          <a:schemeClr val="bg1"/>
        </a:soli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2022 by Boston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9866626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solidFill>
          <a:schemeClr val="bg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2022 by Boston Consulting Group. All rights reserved.</a:t>
            </a:r>
          </a:p>
        </p:txBody>
      </p:sp>
    </p:spTree>
    <p:extLst>
      <p:ext uri="{BB962C8B-B14F-4D97-AF65-F5344CB8AC3E}">
        <p14:creationId xmlns:p14="http://schemas.microsoft.com/office/powerpoint/2010/main" val="157935557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solidFill>
          <a:schemeClr val="bg1"/>
        </a:soli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2022 by Boston Consulting Group. All rights reserved.</a:t>
            </a: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8546773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4" imgW="324" imgH="324" progId="TCLayout.ActiveDocument.1">
                  <p:embed/>
                </p:oleObj>
              </mc:Choice>
              <mc:Fallback>
                <p:oleObj name="thinkcell 幻灯片" r:id="rId4" imgW="324" imgH="324"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2022 by Boston Consulting Group. All rights reserved.</a:t>
            </a: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a:solidFill>
                  <a:schemeClr val="tx2"/>
                </a:solidFill>
              </a:rPr>
              <a:t>Click to add title</a:t>
            </a:r>
          </a:p>
        </p:txBody>
      </p:sp>
      <p:pic>
        <p:nvPicPr>
          <p:cNvPr id="12" name="Picture 11"/>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843674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2022 by Boston Consulting Group. All rights reserved.</a:t>
            </a: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27974393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solidFill>
          <a:schemeClr val="bg1"/>
        </a:soli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2022 by Boston Consulting Group. All rights reserved.</a:t>
            </a: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a:t>Click to add title</a:t>
            </a: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15807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2022 by Boston Consulting Group. All rights reserved.</a:t>
            </a: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95999319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2022 by Boston Consulting Group. All rights reserved.</a:t>
            </a: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96050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2022 by Boston Consulting Group. All rights reserved.</a:t>
            </a:r>
          </a:p>
        </p:txBody>
      </p:sp>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0410845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2022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a:t>Click to add title</a:t>
            </a: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006999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2022 by Boston Consulting Group. All rights reserved.</a:t>
            </a: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400838189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solidFill>
          <a:schemeClr val="bg1"/>
        </a:soli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2022 by Boston Consulting Group. All rights reserved.</a:t>
            </a: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38689686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2022 by Boston Consulting Group.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185776430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4" imgW="384" imgH="384" progId="TCLayout.ActiveDocument.1">
                  <p:embed/>
                </p:oleObj>
              </mc:Choice>
              <mc:Fallback>
                <p:oleObj name="thinkcell 幻灯片" r:id="rId4" imgW="384" imgH="384"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a:p>
        </p:txBody>
      </p:sp>
      <p:pic>
        <p:nvPicPr>
          <p:cNvPr id="7" name="Picture 6"/>
          <p:cNvPicPr>
            <a:picLocks noChangeAspect="1"/>
          </p:cNvPicPr>
          <p:nvPr userDrawn="1"/>
        </p:nvPicPr>
        <p:blipFill rotWithShape="1">
          <a:blip r:embed="rId6">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a:latin typeface="+mn-lt"/>
              <a:sym typeface="Trebuchet MS" panose="020B0603020202020204" pitchFamily="34" charset="0"/>
            </a:endParaRPr>
          </a:p>
        </p:txBody>
      </p:sp>
    </p:spTree>
    <p:extLst>
      <p:ext uri="{BB962C8B-B14F-4D97-AF65-F5344CB8AC3E}">
        <p14:creationId xmlns:p14="http://schemas.microsoft.com/office/powerpoint/2010/main" val="17033689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bg1"/>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2022 by Boston Consulting Group. All rights reserved.</a:t>
            </a: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75065678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solidFill>
          <a:schemeClr val="bg1"/>
        </a:soli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2022 by Boston Consulting Group.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88579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p:cSld name="D. Blank green">
    <p:bg>
      <p:bgPr>
        <a:solidFill>
          <a:schemeClr val="bg1"/>
        </a:soli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2022 by Boston Consulting Group. All rights reserved.</a:t>
            </a: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64717719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2022 by Boston Consulting Group. All rights reserved.</a:t>
            </a:r>
          </a:p>
        </p:txBody>
      </p:sp>
    </p:spTree>
    <p:extLst>
      <p:ext uri="{BB962C8B-B14F-4D97-AF65-F5344CB8AC3E}">
        <p14:creationId xmlns:p14="http://schemas.microsoft.com/office/powerpoint/2010/main" val="13369515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D. Disclaimer">
    <p:bg>
      <p:bgPr>
        <a:solidFill>
          <a:schemeClr val="bg1"/>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a:latin typeface="+mn-lt"/>
                <a:sym typeface="Trebuchet MS" panose="020B0603020202020204" pitchFamily="34" charset="0"/>
              </a:rPr>
              <a:t>The services and materials provided by Boston Consulting Group (BCG) are subject to BCG's Standard Terms </a:t>
            </a:r>
            <a:br>
              <a:rPr lang="en-US" sz="900" b="0">
                <a:latin typeface="+mn-lt"/>
                <a:sym typeface="Trebuchet MS" panose="020B0603020202020204" pitchFamily="34" charset="0"/>
              </a:rPr>
            </a:br>
            <a:r>
              <a:rPr lang="en-US" sz="900" b="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a:latin typeface="+mn-lt"/>
                <a:sym typeface="Trebuchet MS" panose="020B0603020202020204" pitchFamily="34" charset="0"/>
              </a:rPr>
            </a:br>
            <a:r>
              <a:rPr lang="en-US" sz="900" b="0">
                <a:latin typeface="+mn-lt"/>
                <a:sym typeface="Trebuchet MS" panose="020B0603020202020204" pitchFamily="34" charset="0"/>
              </a:rPr>
              <a:t>to update these materials after the date hereof, notwithstanding that such information may become outdated </a:t>
            </a:r>
            <a:br>
              <a:rPr lang="en-US" sz="900" b="0">
                <a:latin typeface="+mn-lt"/>
                <a:sym typeface="Trebuchet MS" panose="020B0603020202020204" pitchFamily="34" charset="0"/>
              </a:rPr>
            </a:br>
            <a:r>
              <a:rPr lang="en-US" sz="900" b="0">
                <a:latin typeface="+mn-lt"/>
                <a:sym typeface="Trebuchet MS" panose="020B0603020202020204" pitchFamily="34" charset="0"/>
              </a:rPr>
              <a:t>or inaccurate.</a:t>
            </a:r>
          </a:p>
          <a:p>
            <a:pPr indent="0">
              <a:lnSpc>
                <a:spcPct val="100000"/>
              </a:lnSpc>
            </a:pPr>
            <a:r>
              <a:rPr lang="en-US" sz="900" b="0">
                <a:latin typeface="+mn-lt"/>
                <a:sym typeface="Trebuchet MS" panose="020B0603020202020204" pitchFamily="34" charset="0"/>
              </a:rPr>
              <a:t> </a:t>
            </a:r>
          </a:p>
          <a:p>
            <a:pPr indent="0">
              <a:lnSpc>
                <a:spcPct val="100000"/>
              </a:lnSpc>
            </a:pPr>
            <a:r>
              <a:rPr lang="en-US" sz="900" b="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a:latin typeface="+mn-lt"/>
                <a:sym typeface="Trebuchet MS" panose="020B0603020202020204" pitchFamily="34" charset="0"/>
              </a:rPr>
            </a:br>
            <a:r>
              <a:rPr lang="en-US" sz="900" b="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a:latin typeface="+mn-lt"/>
                <a:sym typeface="Trebuchet MS" panose="020B0603020202020204" pitchFamily="34" charset="0"/>
              </a:rPr>
              <a:t>BCG does not provide fairness opinions or valuations of market transactions, and these materials should not be relied </a:t>
            </a:r>
            <a:br>
              <a:rPr lang="en-US" sz="900" b="0">
                <a:latin typeface="+mn-lt"/>
                <a:sym typeface="Trebuchet MS" panose="020B0603020202020204" pitchFamily="34" charset="0"/>
              </a:rPr>
            </a:br>
            <a:r>
              <a:rPr lang="en-US" sz="900" b="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a:latin typeface="+mn-lt"/>
                <a:sym typeface="Trebuchet MS" panose="020B0603020202020204" pitchFamily="34" charset="0"/>
              </a:rPr>
            </a:br>
            <a:r>
              <a:rPr lang="en-US" sz="900" b="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2022 by Boston Consulting Group. All rights reserved.</a:t>
            </a:r>
          </a:p>
        </p:txBody>
      </p:sp>
    </p:spTree>
    <p:extLst>
      <p:ext uri="{BB962C8B-B14F-4D97-AF65-F5344CB8AC3E}">
        <p14:creationId xmlns:p14="http://schemas.microsoft.com/office/powerpoint/2010/main" val="35013708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type="blank" preserve="1">
  <p:cSld name="D. En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6" imgW="384" imgH="384" progId="TCLayout.ActiveDocument.1">
                  <p:embed/>
                </p:oleObj>
              </mc:Choice>
              <mc:Fallback>
                <p:oleObj name="thinkcell 幻灯片" r:id="rId6" imgW="384" imgH="384" progId="TCLayout.ActiveDocument.1">
                  <p:embed/>
                  <p:pic>
                    <p:nvPicPr>
                      <p:cNvPr id="2" name="Object 1" hidden="1"/>
                      <p:cNvPicPr/>
                      <p:nvPr/>
                    </p:nvPicPr>
                    <p:blipFill>
                      <a:blip r:embed="rId7"/>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3"/>
            </p:custDataLst>
          </p:nvPr>
        </p:nvPicPr>
        <p:blipFill>
          <a:blip r:embed="rId8">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4"/>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409237587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D. Layout guide">
    <p:bg>
      <p:bgPr>
        <a:solidFill>
          <a:schemeClr val="bg1"/>
        </a:solidFill>
        <a:effectLst/>
      </p:bgPr>
    </p:bg>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1. </a:t>
              </a:r>
              <a:r>
                <a:rPr kumimoji="0" lang="en-US" sz="1000" b="0" i="0" u="none" strike="noStrike" kern="1200" cap="none" spc="0" normalizeH="0" baseline="0" noProof="0" err="1">
                  <a:ln>
                    <a:noFill/>
                  </a:ln>
                  <a:solidFill>
                    <a:schemeClr val="bg1">
                      <a:lumMod val="50000"/>
                    </a:schemeClr>
                  </a:solidFill>
                  <a:effectLst/>
                  <a:uLnTx/>
                  <a:uFillTx/>
                  <a:latin typeface="+mn-lt"/>
                  <a:ea typeface="+mn-ea"/>
                  <a:cs typeface="+mn-cs"/>
                  <a:sym typeface="Trebuchet MS" panose="020B0603020202020204" pitchFamily="34" charset="0"/>
                </a:rPr>
                <a:t>xxxx</a:t>
              </a: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  2. </a:t>
              </a:r>
              <a:r>
                <a:rPr kumimoji="0" lang="en-US" sz="1000" b="0" i="0" u="none" strike="noStrike" kern="1200" cap="none" spc="0" normalizeH="0" baseline="0" noProof="0" err="1">
                  <a:ln>
                    <a:noFill/>
                  </a:ln>
                  <a:solidFill>
                    <a:schemeClr val="bg1">
                      <a:lumMod val="50000"/>
                    </a:schemeClr>
                  </a:solidFill>
                  <a:effectLst/>
                  <a:uLnTx/>
                  <a:uFillTx/>
                  <a:latin typeface="+mn-lt"/>
                  <a:ea typeface="+mn-ea"/>
                  <a:cs typeface="+mn-cs"/>
                  <a:sym typeface="Trebuchet MS" panose="020B0603020202020204" pitchFamily="34" charset="0"/>
                </a:rPr>
                <a:t>xxxx</a:t>
              </a: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2022 by Boston Consulting Group. All rights reserved.</a:t>
            </a:r>
          </a:p>
        </p:txBody>
      </p:sp>
    </p:spTree>
    <p:extLst>
      <p:ext uri="{BB962C8B-B14F-4D97-AF65-F5344CB8AC3E}">
        <p14:creationId xmlns:p14="http://schemas.microsoft.com/office/powerpoint/2010/main" val="6187848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5" imgW="270" imgH="270" progId="TCLayout.ActiveDocument.1">
                  <p:embed/>
                </p:oleObj>
              </mc:Choice>
              <mc:Fallback>
                <p:oleObj name="thinkcell 幻灯片" r:id="rId5" imgW="270" imgH="270" progId="TCLayout.ActiveDocument.1">
                  <p:embed/>
                  <p:pic>
                    <p:nvPicPr>
                      <p:cNvPr id="3" name="Object 2"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2022 by Boston Consulting Group. All rights reserved.</a:t>
            </a: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a:solidFill>
                <a:prstClr val="white"/>
              </a:solidFill>
              <a:latin typeface="Trebuchet MS" panose="020B0603020202020204" pitchFamily="34" charset="0"/>
            </a:endParaRPr>
          </a:p>
        </p:txBody>
      </p:sp>
      <p:sp>
        <p:nvSpPr>
          <p:cNvPr id="12" name="Rectangle 11"/>
          <p:cNvSpPr/>
          <p:nvPr userDrawn="1">
            <p:custDataLst>
              <p:tags r:id="rId3"/>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a:solidFill>
                  <a:schemeClr val="bg1"/>
                </a:solidFill>
                <a:latin typeface="+mj-lt"/>
              </a:rPr>
              <a:t>Agenda</a:t>
            </a:r>
          </a:p>
        </p:txBody>
      </p:sp>
    </p:spTree>
    <p:extLst>
      <p:ext uri="{BB962C8B-B14F-4D97-AF65-F5344CB8AC3E}">
        <p14:creationId xmlns:p14="http://schemas.microsoft.com/office/powerpoint/2010/main" val="37605923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4" imgW="270" imgH="270" progId="TCLayout.ActiveDocument.1">
                  <p:embed/>
                </p:oleObj>
              </mc:Choice>
              <mc:Fallback>
                <p:oleObj name="thinkcell 幻灯片"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2022 by Boston Consulting Group. All rights reserved.</a:t>
            </a: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a:solidFill>
                <a:prstClr val="white"/>
              </a:solidFill>
              <a:latin typeface="Trebuchet MS" panose="020B0603020202020204" pitchFamily="34" charset="0"/>
            </a:endParaRPr>
          </a:p>
        </p:txBody>
      </p:sp>
    </p:spTree>
    <p:extLst>
      <p:ext uri="{BB962C8B-B14F-4D97-AF65-F5344CB8AC3E}">
        <p14:creationId xmlns:p14="http://schemas.microsoft.com/office/powerpoint/2010/main" val="3620029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4" imgW="270" imgH="270" progId="TCLayout.ActiveDocument.1">
                  <p:embed/>
                </p:oleObj>
              </mc:Choice>
              <mc:Fallback>
                <p:oleObj name="thinkcell 幻灯片"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2022 by Boston Consulting Group. All rights reserved.</a:t>
            </a: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4964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4" imgW="270" imgH="270" progId="TCLayout.ActiveDocument.1">
                  <p:embed/>
                </p:oleObj>
              </mc:Choice>
              <mc:Fallback>
                <p:oleObj name="thinkcell 幻灯片"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2022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a:solidFill>
                  <a:schemeClr val="bg1"/>
                </a:solidFill>
              </a:rPr>
              <a:t>Agenda</a:t>
            </a:r>
          </a:p>
        </p:txBody>
      </p:sp>
    </p:spTree>
    <p:extLst>
      <p:ext uri="{BB962C8B-B14F-4D97-AF65-F5344CB8AC3E}">
        <p14:creationId xmlns:p14="http://schemas.microsoft.com/office/powerpoint/2010/main" val="121727038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5" imgW="270" imgH="270" progId="TCLayout.ActiveDocument.1">
                  <p:embed/>
                </p:oleObj>
              </mc:Choice>
              <mc:Fallback>
                <p:oleObj name="thinkcell 幻灯片" r:id="rId5" imgW="270" imgH="270"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2022 by Boston Consulting Group. All rights reserved.</a:t>
            </a: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a:solidFill>
                <a:prstClr val="white"/>
              </a:solidFill>
              <a:latin typeface="Trebuchet MS" panose="020B0603020202020204" pitchFamily="34" charset="0"/>
            </a:endParaRPr>
          </a:p>
        </p:txBody>
      </p:sp>
      <p:sp>
        <p:nvSpPr>
          <p:cNvPr id="10" name="Rectangle 9"/>
          <p:cNvSpPr/>
          <p:nvPr userDrawn="1">
            <p:custDataLst>
              <p:tags r:id="rId3"/>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Agenda</a:t>
            </a:r>
          </a:p>
        </p:txBody>
      </p:sp>
    </p:spTree>
    <p:extLst>
      <p:ext uri="{BB962C8B-B14F-4D97-AF65-F5344CB8AC3E}">
        <p14:creationId xmlns:p14="http://schemas.microsoft.com/office/powerpoint/2010/main" val="217590497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4" imgW="270" imgH="270" progId="TCLayout.ActiveDocument.1">
                  <p:embed/>
                </p:oleObj>
              </mc:Choice>
              <mc:Fallback>
                <p:oleObj name="thinkcell 幻灯片"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2022 by Boston Consulting Group. All rights reserved.</a:t>
            </a: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a:solidFill>
                <a:prstClr val="white"/>
              </a:solidFill>
              <a:latin typeface="Trebuchet MS" panose="020B0603020202020204" pitchFamily="34" charset="0"/>
            </a:endParaRPr>
          </a:p>
        </p:txBody>
      </p:sp>
    </p:spTree>
    <p:extLst>
      <p:ext uri="{BB962C8B-B14F-4D97-AF65-F5344CB8AC3E}">
        <p14:creationId xmlns:p14="http://schemas.microsoft.com/office/powerpoint/2010/main" val="30099183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4" imgW="270" imgH="270" progId="TCLayout.ActiveDocument.1">
                  <p:embed/>
                </p:oleObj>
              </mc:Choice>
              <mc:Fallback>
                <p:oleObj name="thinkcell 幻灯片"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2022 by Boston Consulting Group. All rights reserved.</a:t>
            </a: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03849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4" imgW="270" imgH="270" progId="TCLayout.ActiveDocument.1">
                  <p:embed/>
                </p:oleObj>
              </mc:Choice>
              <mc:Fallback>
                <p:oleObj name="thinkcell 幻灯片"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2022 by Boston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a:solidFill>
                  <a:schemeClr val="bg1"/>
                </a:solidFill>
              </a:rPr>
              <a:t>Agenda</a:t>
            </a:r>
          </a:p>
        </p:txBody>
      </p:sp>
    </p:spTree>
    <p:extLst>
      <p:ext uri="{BB962C8B-B14F-4D97-AF65-F5344CB8AC3E}">
        <p14:creationId xmlns:p14="http://schemas.microsoft.com/office/powerpoint/2010/main" val="23500296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4" imgW="270" imgH="270" progId="TCLayout.ActiveDocument.1">
                  <p:embed/>
                </p:oleObj>
              </mc:Choice>
              <mc:Fallback>
                <p:oleObj name="thinkcell 幻灯片"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2022 by Boston Consulting Group.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422562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type="obj">
  <p:cSld name="Otsikko ja sisältö">
    <p:bg>
      <p:bgPr>
        <a:solidFill>
          <a:schemeClr val="bg1"/>
        </a:solidFill>
        <a:effectLst/>
      </p:bgPr>
    </p:bg>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userDrawn="1">
            <p:custDataLst>
              <p:tags r:id="rId2"/>
            </p:custDataLst>
            <p:extLst>
              <p:ext uri="{D42A27DB-BD31-4B8C-83A1-F6EECF244321}">
                <p14:modId xmlns:p14="http://schemas.microsoft.com/office/powerpoint/2010/main" val="162263532"/>
              </p:ext>
            </p:extLst>
          </p:nvPr>
        </p:nvGraphicFramePr>
        <p:xfrm>
          <a:off x="2118" y="2118"/>
          <a:ext cx="2116" cy="2116"/>
        </p:xfrm>
        <a:graphic>
          <a:graphicData uri="http://schemas.openxmlformats.org/presentationml/2006/ole">
            <mc:AlternateContent xmlns:mc="http://schemas.openxmlformats.org/markup-compatibility/2006">
              <mc:Choice xmlns:v="urn:schemas-microsoft-com:vml" Requires="v">
                <p:oleObj name="thinkcell 幻灯片" r:id="rId4" imgW="352" imgH="355" progId="TCLayout.ActiveDocument.1">
                  <p:embed/>
                </p:oleObj>
              </mc:Choice>
              <mc:Fallback>
                <p:oleObj name="thinkcell 幻灯片" r:id="rId4" imgW="352" imgH="355" progId="TCLayout.ActiveDocument.1">
                  <p:embed/>
                  <p:pic>
                    <p:nvPicPr>
                      <p:cNvPr id="7" name="Object 6" hidden="1"/>
                      <p:cNvPicPr/>
                      <p:nvPr/>
                    </p:nvPicPr>
                    <p:blipFill>
                      <a:blip r:embed="rId5"/>
                      <a:stretch>
                        <a:fillRect/>
                      </a:stretch>
                    </p:blipFill>
                    <p:spPr>
                      <a:xfrm>
                        <a:off x="2118" y="2118"/>
                        <a:ext cx="2116" cy="2116"/>
                      </a:xfrm>
                      <a:prstGeom prst="rect">
                        <a:avLst/>
                      </a:prstGeom>
                    </p:spPr>
                  </p:pic>
                </p:oleObj>
              </mc:Fallback>
            </mc:AlternateContent>
          </a:graphicData>
        </a:graphic>
      </p:graphicFrame>
      <p:sp>
        <p:nvSpPr>
          <p:cNvPr id="2" name="Title 1"/>
          <p:cNvSpPr>
            <a:spLocks noGrp="1"/>
          </p:cNvSpPr>
          <p:nvPr>
            <p:ph type="title"/>
          </p:nvPr>
        </p:nvSpPr>
        <p:spPr/>
        <p:txBody>
          <a:bodyPr anchor="t"/>
          <a:lstStyle>
            <a:lvl1pPr>
              <a:defRPr>
                <a:latin typeface="+mj-lt"/>
                <a:sym typeface="+mj-lt"/>
              </a:defRPr>
            </a:lvl1pPr>
          </a:lstStyle>
          <a:p>
            <a:r>
              <a:rPr lang="en-US"/>
              <a:t>Click to edit Master title style</a:t>
            </a:r>
          </a:p>
        </p:txBody>
      </p:sp>
      <p:sp>
        <p:nvSpPr>
          <p:cNvPr id="3" name="Content Placeholder 2"/>
          <p:cNvSpPr>
            <a:spLocks noGrp="1"/>
          </p:cNvSpPr>
          <p:nvPr>
            <p:ph idx="1"/>
          </p:nvPr>
        </p:nvSpPr>
        <p:spPr/>
        <p:txBody>
          <a:bodyPr>
            <a:noAutofit/>
          </a:bodyPr>
          <a:lstStyle>
            <a:lvl1pPr>
              <a:defRPr spc="-67"/>
            </a:lvl1pPr>
            <a:lvl2pPr>
              <a:defRPr spc="-67"/>
            </a:lvl2pPr>
            <a:lvl3pPr>
              <a:defRPr spc="-67"/>
            </a:lvl3pPr>
            <a:lvl4pPr>
              <a:defRPr spc="-67"/>
            </a:lvl4pPr>
            <a:lvl5pPr>
              <a:defRPr spc="-67"/>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E007801-8113-44BE-9A7C-6B4B31EDBCDC}" type="datetime1">
              <a:rPr lang="fi-FI" smtClean="0"/>
              <a:t>18.9.2026</a:t>
            </a:fld>
            <a:endParaRPr lang="fi-FI"/>
          </a:p>
        </p:txBody>
      </p:sp>
      <p:sp>
        <p:nvSpPr>
          <p:cNvPr id="5" name="Footer Placeholder 4"/>
          <p:cNvSpPr>
            <a:spLocks noGrp="1"/>
          </p:cNvSpPr>
          <p:nvPr>
            <p:ph type="ftr" sz="quarter" idx="11"/>
          </p:nvPr>
        </p:nvSpPr>
        <p:spPr/>
        <p:txBody>
          <a:bodyPr/>
          <a:lstStyle/>
          <a:p>
            <a:r>
              <a:rPr lang="fi-FI"/>
              <a:t>Alatunnisteessa oleva esittäjän nimi</a:t>
            </a:r>
          </a:p>
        </p:txBody>
      </p:sp>
    </p:spTree>
    <p:extLst>
      <p:ext uri="{BB962C8B-B14F-4D97-AF65-F5344CB8AC3E}">
        <p14:creationId xmlns:p14="http://schemas.microsoft.com/office/powerpoint/2010/main" val="253963873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61" Type="http://schemas.openxmlformats.org/officeDocument/2006/relationships/image" Target="../media/image1.emf"/><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ags" Target="../tags/tag2.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70.xml"/><Relationship Id="rId18" Type="http://schemas.openxmlformats.org/officeDocument/2006/relationships/slideLayout" Target="../slideLayouts/slideLayout75.xml"/><Relationship Id="rId26" Type="http://schemas.openxmlformats.org/officeDocument/2006/relationships/slideLayout" Target="../slideLayouts/slideLayout83.xml"/><Relationship Id="rId39" Type="http://schemas.openxmlformats.org/officeDocument/2006/relationships/slideLayout" Target="../slideLayouts/slideLayout96.xml"/><Relationship Id="rId21" Type="http://schemas.openxmlformats.org/officeDocument/2006/relationships/slideLayout" Target="../slideLayouts/slideLayout78.xml"/><Relationship Id="rId34" Type="http://schemas.openxmlformats.org/officeDocument/2006/relationships/slideLayout" Target="../slideLayouts/slideLayout91.xml"/><Relationship Id="rId42" Type="http://schemas.openxmlformats.org/officeDocument/2006/relationships/oleObject" Target="../embeddings/oleObject7.bin"/><Relationship Id="rId7" Type="http://schemas.openxmlformats.org/officeDocument/2006/relationships/slideLayout" Target="../slideLayouts/slideLayout64.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slideLayout" Target="../slideLayouts/slideLayout77.xml"/><Relationship Id="rId29" Type="http://schemas.openxmlformats.org/officeDocument/2006/relationships/slideLayout" Target="../slideLayouts/slideLayout86.xml"/><Relationship Id="rId41" Type="http://schemas.openxmlformats.org/officeDocument/2006/relationships/tags" Target="../tags/tag15.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24" Type="http://schemas.openxmlformats.org/officeDocument/2006/relationships/slideLayout" Target="../slideLayouts/slideLayout81.xml"/><Relationship Id="rId32" Type="http://schemas.openxmlformats.org/officeDocument/2006/relationships/slideLayout" Target="../slideLayouts/slideLayout89.xml"/><Relationship Id="rId37" Type="http://schemas.openxmlformats.org/officeDocument/2006/relationships/slideLayout" Target="../slideLayouts/slideLayout94.xml"/><Relationship Id="rId40" Type="http://schemas.openxmlformats.org/officeDocument/2006/relationships/theme" Target="../theme/theme2.xml"/><Relationship Id="rId5" Type="http://schemas.openxmlformats.org/officeDocument/2006/relationships/slideLayout" Target="../slideLayouts/slideLayout62.xml"/><Relationship Id="rId15" Type="http://schemas.openxmlformats.org/officeDocument/2006/relationships/slideLayout" Target="../slideLayouts/slideLayout72.xml"/><Relationship Id="rId23" Type="http://schemas.openxmlformats.org/officeDocument/2006/relationships/slideLayout" Target="../slideLayouts/slideLayout80.xml"/><Relationship Id="rId28" Type="http://schemas.openxmlformats.org/officeDocument/2006/relationships/slideLayout" Target="../slideLayouts/slideLayout85.xml"/><Relationship Id="rId36" Type="http://schemas.openxmlformats.org/officeDocument/2006/relationships/slideLayout" Target="../slideLayouts/slideLayout93.xml"/><Relationship Id="rId10" Type="http://schemas.openxmlformats.org/officeDocument/2006/relationships/slideLayout" Target="../slideLayouts/slideLayout67.xml"/><Relationship Id="rId19" Type="http://schemas.openxmlformats.org/officeDocument/2006/relationships/slideLayout" Target="../slideLayouts/slideLayout76.xml"/><Relationship Id="rId31" Type="http://schemas.openxmlformats.org/officeDocument/2006/relationships/slideLayout" Target="../slideLayouts/slideLayout88.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 Id="rId22" Type="http://schemas.openxmlformats.org/officeDocument/2006/relationships/slideLayout" Target="../slideLayouts/slideLayout79.xml"/><Relationship Id="rId27" Type="http://schemas.openxmlformats.org/officeDocument/2006/relationships/slideLayout" Target="../slideLayouts/slideLayout84.xml"/><Relationship Id="rId30" Type="http://schemas.openxmlformats.org/officeDocument/2006/relationships/slideLayout" Target="../slideLayouts/slideLayout87.xml"/><Relationship Id="rId35" Type="http://schemas.openxmlformats.org/officeDocument/2006/relationships/slideLayout" Target="../slideLayouts/slideLayout92.xml"/><Relationship Id="rId43" Type="http://schemas.openxmlformats.org/officeDocument/2006/relationships/image" Target="../media/image1.emf"/><Relationship Id="rId8" Type="http://schemas.openxmlformats.org/officeDocument/2006/relationships/slideLayout" Target="../slideLayouts/slideLayout65.xml"/><Relationship Id="rId3" Type="http://schemas.openxmlformats.org/officeDocument/2006/relationships/slideLayout" Target="../slideLayouts/slideLayout60.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5" Type="http://schemas.openxmlformats.org/officeDocument/2006/relationships/slideLayout" Target="../slideLayouts/slideLayout82.xml"/><Relationship Id="rId33" Type="http://schemas.openxmlformats.org/officeDocument/2006/relationships/slideLayout" Target="../slideLayouts/slideLayout90.xml"/><Relationship Id="rId38" Type="http://schemas.openxmlformats.org/officeDocument/2006/relationships/slideLayout" Target="../slideLayouts/slideLayout9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p:cNvGraphicFramePr>
          <p:nvPr userDrawn="1">
            <p:custDataLst>
              <p:tags r:id="rId59"/>
            </p:custDataLst>
            <p:extLst>
              <p:ext uri="{D42A27DB-BD31-4B8C-83A1-F6EECF244321}">
                <p14:modId xmlns:p14="http://schemas.microsoft.com/office/powerpoint/2010/main" val="370301782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60" imgW="270" imgH="270" progId="TCLayout.ActiveDocument.1">
                  <p:embed/>
                </p:oleObj>
              </mc:Choice>
              <mc:Fallback>
                <p:oleObj name="thinkcell 幻灯片" r:id="rId60" imgW="270" imgH="270" progId="TCLayout.ActiveDocument.1">
                  <p:embed/>
                  <p:pic>
                    <p:nvPicPr>
                      <p:cNvPr id="2" name="Object 1" hidden="1"/>
                      <p:cNvPicPr/>
                      <p:nvPr/>
                    </p:nvPicPr>
                    <p:blipFill>
                      <a:blip r:embed="rId61"/>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087" r:id="rId10"/>
    <p:sldLayoutId id="2147485112" r:id="rId11"/>
    <p:sldLayoutId id="2147485155" r:id="rId12"/>
    <p:sldLayoutId id="2147485164" r:id="rId13"/>
    <p:sldLayoutId id="2147485109" r:id="rId14"/>
    <p:sldLayoutId id="2147485165" r:id="rId15"/>
    <p:sldLayoutId id="2147485110" r:id="rId16"/>
    <p:sldLayoutId id="2147485166" r:id="rId17"/>
    <p:sldLayoutId id="2147485156" r:id="rId18"/>
    <p:sldLayoutId id="2147485167" r:id="rId19"/>
    <p:sldLayoutId id="2147485108" r:id="rId20"/>
    <p:sldLayoutId id="2147485107" r:id="rId21"/>
    <p:sldLayoutId id="2147485106" r:id="rId22"/>
    <p:sldLayoutId id="2147485090" r:id="rId23"/>
    <p:sldLayoutId id="2147485091" r:id="rId24"/>
    <p:sldLayoutId id="2147485092" r:id="rId25"/>
    <p:sldLayoutId id="2147485093" r:id="rId26"/>
    <p:sldLayoutId id="2147485116" r:id="rId27"/>
    <p:sldLayoutId id="2147485161" r:id="rId28"/>
    <p:sldLayoutId id="2147485159" r:id="rId29"/>
    <p:sldLayoutId id="2147485119" r:id="rId30"/>
    <p:sldLayoutId id="2147485184" r:id="rId31"/>
    <p:sldLayoutId id="2147485137" r:id="rId32"/>
    <p:sldLayoutId id="2147485120" r:id="rId33"/>
    <p:sldLayoutId id="2147485121" r:id="rId34"/>
    <p:sldLayoutId id="2147485141" r:id="rId35"/>
    <p:sldLayoutId id="2147485163" r:id="rId36"/>
    <p:sldLayoutId id="2147485139" r:id="rId37"/>
    <p:sldLayoutId id="2147485140" r:id="rId38"/>
    <p:sldLayoutId id="2147485122" r:id="rId39"/>
    <p:sldLayoutId id="2147485123" r:id="rId40"/>
    <p:sldLayoutId id="2147485151" r:id="rId41"/>
    <p:sldLayoutId id="2147485168" r:id="rId42"/>
    <p:sldLayoutId id="2147485127" r:id="rId43"/>
    <p:sldLayoutId id="2147485169" r:id="rId44"/>
    <p:sldLayoutId id="2147485126" r:id="rId45"/>
    <p:sldLayoutId id="2147485170" r:id="rId46"/>
    <p:sldLayoutId id="2147485153" r:id="rId47"/>
    <p:sldLayoutId id="2147485171" r:id="rId48"/>
    <p:sldLayoutId id="2147485128" r:id="rId49"/>
    <p:sldLayoutId id="2147485129" r:id="rId50"/>
    <p:sldLayoutId id="2147485130" r:id="rId51"/>
    <p:sldLayoutId id="2147485131" r:id="rId52"/>
    <p:sldLayoutId id="2147485145" r:id="rId53"/>
    <p:sldLayoutId id="2147485133" r:id="rId54"/>
    <p:sldLayoutId id="2147485144" r:id="rId55"/>
    <p:sldLayoutId id="2147485134" r:id="rId56"/>
    <p:sldLayoutId id="2147485261" r:id="rId5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41"/>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幻灯片" r:id="rId42" imgW="270" imgH="270" progId="TCLayout.ActiveDocument.1">
                  <p:embed/>
                </p:oleObj>
              </mc:Choice>
              <mc:Fallback>
                <p:oleObj name="thinkcell 幻灯片" r:id="rId42" imgW="270" imgH="270" progId="TCLayout.ActiveDocument.1">
                  <p:embed/>
                  <p:pic>
                    <p:nvPicPr>
                      <p:cNvPr id="2" name="Object 1" hidden="1"/>
                      <p:cNvPicPr/>
                      <p:nvPr/>
                    </p:nvPicPr>
                    <p:blipFill>
                      <a:blip r:embed="rId43"/>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Level six</a:t>
            </a:r>
          </a:p>
          <a:p>
            <a:pPr lvl="6"/>
            <a:r>
              <a:rPr lang="en-US"/>
              <a:t>Level seven</a:t>
            </a:r>
          </a:p>
          <a:p>
            <a:pPr lvl="7"/>
            <a:r>
              <a:rPr lang="en-US"/>
              <a:t>Level eight</a:t>
            </a:r>
          </a:p>
          <a:p>
            <a:pPr lvl="8"/>
            <a:r>
              <a:rPr lang="en-US"/>
              <a:t>Level nine</a:t>
            </a:r>
          </a:p>
        </p:txBody>
      </p:sp>
    </p:spTree>
    <p:extLst>
      <p:ext uri="{BB962C8B-B14F-4D97-AF65-F5344CB8AC3E}">
        <p14:creationId xmlns:p14="http://schemas.microsoft.com/office/powerpoint/2010/main" val="2397580355"/>
      </p:ext>
    </p:extLst>
  </p:cSld>
  <p:clrMap bg1="lt1" tx1="dk1" bg2="lt2" tx2="dk2" accent1="accent1" accent2="accent2" accent3="accent3" accent4="accent4" accent5="accent5" accent6="accent6" hlink="hlink" folHlink="folHlink"/>
  <p:sldLayoutIdLst>
    <p:sldLayoutId id="2147485222" r:id="rId1"/>
    <p:sldLayoutId id="2147485223" r:id="rId2"/>
    <p:sldLayoutId id="2147485224" r:id="rId3"/>
    <p:sldLayoutId id="2147485225" r:id="rId4"/>
    <p:sldLayoutId id="2147485226" r:id="rId5"/>
    <p:sldLayoutId id="2147485227" r:id="rId6"/>
    <p:sldLayoutId id="2147485228" r:id="rId7"/>
    <p:sldLayoutId id="2147485229" r:id="rId8"/>
    <p:sldLayoutId id="2147485230" r:id="rId9"/>
    <p:sldLayoutId id="2147485231" r:id="rId10"/>
    <p:sldLayoutId id="2147485232" r:id="rId11"/>
    <p:sldLayoutId id="2147485233" r:id="rId12"/>
    <p:sldLayoutId id="2147485234" r:id="rId13"/>
    <p:sldLayoutId id="2147485235" r:id="rId14"/>
    <p:sldLayoutId id="2147485236" r:id="rId15"/>
    <p:sldLayoutId id="2147485237" r:id="rId16"/>
    <p:sldLayoutId id="2147485238" r:id="rId17"/>
    <p:sldLayoutId id="2147485239" r:id="rId18"/>
    <p:sldLayoutId id="2147485240" r:id="rId19"/>
    <p:sldLayoutId id="2147485241" r:id="rId20"/>
    <p:sldLayoutId id="2147485242" r:id="rId21"/>
    <p:sldLayoutId id="2147485243" r:id="rId22"/>
    <p:sldLayoutId id="2147485244" r:id="rId23"/>
    <p:sldLayoutId id="2147485245" r:id="rId24"/>
    <p:sldLayoutId id="2147485246" r:id="rId25"/>
    <p:sldLayoutId id="2147485247" r:id="rId26"/>
    <p:sldLayoutId id="2147485248" r:id="rId27"/>
    <p:sldLayoutId id="2147485249" r:id="rId28"/>
    <p:sldLayoutId id="2147485250" r:id="rId29"/>
    <p:sldLayoutId id="2147485251" r:id="rId30"/>
    <p:sldLayoutId id="2147485252" r:id="rId31"/>
    <p:sldLayoutId id="2147485253" r:id="rId32"/>
    <p:sldLayoutId id="2147485254" r:id="rId33"/>
    <p:sldLayoutId id="2147485255" r:id="rId34"/>
    <p:sldLayoutId id="2147485256" r:id="rId35"/>
    <p:sldLayoutId id="2147485257" r:id="rId36"/>
    <p:sldLayoutId id="2147485258" r:id="rId37"/>
    <p:sldLayoutId id="2147485259" r:id="rId38"/>
    <p:sldLayoutId id="2147485260" r:id="rId39"/>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p15:clr>
            <a:srgbClr val="F26B43"/>
          </p15:clr>
        </p15:guide>
        <p15:guide id="2" pos="396">
          <p15:clr>
            <a:srgbClr val="F26B43"/>
          </p15:clr>
        </p15:guide>
        <p15:guide id="3" pos="7284">
          <p15:clr>
            <a:srgbClr val="F26B43"/>
          </p15:clr>
        </p15:guide>
        <p15:guide id="4" orient="horz" pos="388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tags" Target="../tags/tag33.xml"/><Relationship Id="rId4" Type="http://schemas.openxmlformats.org/officeDocument/2006/relationships/image" Target="../media/image15.e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tags" Target="../tags/tag34.xml"/><Relationship Id="rId4" Type="http://schemas.openxmlformats.org/officeDocument/2006/relationships/image" Target="../media/image16.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tags" Target="../tags/tag35.xml"/><Relationship Id="rId4" Type="http://schemas.openxmlformats.org/officeDocument/2006/relationships/image" Target="../media/image17.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F150A2B-876E-3D83-40BD-0322293CAEF7}"/>
              </a:ext>
            </a:extLst>
          </p:cNvPr>
          <p:cNvGraphicFramePr>
            <a:graphicFrameLocks/>
          </p:cNvGraphicFramePr>
          <p:nvPr>
            <p:custDataLst>
              <p:tags r:id="rId1"/>
            </p:custDataLst>
            <p:extLst>
              <p:ext uri="{D42A27DB-BD31-4B8C-83A1-F6EECF244321}">
                <p14:modId xmlns:p14="http://schemas.microsoft.com/office/powerpoint/2010/main" val="43387736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3" name="thinkcell data - do not delete" hidden="1">
                        <a:extLst>
                          <a:ext uri="{FF2B5EF4-FFF2-40B4-BE49-F238E27FC236}">
                            <a16:creationId xmlns:a16="http://schemas.microsoft.com/office/drawing/2014/main" id="{EF150A2B-876E-3D83-40BD-0322293CAEF7}"/>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標題 1">
            <a:extLst>
              <a:ext uri="{FF2B5EF4-FFF2-40B4-BE49-F238E27FC236}">
                <a16:creationId xmlns:a16="http://schemas.microsoft.com/office/drawing/2014/main" id="{0E2A115C-1890-69CA-B8F6-3167D318A26D}"/>
              </a:ext>
            </a:extLst>
          </p:cNvPr>
          <p:cNvSpPr>
            <a:spLocks noGrp="1"/>
          </p:cNvSpPr>
          <p:nvPr>
            <p:ph type="title"/>
          </p:nvPr>
        </p:nvSpPr>
        <p:spPr>
          <a:xfrm>
            <a:off x="630000" y="622800"/>
            <a:ext cx="10933200" cy="664797"/>
          </a:xfrm>
        </p:spPr>
        <p:txBody>
          <a:bodyPr vert="horz" rIns="0">
            <a:spAutoFit/>
          </a:bodyPr>
          <a:lstStyle/>
          <a:p>
            <a:r>
              <a:rPr kumimoji="1" lang="en-US" altLang="zh-TW" dirty="0"/>
              <a:t>Hermes </a:t>
            </a:r>
            <a:r>
              <a:rPr kumimoji="1" lang="zh-TW" altLang="en-US" dirty="0"/>
              <a:t>為受瑞士監管的投資商品平台，核心提供 </a:t>
            </a:r>
            <a:r>
              <a:rPr kumimoji="1" lang="en-US" altLang="zh-TW" dirty="0"/>
              <a:t>AMC </a:t>
            </a:r>
            <a:r>
              <a:rPr kumimoji="1" lang="zh-TW" altLang="en-US" dirty="0"/>
              <a:t>與結構型商品的發行、交易及全週期管理；股東現正評估最高 </a:t>
            </a:r>
            <a:r>
              <a:rPr kumimoji="1" lang="en-US" altLang="zh-TW" dirty="0"/>
              <a:t>100% </a:t>
            </a:r>
            <a:r>
              <a:rPr kumimoji="1" lang="zh-TW" altLang="en-US" dirty="0"/>
              <a:t>股權交易，引入資源支持下一階段成長</a:t>
            </a:r>
          </a:p>
        </p:txBody>
      </p:sp>
      <p:sp>
        <p:nvSpPr>
          <p:cNvPr id="4" name="矩形 3">
            <a:extLst>
              <a:ext uri="{FF2B5EF4-FFF2-40B4-BE49-F238E27FC236}">
                <a16:creationId xmlns:a16="http://schemas.microsoft.com/office/drawing/2014/main" id="{10173796-C628-514D-18CD-E54CD1EF22CC}"/>
              </a:ext>
            </a:extLst>
          </p:cNvPr>
          <p:cNvSpPr/>
          <p:nvPr/>
        </p:nvSpPr>
        <p:spPr>
          <a:xfrm>
            <a:off x="631197" y="1557758"/>
            <a:ext cx="1389993" cy="997196"/>
          </a:xfrm>
          <a:prstGeom prst="rect">
            <a:avLst/>
          </a:prstGeom>
          <a:solidFill>
            <a:schemeClr val="tx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zh-TW" altLang="en-US" sz="1400" b="1" dirty="0">
                <a:solidFill>
                  <a:srgbClr val="FFFFFF"/>
                </a:solidFill>
              </a:rPr>
              <a:t>公司定位</a:t>
            </a:r>
          </a:p>
        </p:txBody>
      </p:sp>
      <p:sp>
        <p:nvSpPr>
          <p:cNvPr id="5" name="矩形 4">
            <a:extLst>
              <a:ext uri="{FF2B5EF4-FFF2-40B4-BE49-F238E27FC236}">
                <a16:creationId xmlns:a16="http://schemas.microsoft.com/office/drawing/2014/main" id="{01F22D98-F394-1476-C8ED-F6FD8C561708}"/>
              </a:ext>
            </a:extLst>
          </p:cNvPr>
          <p:cNvSpPr/>
          <p:nvPr/>
        </p:nvSpPr>
        <p:spPr>
          <a:xfrm>
            <a:off x="2237321" y="1458224"/>
            <a:ext cx="9325877" cy="1096729"/>
          </a:xfrm>
          <a:prstGeom prst="rect">
            <a:avLst/>
          </a:prstGeom>
          <a:no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indent="-171450">
              <a:lnSpc>
                <a:spcPct val="120000"/>
              </a:lnSpc>
              <a:buFont typeface="Arial" panose="020B0604020202020204" pitchFamily="34" charset="0"/>
              <a:buChar char="•"/>
            </a:pPr>
            <a:r>
              <a:rPr lang="zh-TW" altLang="en-US" sz="1200" dirty="0">
                <a:solidFill>
                  <a:schemeClr val="tx1"/>
                </a:solidFill>
              </a:rPr>
              <a:t>總部位於瑞士蘇黎世，受瑞士監之證券商，專注於結構型商品及主動管理憑證（</a:t>
            </a:r>
            <a:r>
              <a:rPr lang="en-US" altLang="zh-TW" sz="1200" dirty="0">
                <a:solidFill>
                  <a:schemeClr val="tx1"/>
                </a:solidFill>
              </a:rPr>
              <a:t>AMC</a:t>
            </a:r>
            <a:r>
              <a:rPr lang="zh-TW" altLang="en-US" sz="1200" dirty="0">
                <a:solidFill>
                  <a:schemeClr val="tx1"/>
                </a:solidFill>
              </a:rPr>
              <a:t>）業務</a:t>
            </a:r>
            <a:endParaRPr lang="en-US" altLang="zh-TW" sz="1200" dirty="0">
              <a:solidFill>
                <a:schemeClr val="tx1"/>
              </a:solidFill>
            </a:endParaRPr>
          </a:p>
          <a:p>
            <a:pPr marL="171450" indent="-171450">
              <a:lnSpc>
                <a:spcPct val="120000"/>
              </a:lnSpc>
              <a:buFont typeface="Arial" panose="020B0604020202020204" pitchFamily="34" charset="0"/>
              <a:buChar char="•"/>
            </a:pPr>
            <a:r>
              <a:rPr lang="zh-TW" altLang="en-US" sz="1200" dirty="0">
                <a:solidFill>
                  <a:schemeClr val="tx1"/>
                </a:solidFill>
              </a:rPr>
              <a:t>提供一站式委外解決方案，協助客戶發行及管理投資產品，無需自行建置相關基礎設施與作業能力</a:t>
            </a:r>
            <a:endParaRPr lang="en-US" altLang="zh-TW" sz="1200" dirty="0">
              <a:solidFill>
                <a:schemeClr val="tx1"/>
              </a:solidFill>
            </a:endParaRPr>
          </a:p>
          <a:p>
            <a:pPr marL="171450" indent="-171450">
              <a:lnSpc>
                <a:spcPct val="120000"/>
              </a:lnSpc>
              <a:buFont typeface="Arial" panose="020B0604020202020204" pitchFamily="34" charset="0"/>
              <a:buChar char="•"/>
            </a:pPr>
            <a:r>
              <a:rPr lang="zh-TW" altLang="en-US" sz="1200" dirty="0">
                <a:solidFill>
                  <a:schemeClr val="tx1"/>
                </a:solidFill>
              </a:rPr>
              <a:t>透過科技驅動平台，</a:t>
            </a:r>
            <a:r>
              <a:rPr lang="en-US" altLang="zh-TW" sz="1200" dirty="0">
                <a:solidFill>
                  <a:schemeClr val="tx1"/>
                </a:solidFill>
              </a:rPr>
              <a:t>Hermes </a:t>
            </a:r>
            <a:r>
              <a:rPr lang="zh-TW" altLang="en-US" sz="1200" dirty="0">
                <a:solidFill>
                  <a:schemeClr val="tx1"/>
                </a:solidFill>
              </a:rPr>
              <a:t>整合商品結構設計、產品發行、存續期管理及銷售通路服務，涵蓋完整投資產品價值鏈</a:t>
            </a:r>
            <a:endParaRPr lang="en-US" altLang="zh-TW" sz="1200" dirty="0">
              <a:solidFill>
                <a:schemeClr val="tx1"/>
              </a:solidFill>
            </a:endParaRPr>
          </a:p>
          <a:p>
            <a:pPr marL="171450" indent="-171450">
              <a:lnSpc>
                <a:spcPct val="120000"/>
              </a:lnSpc>
              <a:buFont typeface="Arial" panose="020B0604020202020204" pitchFamily="34" charset="0"/>
              <a:buChar char="•"/>
            </a:pPr>
            <a:r>
              <a:rPr lang="en-US" altLang="zh-TW" sz="1200" dirty="0">
                <a:solidFill>
                  <a:schemeClr val="tx1"/>
                </a:solidFill>
              </a:rPr>
              <a:t> Hermes </a:t>
            </a:r>
            <a:r>
              <a:rPr lang="zh-TW" altLang="en-US" sz="1200" dirty="0">
                <a:solidFill>
                  <a:schemeClr val="tx1"/>
                </a:solidFill>
              </a:rPr>
              <a:t>營運多發行人（</a:t>
            </a:r>
            <a:r>
              <a:rPr lang="en-US" altLang="zh-TW" sz="1200" dirty="0">
                <a:solidFill>
                  <a:schemeClr val="tx1"/>
                </a:solidFill>
              </a:rPr>
              <a:t>Multi-Issuer</a:t>
            </a:r>
            <a:r>
              <a:rPr lang="zh-TW" altLang="en-US" sz="1200" dirty="0">
                <a:solidFill>
                  <a:schemeClr val="tx1"/>
                </a:solidFill>
              </a:rPr>
              <a:t>）平台，橫跨傳統金融資產與數位資產領域</a:t>
            </a:r>
            <a:endParaRPr kumimoji="1" lang="zh-TW" altLang="en-US" sz="1200" dirty="0">
              <a:solidFill>
                <a:schemeClr val="tx1"/>
              </a:solidFill>
            </a:endParaRPr>
          </a:p>
        </p:txBody>
      </p:sp>
      <p:sp>
        <p:nvSpPr>
          <p:cNvPr id="6" name="矩形 5">
            <a:extLst>
              <a:ext uri="{FF2B5EF4-FFF2-40B4-BE49-F238E27FC236}">
                <a16:creationId xmlns:a16="http://schemas.microsoft.com/office/drawing/2014/main" id="{3E513F98-AC64-B77E-93BC-3843238F8C26}"/>
              </a:ext>
            </a:extLst>
          </p:cNvPr>
          <p:cNvSpPr/>
          <p:nvPr/>
        </p:nvSpPr>
        <p:spPr>
          <a:xfrm>
            <a:off x="631197" y="2755444"/>
            <a:ext cx="1389993" cy="847134"/>
          </a:xfrm>
          <a:prstGeom prst="rect">
            <a:avLst/>
          </a:prstGeom>
          <a:solidFill>
            <a:schemeClr val="tx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zh-TW" altLang="en-US" sz="1400" b="1" dirty="0">
                <a:solidFill>
                  <a:srgbClr val="FFFFFF"/>
                </a:solidFill>
              </a:rPr>
              <a:t>核心產品</a:t>
            </a:r>
          </a:p>
        </p:txBody>
      </p:sp>
      <p:sp>
        <p:nvSpPr>
          <p:cNvPr id="7" name="矩形 6">
            <a:extLst>
              <a:ext uri="{FF2B5EF4-FFF2-40B4-BE49-F238E27FC236}">
                <a16:creationId xmlns:a16="http://schemas.microsoft.com/office/drawing/2014/main" id="{B7BFD3F6-D5AC-ACF0-6944-F58A480D8E65}"/>
              </a:ext>
            </a:extLst>
          </p:cNvPr>
          <p:cNvSpPr/>
          <p:nvPr/>
        </p:nvSpPr>
        <p:spPr>
          <a:xfrm>
            <a:off x="2237322" y="2755444"/>
            <a:ext cx="3566160" cy="847134"/>
          </a:xfrm>
          <a:prstGeom prst="rect">
            <a:avLst/>
          </a:prstGeom>
          <a:solidFill>
            <a:schemeClr val="bg1"/>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nSpc>
                <a:spcPct val="120000"/>
              </a:lnSpc>
            </a:pPr>
            <a:r>
              <a:rPr lang="zh-TW" altLang="en-US" sz="1200" dirty="0">
                <a:solidFill>
                  <a:schemeClr val="tx1"/>
                </a:solidFill>
              </a:rPr>
              <a:t>涵蓋傳統資產及數位資產</a:t>
            </a:r>
            <a:endParaRPr kumimoji="1" lang="zh-TW" altLang="en-US" sz="1200" dirty="0">
              <a:solidFill>
                <a:schemeClr val="tx1"/>
              </a:solidFill>
            </a:endParaRPr>
          </a:p>
          <a:p>
            <a:pPr marL="171450" indent="-171450">
              <a:lnSpc>
                <a:spcPct val="120000"/>
              </a:lnSpc>
              <a:buFont typeface="Arial" panose="020B0604020202020204" pitchFamily="34" charset="0"/>
              <a:buChar char="•"/>
            </a:pPr>
            <a:r>
              <a:rPr lang="en-US" altLang="zh-TW" sz="1200" dirty="0">
                <a:solidFill>
                  <a:schemeClr val="tx1"/>
                </a:solidFill>
              </a:rPr>
              <a:t>AMC</a:t>
            </a:r>
            <a:r>
              <a:rPr lang="zh-TW" altLang="en-US" sz="1050" dirty="0">
                <a:solidFill>
                  <a:schemeClr val="tx1"/>
                </a:solidFill>
              </a:rPr>
              <a:t> </a:t>
            </a:r>
            <a:r>
              <a:rPr lang="en-US" altLang="zh-TW" sz="900" dirty="0">
                <a:solidFill>
                  <a:schemeClr val="accent6"/>
                </a:solidFill>
              </a:rPr>
              <a:t>(Actively Managed Certificate</a:t>
            </a:r>
            <a:r>
              <a:rPr lang="zh-TW" altLang="en-US" sz="900" dirty="0">
                <a:solidFill>
                  <a:schemeClr val="accent6"/>
                </a:solidFill>
              </a:rPr>
              <a:t>，主動管理證書</a:t>
            </a:r>
            <a:r>
              <a:rPr lang="en-US" altLang="zh-TW" sz="900" dirty="0">
                <a:solidFill>
                  <a:schemeClr val="accent6"/>
                </a:solidFill>
              </a:rPr>
              <a:t>)</a:t>
            </a:r>
            <a:endParaRPr lang="en-US" altLang="zh-TW" sz="1050" dirty="0">
              <a:solidFill>
                <a:schemeClr val="accent6"/>
              </a:solidFill>
            </a:endParaRPr>
          </a:p>
          <a:p>
            <a:pPr marL="171450" indent="-171450">
              <a:lnSpc>
                <a:spcPct val="120000"/>
              </a:lnSpc>
              <a:buFont typeface="Arial" panose="020B0604020202020204" pitchFamily="34" charset="0"/>
              <a:buChar char="•"/>
            </a:pPr>
            <a:r>
              <a:rPr lang="en-US" altLang="zh-TW" sz="1200" dirty="0">
                <a:solidFill>
                  <a:schemeClr val="tx1"/>
                </a:solidFill>
              </a:rPr>
              <a:t>ETP</a:t>
            </a:r>
          </a:p>
          <a:p>
            <a:pPr marL="171450" indent="-171450">
              <a:lnSpc>
                <a:spcPct val="120000"/>
              </a:lnSpc>
              <a:buFont typeface="Arial" panose="020B0604020202020204" pitchFamily="34" charset="0"/>
              <a:buChar char="•"/>
            </a:pPr>
            <a:r>
              <a:rPr lang="zh-TW" altLang="en-US" sz="1200" dirty="0">
                <a:solidFill>
                  <a:schemeClr val="tx1"/>
                </a:solidFill>
              </a:rPr>
              <a:t>結構型商品</a:t>
            </a:r>
          </a:p>
        </p:txBody>
      </p:sp>
      <p:sp>
        <p:nvSpPr>
          <p:cNvPr id="8" name="矩形 7">
            <a:extLst>
              <a:ext uri="{FF2B5EF4-FFF2-40B4-BE49-F238E27FC236}">
                <a16:creationId xmlns:a16="http://schemas.microsoft.com/office/drawing/2014/main" id="{C3F763E3-7EE5-AE6E-D7F3-55532E685C6D}"/>
              </a:ext>
            </a:extLst>
          </p:cNvPr>
          <p:cNvSpPr/>
          <p:nvPr/>
        </p:nvSpPr>
        <p:spPr>
          <a:xfrm>
            <a:off x="631197" y="3803069"/>
            <a:ext cx="1389993" cy="847134"/>
          </a:xfrm>
          <a:prstGeom prst="rect">
            <a:avLst/>
          </a:prstGeom>
          <a:solidFill>
            <a:schemeClr val="tx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zh-TW" altLang="en-US" sz="1400" b="1" dirty="0">
                <a:solidFill>
                  <a:srgbClr val="FFFFFF"/>
                </a:solidFill>
              </a:rPr>
              <a:t>商業模式</a:t>
            </a:r>
          </a:p>
        </p:txBody>
      </p:sp>
      <p:sp>
        <p:nvSpPr>
          <p:cNvPr id="9" name="矩形 8">
            <a:extLst>
              <a:ext uri="{FF2B5EF4-FFF2-40B4-BE49-F238E27FC236}">
                <a16:creationId xmlns:a16="http://schemas.microsoft.com/office/drawing/2014/main" id="{050884A9-F161-6576-3D6A-95349E9E1560}"/>
              </a:ext>
            </a:extLst>
          </p:cNvPr>
          <p:cNvSpPr/>
          <p:nvPr/>
        </p:nvSpPr>
        <p:spPr>
          <a:xfrm>
            <a:off x="2237322" y="3803069"/>
            <a:ext cx="3566160" cy="847134"/>
          </a:xfrm>
          <a:prstGeom prst="rect">
            <a:avLst/>
          </a:prstGeom>
          <a:solidFill>
            <a:schemeClr val="bg1"/>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indent="-171450">
              <a:lnSpc>
                <a:spcPct val="120000"/>
              </a:lnSpc>
              <a:buFont typeface="Arial" panose="020B0604020202020204" pitchFamily="34" charset="0"/>
              <a:buChar char="•"/>
            </a:pPr>
            <a:r>
              <a:rPr lang="en-US" altLang="zh-TW" sz="1200" dirty="0">
                <a:solidFill>
                  <a:schemeClr val="tx1"/>
                </a:solidFill>
              </a:rPr>
              <a:t>AMC</a:t>
            </a:r>
            <a:r>
              <a:rPr lang="zh-TW" altLang="en-US" sz="1200" dirty="0">
                <a:solidFill>
                  <a:schemeClr val="tx1"/>
                </a:solidFill>
              </a:rPr>
              <a:t>：依管理資產規模收取較具經常性的收入</a:t>
            </a:r>
          </a:p>
          <a:p>
            <a:pPr marL="171450" indent="-171450">
              <a:lnSpc>
                <a:spcPct val="120000"/>
              </a:lnSpc>
              <a:buFont typeface="Arial" panose="020B0604020202020204" pitchFamily="34" charset="0"/>
              <a:buChar char="•"/>
            </a:pPr>
            <a:r>
              <a:rPr lang="zh-TW" altLang="en-US" sz="1200" dirty="0">
                <a:solidFill>
                  <a:schemeClr val="tx1"/>
                </a:solidFill>
              </a:rPr>
              <a:t>結構型商品：以交易、執行及相關服務收入為主</a:t>
            </a:r>
            <a:endParaRPr kumimoji="1" lang="zh-TW" altLang="en-US" sz="1200" dirty="0">
              <a:solidFill>
                <a:schemeClr val="tx1"/>
              </a:solidFill>
            </a:endParaRPr>
          </a:p>
        </p:txBody>
      </p:sp>
      <p:sp>
        <p:nvSpPr>
          <p:cNvPr id="10" name="矩形 9">
            <a:extLst>
              <a:ext uri="{FF2B5EF4-FFF2-40B4-BE49-F238E27FC236}">
                <a16:creationId xmlns:a16="http://schemas.microsoft.com/office/drawing/2014/main" id="{BE8064B0-E806-E4EA-E788-F28FE4D1E59B}"/>
              </a:ext>
            </a:extLst>
          </p:cNvPr>
          <p:cNvSpPr/>
          <p:nvPr/>
        </p:nvSpPr>
        <p:spPr>
          <a:xfrm>
            <a:off x="6390914" y="2739216"/>
            <a:ext cx="1389993" cy="1255983"/>
          </a:xfrm>
          <a:prstGeom prst="rect">
            <a:avLst/>
          </a:prstGeom>
          <a:solidFill>
            <a:schemeClr val="tx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altLang="zh-TW" sz="1400" b="1" dirty="0">
                <a:solidFill>
                  <a:srgbClr val="FFFFFF"/>
                </a:solidFill>
              </a:rPr>
              <a:t>FY25 </a:t>
            </a:r>
            <a:r>
              <a:rPr kumimoji="1" lang="zh-TW" altLang="en-US" sz="1400" b="1" dirty="0">
                <a:solidFill>
                  <a:srgbClr val="FFFFFF"/>
                </a:solidFill>
              </a:rPr>
              <a:t>營運規模</a:t>
            </a:r>
          </a:p>
        </p:txBody>
      </p:sp>
      <p:sp>
        <p:nvSpPr>
          <p:cNvPr id="11" name="矩形 10">
            <a:extLst>
              <a:ext uri="{FF2B5EF4-FFF2-40B4-BE49-F238E27FC236}">
                <a16:creationId xmlns:a16="http://schemas.microsoft.com/office/drawing/2014/main" id="{CDA43868-977A-6C57-55FE-DD6FAA4DE82A}"/>
              </a:ext>
            </a:extLst>
          </p:cNvPr>
          <p:cNvSpPr/>
          <p:nvPr/>
        </p:nvSpPr>
        <p:spPr>
          <a:xfrm>
            <a:off x="7997039" y="2739216"/>
            <a:ext cx="3566160" cy="1255983"/>
          </a:xfrm>
          <a:prstGeom prst="rect">
            <a:avLst/>
          </a:prstGeom>
          <a:solidFill>
            <a:schemeClr val="bg1"/>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indent="-171450">
              <a:lnSpc>
                <a:spcPct val="120000"/>
              </a:lnSpc>
              <a:buFont typeface="Arial" panose="020B0604020202020204" pitchFamily="34" charset="0"/>
              <a:buChar char="•"/>
            </a:pPr>
            <a:r>
              <a:rPr lang="en-US" altLang="zh-TW" sz="1200" dirty="0">
                <a:solidFill>
                  <a:schemeClr val="tx1"/>
                </a:solidFill>
              </a:rPr>
              <a:t>AMC </a:t>
            </a:r>
            <a:r>
              <a:rPr lang="zh-TW" altLang="en-US" sz="1200" dirty="0">
                <a:solidFill>
                  <a:schemeClr val="tx1"/>
                </a:solidFill>
              </a:rPr>
              <a:t>管理資產約 </a:t>
            </a:r>
            <a:r>
              <a:rPr lang="en-US" altLang="zh-TW" sz="1200" dirty="0">
                <a:solidFill>
                  <a:schemeClr val="tx1"/>
                </a:solidFill>
              </a:rPr>
              <a:t>US$450m</a:t>
            </a:r>
          </a:p>
          <a:p>
            <a:pPr marL="171450" indent="-171450">
              <a:lnSpc>
                <a:spcPct val="120000"/>
              </a:lnSpc>
              <a:buFont typeface="Arial" panose="020B0604020202020204" pitchFamily="34" charset="0"/>
              <a:buChar char="•"/>
            </a:pPr>
            <a:r>
              <a:rPr lang="zh-TW" altLang="en-US" sz="1200" dirty="0">
                <a:solidFill>
                  <a:schemeClr val="tx1"/>
                </a:solidFill>
              </a:rPr>
              <a:t>發行 </a:t>
            </a:r>
            <a:r>
              <a:rPr lang="en-US" altLang="zh-TW" sz="1200" dirty="0">
                <a:solidFill>
                  <a:schemeClr val="tx1"/>
                </a:solidFill>
              </a:rPr>
              <a:t>200+ </a:t>
            </a:r>
            <a:r>
              <a:rPr lang="zh-TW" altLang="en-US" sz="1200" dirty="0">
                <a:solidFill>
                  <a:schemeClr val="tx1"/>
                </a:solidFill>
              </a:rPr>
              <a:t>檔 </a:t>
            </a:r>
            <a:r>
              <a:rPr lang="en-US" altLang="zh-TW" sz="1200" dirty="0">
                <a:solidFill>
                  <a:schemeClr val="tx1"/>
                </a:solidFill>
              </a:rPr>
              <a:t>AMC</a:t>
            </a:r>
          </a:p>
          <a:p>
            <a:pPr marL="171450" indent="-171450">
              <a:lnSpc>
                <a:spcPct val="120000"/>
              </a:lnSpc>
              <a:buFont typeface="Arial" panose="020B0604020202020204" pitchFamily="34" charset="0"/>
              <a:buChar char="•"/>
            </a:pPr>
            <a:r>
              <a:rPr lang="zh-TW" altLang="en-US" sz="1200" dirty="0">
                <a:solidFill>
                  <a:schemeClr val="tx1"/>
                </a:solidFill>
              </a:rPr>
              <a:t>結構型商品量 </a:t>
            </a:r>
            <a:r>
              <a:rPr lang="en-US" altLang="zh-TW" sz="1200" dirty="0">
                <a:solidFill>
                  <a:schemeClr val="tx1"/>
                </a:solidFill>
              </a:rPr>
              <a:t>US$3bn+</a:t>
            </a:r>
          </a:p>
          <a:p>
            <a:pPr marL="171450" indent="-171450">
              <a:lnSpc>
                <a:spcPct val="120000"/>
              </a:lnSpc>
              <a:buFont typeface="Arial" panose="020B0604020202020204" pitchFamily="34" charset="0"/>
              <a:buChar char="•"/>
            </a:pPr>
            <a:r>
              <a:rPr lang="en-US" altLang="zh-TW" sz="1200" dirty="0">
                <a:solidFill>
                  <a:schemeClr val="tx1"/>
                </a:solidFill>
              </a:rPr>
              <a:t>400+ </a:t>
            </a:r>
            <a:r>
              <a:rPr lang="zh-TW" altLang="en-US" sz="1200" dirty="0">
                <a:solidFill>
                  <a:schemeClr val="tx1"/>
                </a:solidFill>
              </a:rPr>
              <a:t>客戶帳戶</a:t>
            </a:r>
          </a:p>
          <a:p>
            <a:pPr marL="171450" indent="-171450">
              <a:lnSpc>
                <a:spcPct val="120000"/>
              </a:lnSpc>
              <a:buFont typeface="Arial" panose="020B0604020202020204" pitchFamily="34" charset="0"/>
              <a:buChar char="•"/>
            </a:pPr>
            <a:r>
              <a:rPr lang="en-US" altLang="zh-TW" sz="1200" dirty="0">
                <a:solidFill>
                  <a:schemeClr val="tx1"/>
                </a:solidFill>
              </a:rPr>
              <a:t>30+ </a:t>
            </a:r>
            <a:r>
              <a:rPr lang="zh-TW" altLang="en-US" sz="1200" dirty="0">
                <a:solidFill>
                  <a:schemeClr val="tx1"/>
                </a:solidFill>
              </a:rPr>
              <a:t>發行合作夥伴</a:t>
            </a:r>
            <a:endParaRPr kumimoji="1" lang="zh-TW" altLang="en-US" sz="1200" dirty="0">
              <a:solidFill>
                <a:schemeClr val="tx1"/>
              </a:solidFill>
            </a:endParaRPr>
          </a:p>
        </p:txBody>
      </p:sp>
      <p:sp>
        <p:nvSpPr>
          <p:cNvPr id="12" name="矩形 11">
            <a:extLst>
              <a:ext uri="{FF2B5EF4-FFF2-40B4-BE49-F238E27FC236}">
                <a16:creationId xmlns:a16="http://schemas.microsoft.com/office/drawing/2014/main" id="{F8510780-BEB9-443E-A516-0CF7B4BB69F8}"/>
              </a:ext>
            </a:extLst>
          </p:cNvPr>
          <p:cNvSpPr/>
          <p:nvPr/>
        </p:nvSpPr>
        <p:spPr>
          <a:xfrm>
            <a:off x="6390914" y="4071624"/>
            <a:ext cx="1389993" cy="847135"/>
          </a:xfrm>
          <a:prstGeom prst="rect">
            <a:avLst/>
          </a:prstGeom>
          <a:solidFill>
            <a:schemeClr val="tx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altLang="zh-TW" sz="1400" b="1" dirty="0">
                <a:solidFill>
                  <a:srgbClr val="FFFFFF"/>
                </a:solidFill>
              </a:rPr>
              <a:t>FY25 </a:t>
            </a:r>
            <a:r>
              <a:rPr kumimoji="1" lang="zh-TW" altLang="en-US" sz="1400" b="1" dirty="0">
                <a:solidFill>
                  <a:srgbClr val="FFFFFF"/>
                </a:solidFill>
              </a:rPr>
              <a:t>財務績效</a:t>
            </a:r>
          </a:p>
        </p:txBody>
      </p:sp>
      <p:sp>
        <p:nvSpPr>
          <p:cNvPr id="13" name="矩形 12">
            <a:extLst>
              <a:ext uri="{FF2B5EF4-FFF2-40B4-BE49-F238E27FC236}">
                <a16:creationId xmlns:a16="http://schemas.microsoft.com/office/drawing/2014/main" id="{40B57E20-6A74-B44E-6CF6-A25BDBA0D6F2}"/>
              </a:ext>
            </a:extLst>
          </p:cNvPr>
          <p:cNvSpPr/>
          <p:nvPr/>
        </p:nvSpPr>
        <p:spPr>
          <a:xfrm>
            <a:off x="7997039" y="4071624"/>
            <a:ext cx="3566160" cy="847135"/>
          </a:xfrm>
          <a:prstGeom prst="rect">
            <a:avLst/>
          </a:prstGeom>
          <a:solidFill>
            <a:schemeClr val="bg1"/>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indent="-171450">
              <a:lnSpc>
                <a:spcPct val="120000"/>
              </a:lnSpc>
              <a:buFont typeface="Arial" panose="020B0604020202020204" pitchFamily="34" charset="0"/>
              <a:buChar char="•"/>
            </a:pPr>
            <a:r>
              <a:rPr lang="zh-TW" altLang="en-US" sz="1200" dirty="0">
                <a:solidFill>
                  <a:schemeClr val="tx1"/>
                </a:solidFill>
              </a:rPr>
              <a:t>收入約</a:t>
            </a:r>
            <a:r>
              <a:rPr lang="en-US" altLang="zh-TW" sz="1200" dirty="0">
                <a:solidFill>
                  <a:schemeClr val="tx1"/>
                </a:solidFill>
              </a:rPr>
              <a:t> US$19.3m</a:t>
            </a:r>
          </a:p>
          <a:p>
            <a:pPr marL="171450" indent="-171450">
              <a:lnSpc>
                <a:spcPct val="120000"/>
              </a:lnSpc>
              <a:buFont typeface="Arial" panose="020B0604020202020204" pitchFamily="34" charset="0"/>
              <a:buChar char="•"/>
            </a:pPr>
            <a:r>
              <a:rPr lang="en-US" altLang="zh-TW" sz="1200" dirty="0">
                <a:solidFill>
                  <a:schemeClr val="tx1"/>
                </a:solidFill>
              </a:rPr>
              <a:t>AMC </a:t>
            </a:r>
            <a:r>
              <a:rPr lang="zh-TW" altLang="en-US" sz="1200" dirty="0">
                <a:solidFill>
                  <a:schemeClr val="tx1"/>
                </a:solidFill>
              </a:rPr>
              <a:t>約占收入 </a:t>
            </a:r>
            <a:r>
              <a:rPr lang="en-US" altLang="zh-TW" sz="1200" dirty="0">
                <a:solidFill>
                  <a:schemeClr val="tx1"/>
                </a:solidFill>
              </a:rPr>
              <a:t>31%</a:t>
            </a:r>
          </a:p>
          <a:p>
            <a:pPr marL="171450" indent="-171450">
              <a:lnSpc>
                <a:spcPct val="120000"/>
              </a:lnSpc>
              <a:buFont typeface="Arial" panose="020B0604020202020204" pitchFamily="34" charset="0"/>
              <a:buChar char="•"/>
            </a:pPr>
            <a:r>
              <a:rPr lang="zh-TW" altLang="en-US" sz="1200" dirty="0">
                <a:solidFill>
                  <a:schemeClr val="tx1"/>
                </a:solidFill>
              </a:rPr>
              <a:t>結構型商品相關收入約占 </a:t>
            </a:r>
            <a:r>
              <a:rPr lang="en-US" altLang="zh-TW" sz="1200" dirty="0">
                <a:solidFill>
                  <a:schemeClr val="tx1"/>
                </a:solidFill>
              </a:rPr>
              <a:t>69%</a:t>
            </a:r>
            <a:endParaRPr kumimoji="1" lang="zh-TW" altLang="en-US" sz="1200" dirty="0">
              <a:solidFill>
                <a:schemeClr val="tx1"/>
              </a:solidFill>
            </a:endParaRPr>
          </a:p>
        </p:txBody>
      </p:sp>
      <p:sp>
        <p:nvSpPr>
          <p:cNvPr id="14" name="矩形 13">
            <a:extLst>
              <a:ext uri="{FF2B5EF4-FFF2-40B4-BE49-F238E27FC236}">
                <a16:creationId xmlns:a16="http://schemas.microsoft.com/office/drawing/2014/main" id="{911C7B3F-11EC-D973-9864-0BF7866E5D76}"/>
              </a:ext>
            </a:extLst>
          </p:cNvPr>
          <p:cNvSpPr/>
          <p:nvPr/>
        </p:nvSpPr>
        <p:spPr>
          <a:xfrm>
            <a:off x="631197" y="4751162"/>
            <a:ext cx="1389993" cy="1203918"/>
          </a:xfrm>
          <a:prstGeom prst="rect">
            <a:avLst/>
          </a:prstGeom>
          <a:solidFill>
            <a:schemeClr val="tx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zh-TW" altLang="en-US" sz="1400" b="1" dirty="0">
                <a:solidFill>
                  <a:srgbClr val="FFFFFF"/>
                </a:solidFill>
              </a:rPr>
              <a:t>核心能力</a:t>
            </a:r>
          </a:p>
        </p:txBody>
      </p:sp>
      <p:sp>
        <p:nvSpPr>
          <p:cNvPr id="15" name="矩形 14">
            <a:extLst>
              <a:ext uri="{FF2B5EF4-FFF2-40B4-BE49-F238E27FC236}">
                <a16:creationId xmlns:a16="http://schemas.microsoft.com/office/drawing/2014/main" id="{27D85823-700C-AF7B-BF3F-65A95FFF7EAA}"/>
              </a:ext>
            </a:extLst>
          </p:cNvPr>
          <p:cNvSpPr/>
          <p:nvPr/>
        </p:nvSpPr>
        <p:spPr>
          <a:xfrm>
            <a:off x="2237322" y="4751162"/>
            <a:ext cx="3566160" cy="1203918"/>
          </a:xfrm>
          <a:prstGeom prst="rect">
            <a:avLst/>
          </a:prstGeom>
          <a:solidFill>
            <a:schemeClr val="bg1"/>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indent="-171450">
              <a:lnSpc>
                <a:spcPct val="120000"/>
              </a:lnSpc>
              <a:buFont typeface="Arial" panose="020B0604020202020204" pitchFamily="34" charset="0"/>
              <a:buChar char="•"/>
            </a:pPr>
            <a:r>
              <a:rPr lang="zh-TW" altLang="en-US" sz="1200" dirty="0">
                <a:solidFill>
                  <a:schemeClr val="tx1"/>
                </a:solidFill>
              </a:rPr>
              <a:t>商品設計與包裝</a:t>
            </a:r>
          </a:p>
          <a:p>
            <a:pPr marL="171450" indent="-171450">
              <a:lnSpc>
                <a:spcPct val="120000"/>
              </a:lnSpc>
              <a:buFont typeface="Arial" panose="020B0604020202020204" pitchFamily="34" charset="0"/>
              <a:buChar char="•"/>
            </a:pPr>
            <a:r>
              <a:rPr lang="zh-TW" altLang="en-US" sz="1200" dirty="0">
                <a:solidFill>
                  <a:schemeClr val="tx1"/>
                </a:solidFill>
              </a:rPr>
              <a:t>商品發行</a:t>
            </a:r>
          </a:p>
          <a:p>
            <a:pPr marL="171450" indent="-171450">
              <a:lnSpc>
                <a:spcPct val="120000"/>
              </a:lnSpc>
              <a:buFont typeface="Arial" panose="020B0604020202020204" pitchFamily="34" charset="0"/>
              <a:buChar char="•"/>
            </a:pPr>
            <a:r>
              <a:rPr lang="zh-TW" altLang="en-US" sz="1200" dirty="0">
                <a:solidFill>
                  <a:schemeClr val="tx1"/>
                </a:solidFill>
              </a:rPr>
              <a:t>多發行商報價與交易</a:t>
            </a:r>
          </a:p>
          <a:p>
            <a:pPr marL="171450" indent="-171450">
              <a:lnSpc>
                <a:spcPct val="120000"/>
              </a:lnSpc>
              <a:buFont typeface="Arial" panose="020B0604020202020204" pitchFamily="34" charset="0"/>
              <a:buChar char="•"/>
            </a:pPr>
            <a:r>
              <a:rPr lang="zh-TW" altLang="en-US" sz="1200" dirty="0">
                <a:solidFill>
                  <a:schemeClr val="tx1"/>
                </a:solidFill>
              </a:rPr>
              <a:t>再平衡、到期處理及報表等全生命週期管理</a:t>
            </a:r>
          </a:p>
          <a:p>
            <a:pPr marL="171450" indent="-171450">
              <a:lnSpc>
                <a:spcPct val="120000"/>
              </a:lnSpc>
              <a:buFont typeface="Arial" panose="020B0604020202020204" pitchFamily="34" charset="0"/>
              <a:buChar char="•"/>
            </a:pPr>
            <a:r>
              <a:rPr lang="zh-TW" altLang="en-US" sz="1200" dirty="0">
                <a:solidFill>
                  <a:schemeClr val="tx1"/>
                </a:solidFill>
              </a:rPr>
              <a:t>商品分銷</a:t>
            </a:r>
            <a:endParaRPr kumimoji="1" lang="zh-TW" altLang="en-US" sz="1200" dirty="0">
              <a:solidFill>
                <a:schemeClr val="tx1"/>
              </a:solidFill>
            </a:endParaRPr>
          </a:p>
        </p:txBody>
      </p:sp>
      <p:sp>
        <p:nvSpPr>
          <p:cNvPr id="16" name="矩形 15">
            <a:extLst>
              <a:ext uri="{FF2B5EF4-FFF2-40B4-BE49-F238E27FC236}">
                <a16:creationId xmlns:a16="http://schemas.microsoft.com/office/drawing/2014/main" id="{76263E97-42FF-EAD7-568F-EE0D47AE24AE}"/>
              </a:ext>
            </a:extLst>
          </p:cNvPr>
          <p:cNvSpPr/>
          <p:nvPr/>
        </p:nvSpPr>
        <p:spPr>
          <a:xfrm>
            <a:off x="6390914" y="4981302"/>
            <a:ext cx="1389993" cy="973777"/>
          </a:xfrm>
          <a:prstGeom prst="rect">
            <a:avLst/>
          </a:prstGeom>
          <a:solidFill>
            <a:schemeClr val="tx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TW" altLang="zh-TW" sz="1400" dirty="0"/>
              <a:t>交易背景</a:t>
            </a:r>
            <a:endParaRPr kumimoji="1" lang="zh-TW" altLang="en-US" sz="1400" b="1" dirty="0">
              <a:solidFill>
                <a:srgbClr val="FFFFFF"/>
              </a:solidFill>
            </a:endParaRPr>
          </a:p>
        </p:txBody>
      </p:sp>
      <p:sp>
        <p:nvSpPr>
          <p:cNvPr id="17" name="矩形 16">
            <a:extLst>
              <a:ext uri="{FF2B5EF4-FFF2-40B4-BE49-F238E27FC236}">
                <a16:creationId xmlns:a16="http://schemas.microsoft.com/office/drawing/2014/main" id="{BBCB5EC2-0E2A-28DC-4AD5-4473B7313B71}"/>
              </a:ext>
            </a:extLst>
          </p:cNvPr>
          <p:cNvSpPr/>
          <p:nvPr/>
        </p:nvSpPr>
        <p:spPr>
          <a:xfrm>
            <a:off x="7997039" y="4981302"/>
            <a:ext cx="3566160" cy="973777"/>
          </a:xfrm>
          <a:prstGeom prst="rect">
            <a:avLst/>
          </a:prstGeom>
          <a:solidFill>
            <a:schemeClr val="bg1"/>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indent="-171450">
              <a:lnSpc>
                <a:spcPct val="120000"/>
              </a:lnSpc>
              <a:buFont typeface="Arial" panose="020B0604020202020204" pitchFamily="34" charset="0"/>
              <a:buChar char="•"/>
            </a:pPr>
            <a:r>
              <a:rPr lang="zh-TW" altLang="en-US" sz="1200" dirty="0">
                <a:solidFill>
                  <a:schemeClr val="tx1"/>
                </a:solidFill>
              </a:rPr>
              <a:t>股東啟動策略檢視</a:t>
            </a:r>
          </a:p>
          <a:p>
            <a:pPr marL="171450" indent="-171450">
              <a:lnSpc>
                <a:spcPct val="120000"/>
              </a:lnSpc>
              <a:buFont typeface="Arial" panose="020B0604020202020204" pitchFamily="34" charset="0"/>
              <a:buChar char="•"/>
            </a:pPr>
            <a:r>
              <a:rPr lang="zh-TW" altLang="en-US" sz="1200" dirty="0">
                <a:solidFill>
                  <a:schemeClr val="tx1"/>
                </a:solidFill>
              </a:rPr>
              <a:t>可能涉及最高 </a:t>
            </a:r>
            <a:r>
              <a:rPr lang="en-US" altLang="zh-TW" sz="1200" dirty="0">
                <a:solidFill>
                  <a:schemeClr val="tx1"/>
                </a:solidFill>
              </a:rPr>
              <a:t>100% </a:t>
            </a:r>
            <a:r>
              <a:rPr lang="zh-TW" altLang="en-US" sz="1200" dirty="0">
                <a:solidFill>
                  <a:schemeClr val="tx1"/>
                </a:solidFill>
              </a:rPr>
              <a:t>股權交易</a:t>
            </a:r>
          </a:p>
          <a:p>
            <a:pPr marL="171450" indent="-171450">
              <a:lnSpc>
                <a:spcPct val="120000"/>
              </a:lnSpc>
              <a:buFont typeface="Arial" panose="020B0604020202020204" pitchFamily="34" charset="0"/>
              <a:buChar char="•"/>
            </a:pPr>
            <a:r>
              <a:rPr lang="zh-TW" altLang="en-US" sz="1200" dirty="0">
                <a:solidFill>
                  <a:schemeClr val="tx1"/>
                </a:solidFill>
              </a:rPr>
              <a:t>賣方主張希望透過銀行合作、較強資產負債表及分銷資源支持下一階段擴張</a:t>
            </a:r>
            <a:endParaRPr kumimoji="1" lang="zh-TW" altLang="en-US" sz="1200" dirty="0">
              <a:solidFill>
                <a:schemeClr val="tx1"/>
              </a:solidFill>
            </a:endParaRPr>
          </a:p>
        </p:txBody>
      </p:sp>
    </p:spTree>
    <p:extLst>
      <p:ext uri="{BB962C8B-B14F-4D97-AF65-F5344CB8AC3E}">
        <p14:creationId xmlns:p14="http://schemas.microsoft.com/office/powerpoint/2010/main" val="38380503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6AE8D32E-25BB-8EC8-075F-CDBCD8954A8E}"/>
              </a:ext>
            </a:extLst>
          </p:cNvPr>
          <p:cNvGraphicFramePr>
            <a:graphicFrameLocks/>
          </p:cNvGraphicFramePr>
          <p:nvPr>
            <p:custDataLst>
              <p:tags r:id="rId1"/>
            </p:custDataLst>
            <p:extLst>
              <p:ext uri="{D42A27DB-BD31-4B8C-83A1-F6EECF244321}">
                <p14:modId xmlns:p14="http://schemas.microsoft.com/office/powerpoint/2010/main" val="174552999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3" name="thinkcell data - do not delete" hidden="1">
                        <a:extLst>
                          <a:ext uri="{FF2B5EF4-FFF2-40B4-BE49-F238E27FC236}">
                            <a16:creationId xmlns:a16="http://schemas.microsoft.com/office/drawing/2014/main" id="{6AE8D32E-25BB-8EC8-075F-CDBCD8954A8E}"/>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標題 1">
            <a:extLst>
              <a:ext uri="{FF2B5EF4-FFF2-40B4-BE49-F238E27FC236}">
                <a16:creationId xmlns:a16="http://schemas.microsoft.com/office/drawing/2014/main" id="{C204670E-8F7D-69F8-A44A-ECDD64B8912E}"/>
              </a:ext>
            </a:extLst>
          </p:cNvPr>
          <p:cNvSpPr>
            <a:spLocks noGrp="1"/>
          </p:cNvSpPr>
          <p:nvPr>
            <p:ph type="title"/>
          </p:nvPr>
        </p:nvSpPr>
        <p:spPr>
          <a:xfrm>
            <a:off x="630000" y="622800"/>
            <a:ext cx="10933200" cy="664797"/>
          </a:xfrm>
        </p:spPr>
        <p:txBody>
          <a:bodyPr vert="horz" rIns="0">
            <a:spAutoFit/>
          </a:bodyPr>
          <a:lstStyle/>
          <a:p>
            <a:r>
              <a:rPr kumimoji="1" lang="en-US" altLang="zh-TW" dirty="0"/>
              <a:t>AMC </a:t>
            </a:r>
            <a:r>
              <a:rPr kumimoji="1" lang="zh-TW" altLang="en-US" dirty="0"/>
              <a:t>在亞洲已被實際用於私銀、</a:t>
            </a:r>
            <a:r>
              <a:rPr kumimoji="1" lang="en-US" altLang="zh-TW" dirty="0"/>
              <a:t>EAM </a:t>
            </a:r>
            <a:r>
              <a:rPr kumimoji="1" lang="zh-TW" altLang="en-US" dirty="0"/>
              <a:t>與高資產客群，香港已有多個成熟商業先例、新加坡開始形成平台化模式；台灣目前尚未找到可驗證案例</a:t>
            </a:r>
          </a:p>
        </p:txBody>
      </p:sp>
      <p:graphicFrame>
        <p:nvGraphicFramePr>
          <p:cNvPr id="4" name="表格 3">
            <a:extLst>
              <a:ext uri="{FF2B5EF4-FFF2-40B4-BE49-F238E27FC236}">
                <a16:creationId xmlns:a16="http://schemas.microsoft.com/office/drawing/2014/main" id="{6C1AADFE-5862-293C-AE18-114E48A62FDE}"/>
              </a:ext>
            </a:extLst>
          </p:cNvPr>
          <p:cNvGraphicFramePr>
            <a:graphicFrameLocks noGrp="1"/>
          </p:cNvGraphicFramePr>
          <p:nvPr>
            <p:extLst>
              <p:ext uri="{D42A27DB-BD31-4B8C-83A1-F6EECF244321}">
                <p14:modId xmlns:p14="http://schemas.microsoft.com/office/powerpoint/2010/main" val="281793861"/>
              </p:ext>
            </p:extLst>
          </p:nvPr>
        </p:nvGraphicFramePr>
        <p:xfrm>
          <a:off x="630000" y="1526366"/>
          <a:ext cx="10933201" cy="4550237"/>
        </p:xfrm>
        <a:graphic>
          <a:graphicData uri="http://schemas.openxmlformats.org/drawingml/2006/table">
            <a:tbl>
              <a:tblPr>
                <a:tableStyleId>{5C22544A-7EE6-4342-B048-85BDC9FD1C3A}</a:tableStyleId>
              </a:tblPr>
              <a:tblGrid>
                <a:gridCol w="2046698">
                  <a:extLst>
                    <a:ext uri="{9D8B030D-6E8A-4147-A177-3AD203B41FA5}">
                      <a16:colId xmlns:a16="http://schemas.microsoft.com/office/drawing/2014/main" val="510773568"/>
                    </a:ext>
                  </a:extLst>
                </a:gridCol>
                <a:gridCol w="3636819">
                  <a:extLst>
                    <a:ext uri="{9D8B030D-6E8A-4147-A177-3AD203B41FA5}">
                      <a16:colId xmlns:a16="http://schemas.microsoft.com/office/drawing/2014/main" val="1308098752"/>
                    </a:ext>
                  </a:extLst>
                </a:gridCol>
                <a:gridCol w="3636819">
                  <a:extLst>
                    <a:ext uri="{9D8B030D-6E8A-4147-A177-3AD203B41FA5}">
                      <a16:colId xmlns:a16="http://schemas.microsoft.com/office/drawing/2014/main" val="100765725"/>
                    </a:ext>
                  </a:extLst>
                </a:gridCol>
                <a:gridCol w="1612865">
                  <a:extLst>
                    <a:ext uri="{9D8B030D-6E8A-4147-A177-3AD203B41FA5}">
                      <a16:colId xmlns:a16="http://schemas.microsoft.com/office/drawing/2014/main" val="1230908798"/>
                    </a:ext>
                  </a:extLst>
                </a:gridCol>
              </a:tblGrid>
              <a:tr h="322374">
                <a:tc>
                  <a:txBody>
                    <a:bodyPr/>
                    <a:lstStyle/>
                    <a:p>
                      <a:pPr>
                        <a:buNone/>
                      </a:pPr>
                      <a:r>
                        <a:rPr lang="zh-TW" sz="1400"/>
                        <a:t>判斷面向</a:t>
                      </a:r>
                    </a:p>
                  </a:txBody>
                  <a:tcPr marL="71333" marR="71333" marT="35667" marB="35667" anchor="ctr">
                    <a:lnB w="6350" cap="flat" cmpd="sng" algn="ctr">
                      <a:solidFill>
                        <a:schemeClr val="accent6">
                          <a:lumMod val="60000"/>
                          <a:lumOff val="40000"/>
                        </a:schemeClr>
                      </a:solidFill>
                      <a:prstDash val="solid"/>
                      <a:round/>
                      <a:headEnd type="none" w="med" len="med"/>
                      <a:tailEnd type="none" w="med" len="med"/>
                    </a:lnB>
                    <a:noFill/>
                  </a:tcPr>
                </a:tc>
                <a:tc>
                  <a:txBody>
                    <a:bodyPr/>
                    <a:lstStyle/>
                    <a:p>
                      <a:pPr>
                        <a:buNone/>
                      </a:pPr>
                      <a:r>
                        <a:rPr lang="zh-TW" sz="1400" dirty="0"/>
                        <a:t>香港</a:t>
                      </a:r>
                    </a:p>
                  </a:txBody>
                  <a:tcPr marL="71333" marR="71333" marT="35667" marB="35667" anchor="ctr">
                    <a:lnB w="6350" cap="flat" cmpd="sng" algn="ctr">
                      <a:solidFill>
                        <a:schemeClr val="accent6">
                          <a:lumMod val="60000"/>
                          <a:lumOff val="40000"/>
                        </a:schemeClr>
                      </a:solidFill>
                      <a:prstDash val="solid"/>
                      <a:round/>
                      <a:headEnd type="none" w="med" len="med"/>
                      <a:tailEnd type="none" w="med" len="med"/>
                    </a:lnB>
                    <a:noFill/>
                  </a:tcPr>
                </a:tc>
                <a:tc>
                  <a:txBody>
                    <a:bodyPr/>
                    <a:lstStyle/>
                    <a:p>
                      <a:pPr>
                        <a:buNone/>
                      </a:pPr>
                      <a:r>
                        <a:rPr lang="zh-TW" sz="1400"/>
                        <a:t>新加坡</a:t>
                      </a:r>
                    </a:p>
                  </a:txBody>
                  <a:tcPr marL="71333" marR="71333" marT="35667" marB="35667" anchor="ctr">
                    <a:lnB w="6350" cap="flat" cmpd="sng" algn="ctr">
                      <a:solidFill>
                        <a:schemeClr val="accent6">
                          <a:lumMod val="60000"/>
                          <a:lumOff val="40000"/>
                        </a:schemeClr>
                      </a:solidFill>
                      <a:prstDash val="solid"/>
                      <a:round/>
                      <a:headEnd type="none" w="med" len="med"/>
                      <a:tailEnd type="none" w="med" len="med"/>
                    </a:lnB>
                    <a:noFill/>
                  </a:tcPr>
                </a:tc>
                <a:tc>
                  <a:txBody>
                    <a:bodyPr/>
                    <a:lstStyle/>
                    <a:p>
                      <a:pPr>
                        <a:buNone/>
                      </a:pPr>
                      <a:r>
                        <a:rPr lang="zh-TW" sz="1400"/>
                        <a:t>台灣</a:t>
                      </a:r>
                    </a:p>
                  </a:txBody>
                  <a:tcPr marL="71333" marR="71333" marT="35667" marB="35667" anchor="ctr">
                    <a:lnB w="6350" cap="flat" cmpd="sng" algn="ctr">
                      <a:solidFill>
                        <a:schemeClr val="accent6">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1791471146"/>
                  </a:ext>
                </a:extLst>
              </a:tr>
              <a:tr h="911388">
                <a:tc>
                  <a:txBody>
                    <a:bodyPr/>
                    <a:lstStyle/>
                    <a:p>
                      <a:pPr>
                        <a:buNone/>
                      </a:pPr>
                      <a:r>
                        <a:rPr lang="zh-TW" sz="1400"/>
                        <a:t>AMC 實際商業案例</a:t>
                      </a:r>
                    </a:p>
                  </a:txBody>
                  <a:tcPr marL="71333" marR="71333" marT="35667" marB="35667"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tc>
                  <a:txBody>
                    <a:bodyPr/>
                    <a:lstStyle/>
                    <a:p>
                      <a:pPr>
                        <a:buNone/>
                      </a:pPr>
                      <a:r>
                        <a:rPr lang="zh-TW" altLang="en-US" sz="1200" dirty="0"/>
                        <a:t>案例多：</a:t>
                      </a:r>
                      <a:r>
                        <a:rPr lang="zh-TW" sz="1200" dirty="0"/>
                        <a:t>BNP、Julius Baer、Credit Suisse／UBS、UBP、Quam、Avenue</a:t>
                      </a:r>
                    </a:p>
                  </a:txBody>
                  <a:tcPr marL="71333" marR="71333" marT="35667" marB="35667"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tc>
                  <a:txBody>
                    <a:bodyPr/>
                    <a:lstStyle/>
                    <a:p>
                      <a:pPr>
                        <a:buNone/>
                      </a:pPr>
                      <a:r>
                        <a:rPr lang="zh-TW" altLang="en-US" sz="1200" dirty="0"/>
                        <a:t>案例</a:t>
                      </a:r>
                      <a:r>
                        <a:rPr lang="zh-TW" sz="1200" dirty="0"/>
                        <a:t>零散</a:t>
                      </a:r>
                      <a:r>
                        <a:rPr lang="zh-TW" altLang="en-US" sz="1200" dirty="0"/>
                        <a:t>：</a:t>
                      </a:r>
                      <a:r>
                        <a:rPr lang="zh-TW" sz="1200" dirty="0"/>
                        <a:t>Moomoo／Swiss-Asia、SilverSea、Leonteq</a:t>
                      </a:r>
                    </a:p>
                  </a:txBody>
                  <a:tcPr marL="71333" marR="71333" marT="35667" marB="35667"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tc>
                  <a:txBody>
                    <a:bodyPr/>
                    <a:lstStyle/>
                    <a:p>
                      <a:pPr>
                        <a:buNone/>
                      </a:pPr>
                      <a:r>
                        <a:rPr lang="zh-TW" altLang="en-US" sz="1200" dirty="0"/>
                        <a:t>無</a:t>
                      </a:r>
                      <a:endParaRPr lang="zh-TW" sz="1200" dirty="0"/>
                    </a:p>
                  </a:txBody>
                  <a:tcPr marL="71333" marR="71333" marT="35667" marB="35667"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1366879266"/>
                  </a:ext>
                </a:extLst>
              </a:tr>
              <a:tr h="564152">
                <a:tc>
                  <a:txBody>
                    <a:bodyPr/>
                    <a:lstStyle/>
                    <a:p>
                      <a:pPr>
                        <a:buNone/>
                      </a:pPr>
                      <a:r>
                        <a:rPr lang="zh-TW" sz="1400"/>
                        <a:t>主要使用客群</a:t>
                      </a:r>
                    </a:p>
                  </a:txBody>
                  <a:tcPr marL="71333" marR="71333" marT="35667" marB="35667"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tc>
                  <a:txBody>
                    <a:bodyPr/>
                    <a:lstStyle/>
                    <a:p>
                      <a:pPr>
                        <a:buNone/>
                      </a:pPr>
                      <a:r>
                        <a:rPr lang="zh-TW" sz="1200" dirty="0"/>
                        <a:t>PI、Private Bank、EAM、Family Office</a:t>
                      </a:r>
                    </a:p>
                  </a:txBody>
                  <a:tcPr marL="71333" marR="71333" marT="35667" marB="35667"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tc>
                  <a:txBody>
                    <a:bodyPr/>
                    <a:lstStyle/>
                    <a:p>
                      <a:pPr>
                        <a:buNone/>
                      </a:pPr>
                      <a:r>
                        <a:rPr lang="zh-TW" sz="1200" dirty="0"/>
                        <a:t>AI、EAM、Institutional、Wealth Platform</a:t>
                      </a:r>
                    </a:p>
                  </a:txBody>
                  <a:tcPr marL="71333" marR="71333" marT="35667" marB="35667"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tc>
                  <a:txBody>
                    <a:bodyPr/>
                    <a:lstStyle/>
                    <a:p>
                      <a:pPr>
                        <a:buNone/>
                      </a:pPr>
                      <a:r>
                        <a:rPr lang="zh-TW" altLang="en-US" sz="1200" dirty="0"/>
                        <a:t>無</a:t>
                      </a:r>
                      <a:endParaRPr lang="zh-TW" sz="1200" dirty="0"/>
                    </a:p>
                  </a:txBody>
                  <a:tcPr marL="71333" marR="71333" marT="35667" marB="35667"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2331333145"/>
                  </a:ext>
                </a:extLst>
              </a:tr>
              <a:tr h="1026392">
                <a:tc>
                  <a:txBody>
                    <a:bodyPr/>
                    <a:lstStyle/>
                    <a:p>
                      <a:pPr>
                        <a:buNone/>
                      </a:pPr>
                      <a:r>
                        <a:rPr lang="zh-TW" sz="1400"/>
                        <a:t>核心使用情境</a:t>
                      </a:r>
                    </a:p>
                  </a:txBody>
                  <a:tcPr marL="71333" marR="71333" marT="35667" marB="35667"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zh-TW" sz="1200" dirty="0"/>
                        <a:t>DPM 小額化</a:t>
                      </a:r>
                      <a:endParaRPr lang="en-US" altLang="zh-TW" sz="1200" dirty="0"/>
                    </a:p>
                    <a:p>
                      <a:pPr marL="171450" indent="-171450">
                        <a:buFont typeface="Arial" panose="020B0604020202020204" pitchFamily="34" charset="0"/>
                        <a:buChar char="•"/>
                      </a:pPr>
                      <a:r>
                        <a:rPr lang="zh-TW" sz="1200" dirty="0"/>
                        <a:t>EAM 策略商品化</a:t>
                      </a:r>
                      <a:endParaRPr lang="en-US" altLang="zh-TW" sz="1200" dirty="0"/>
                    </a:p>
                    <a:p>
                      <a:pPr marL="171450" indent="-171450">
                        <a:buFont typeface="Arial" panose="020B0604020202020204" pitchFamily="34" charset="0"/>
                        <a:buChar char="•"/>
                      </a:pPr>
                      <a:r>
                        <a:rPr lang="zh-TW" sz="1200" dirty="0"/>
                        <a:t>客製配置</a:t>
                      </a:r>
                      <a:endParaRPr lang="en-US" altLang="zh-TW" sz="1200" dirty="0"/>
                    </a:p>
                    <a:p>
                      <a:pPr marL="171450" indent="-171450">
                        <a:buFont typeface="Arial" panose="020B0604020202020204" pitchFamily="34" charset="0"/>
                        <a:buChar char="•"/>
                      </a:pPr>
                      <a:r>
                        <a:rPr lang="zh-TW" sz="1200" dirty="0"/>
                        <a:t>營運外包</a:t>
                      </a:r>
                    </a:p>
                  </a:txBody>
                  <a:tcPr marL="71333" marR="71333" marT="35667" marB="35667"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zh-TW" sz="1200" dirty="0"/>
                        <a:t>策略商品化</a:t>
                      </a:r>
                      <a:endParaRPr lang="en-US" altLang="zh-TW" sz="1200" dirty="0"/>
                    </a:p>
                    <a:p>
                      <a:pPr marL="171450" indent="-171450">
                        <a:buFont typeface="Arial" panose="020B0604020202020204" pitchFamily="34" charset="0"/>
                        <a:buChar char="•"/>
                      </a:pPr>
                      <a:r>
                        <a:rPr lang="zh-TW" sz="1200" dirty="0"/>
                        <a:t>EAM／平台分銷</a:t>
                      </a:r>
                      <a:endParaRPr lang="en-US" altLang="zh-TW" sz="1200" dirty="0"/>
                    </a:p>
                    <a:p>
                      <a:pPr marL="171450" indent="-171450">
                        <a:buFont typeface="Arial" panose="020B0604020202020204" pitchFamily="34" charset="0"/>
                        <a:buChar char="•"/>
                      </a:pPr>
                      <a:r>
                        <a:rPr lang="zh-TW" sz="1200" dirty="0"/>
                        <a:t>數位財管</a:t>
                      </a:r>
                    </a:p>
                  </a:txBody>
                  <a:tcPr marL="71333" marR="71333" marT="35667" marB="35667"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tc>
                  <a:txBody>
                    <a:bodyPr/>
                    <a:lstStyle/>
                    <a:p>
                      <a:pPr>
                        <a:buNone/>
                      </a:pPr>
                      <a:r>
                        <a:rPr lang="zh-TW" altLang="en-US" sz="1200" dirty="0"/>
                        <a:t>無</a:t>
                      </a:r>
                      <a:endParaRPr lang="zh-TW" sz="1200" dirty="0"/>
                    </a:p>
                  </a:txBody>
                  <a:tcPr marL="71333" marR="71333" marT="35667" marB="35667"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3826287546"/>
                  </a:ext>
                </a:extLst>
              </a:tr>
              <a:tr h="597625">
                <a:tc>
                  <a:txBody>
                    <a:bodyPr/>
                    <a:lstStyle/>
                    <a:p>
                      <a:pPr>
                        <a:buNone/>
                      </a:pPr>
                      <a:r>
                        <a:rPr lang="zh-TW" sz="1400"/>
                        <a:t>商品化優勢</a:t>
                      </a:r>
                    </a:p>
                  </a:txBody>
                  <a:tcPr marL="71333" marR="71333" marT="35667" marB="35667"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tc>
                  <a:txBody>
                    <a:bodyPr/>
                    <a:lstStyle/>
                    <a:p>
                      <a:pPr>
                        <a:buNone/>
                      </a:pPr>
                      <a:r>
                        <a:rPr lang="zh-TW" sz="1200" dirty="0"/>
                        <a:t>BNP 案例將一般 DPM 約 US$1m 門檻降至約 US$150k</a:t>
                      </a:r>
                    </a:p>
                  </a:txBody>
                  <a:tcPr marL="71333" marR="71333" marT="35667" marB="35667"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tc>
                  <a:txBody>
                    <a:bodyPr/>
                    <a:lstStyle/>
                    <a:p>
                      <a:pPr>
                        <a:buNone/>
                      </a:pPr>
                      <a:r>
                        <a:rPr lang="zh-TW" sz="1200" dirty="0"/>
                        <a:t>已有平台案例，但 ticket、fee、liquidity 公開資訊較少</a:t>
                      </a:r>
                    </a:p>
                  </a:txBody>
                  <a:tcPr marL="71333" marR="71333" marT="35667" marB="35667"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tc>
                  <a:txBody>
                    <a:bodyPr/>
                    <a:lstStyle/>
                    <a:p>
                      <a:pPr>
                        <a:buNone/>
                      </a:pPr>
                      <a:r>
                        <a:rPr lang="zh-TW" altLang="en-US" sz="1200" dirty="0"/>
                        <a:t>無</a:t>
                      </a:r>
                      <a:endParaRPr lang="zh-TW" sz="1200" dirty="0"/>
                    </a:p>
                  </a:txBody>
                  <a:tcPr marL="71333" marR="71333" marT="35667" marB="35667"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3441203497"/>
                  </a:ext>
                </a:extLst>
              </a:tr>
              <a:tr h="805932">
                <a:tc>
                  <a:txBody>
                    <a:bodyPr/>
                    <a:lstStyle/>
                    <a:p>
                      <a:pPr>
                        <a:buNone/>
                      </a:pPr>
                      <a:r>
                        <a:rPr lang="zh-TW" sz="1400"/>
                        <a:t>平台／Booking 模式</a:t>
                      </a:r>
                    </a:p>
                  </a:txBody>
                  <a:tcPr marL="71333" marR="71333" marT="35667" marB="35667"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tc>
                  <a:txBody>
                    <a:bodyPr/>
                    <a:lstStyle/>
                    <a:p>
                      <a:pPr>
                        <a:buNone/>
                      </a:pPr>
                      <a:r>
                        <a:rPr lang="zh-TW" sz="1200" dirty="0"/>
                        <a:t>成熟</a:t>
                      </a:r>
                      <a:r>
                        <a:rPr lang="zh-TW" altLang="en-US" sz="1200" dirty="0"/>
                        <a:t> </a:t>
                      </a:r>
                      <a:r>
                        <a:rPr lang="zh-TW" sz="1200" dirty="0"/>
                        <a:t>AMC 可嵌入既有 PB／EAM custody、booking、reporting</a:t>
                      </a:r>
                    </a:p>
                  </a:txBody>
                  <a:tcPr marL="71333" marR="71333" marT="35667" marB="35667"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tc>
                  <a:txBody>
                    <a:bodyPr/>
                    <a:lstStyle/>
                    <a:p>
                      <a:pPr>
                        <a:buNone/>
                      </a:pPr>
                      <a:r>
                        <a:rPr lang="zh-TW" sz="1200" dirty="0"/>
                        <a:t>逐步形成AI／EAM／broker platform 路徑</a:t>
                      </a:r>
                    </a:p>
                  </a:txBody>
                  <a:tcPr marL="71333" marR="71333" marT="35667" marB="35667"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tc>
                  <a:txBody>
                    <a:bodyPr/>
                    <a:lstStyle/>
                    <a:p>
                      <a:pPr>
                        <a:buNone/>
                      </a:pPr>
                      <a:r>
                        <a:rPr lang="zh-TW" altLang="en-US" sz="1200" dirty="0"/>
                        <a:t>無</a:t>
                      </a:r>
                      <a:endParaRPr lang="zh-TW" sz="1200" dirty="0"/>
                    </a:p>
                  </a:txBody>
                  <a:tcPr marL="71333" marR="71333" marT="35667" marB="35667"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4171152594"/>
                  </a:ext>
                </a:extLst>
              </a:tr>
              <a:tr h="322374">
                <a:tc>
                  <a:txBody>
                    <a:bodyPr/>
                    <a:lstStyle/>
                    <a:p>
                      <a:pPr>
                        <a:buNone/>
                      </a:pPr>
                      <a:r>
                        <a:rPr lang="zh-TW" sz="1400"/>
                        <a:t>整體成熟度</a:t>
                      </a:r>
                    </a:p>
                  </a:txBody>
                  <a:tcPr marL="71333" marR="71333" marT="35667" marB="35667" anchor="ctr">
                    <a:lnT w="6350" cap="flat" cmpd="sng" algn="ctr">
                      <a:solidFill>
                        <a:schemeClr val="accent6">
                          <a:lumMod val="60000"/>
                          <a:lumOff val="40000"/>
                        </a:schemeClr>
                      </a:solidFill>
                      <a:prstDash val="solid"/>
                      <a:round/>
                      <a:headEnd type="none" w="med" len="med"/>
                      <a:tailEnd type="none" w="med" len="med"/>
                    </a:lnT>
                    <a:noFill/>
                  </a:tcPr>
                </a:tc>
                <a:tc>
                  <a:txBody>
                    <a:bodyPr/>
                    <a:lstStyle/>
                    <a:p>
                      <a:pPr>
                        <a:buNone/>
                      </a:pPr>
                      <a:r>
                        <a:rPr lang="zh-TW" altLang="en-US" sz="1200" dirty="0"/>
                        <a:t>高</a:t>
                      </a:r>
                      <a:endParaRPr lang="zh-TW" sz="1200" dirty="0"/>
                    </a:p>
                  </a:txBody>
                  <a:tcPr marL="71333" marR="71333" marT="35667" marB="35667" anchor="ctr">
                    <a:lnT w="6350" cap="flat" cmpd="sng" algn="ctr">
                      <a:solidFill>
                        <a:schemeClr val="accent6">
                          <a:lumMod val="60000"/>
                          <a:lumOff val="40000"/>
                        </a:schemeClr>
                      </a:solidFill>
                      <a:prstDash val="solid"/>
                      <a:round/>
                      <a:headEnd type="none" w="med" len="med"/>
                      <a:tailEnd type="none" w="med" len="med"/>
                    </a:lnT>
                    <a:noFill/>
                  </a:tcPr>
                </a:tc>
                <a:tc>
                  <a:txBody>
                    <a:bodyPr/>
                    <a:lstStyle/>
                    <a:p>
                      <a:pPr>
                        <a:buNone/>
                      </a:pPr>
                      <a:r>
                        <a:rPr lang="zh-TW" altLang="en-US" sz="1200" dirty="0"/>
                        <a:t>中</a:t>
                      </a:r>
                      <a:endParaRPr lang="zh-TW" sz="1200" dirty="0"/>
                    </a:p>
                  </a:txBody>
                  <a:tcPr marL="71333" marR="71333" marT="35667" marB="35667" anchor="ctr">
                    <a:lnT w="6350" cap="flat" cmpd="sng" algn="ctr">
                      <a:solidFill>
                        <a:schemeClr val="accent6">
                          <a:lumMod val="60000"/>
                          <a:lumOff val="40000"/>
                        </a:schemeClr>
                      </a:solidFill>
                      <a:prstDash val="solid"/>
                      <a:round/>
                      <a:headEnd type="none" w="med" len="med"/>
                      <a:tailEnd type="none" w="med" len="med"/>
                    </a:lnT>
                    <a:noFill/>
                  </a:tcPr>
                </a:tc>
                <a:tc>
                  <a:txBody>
                    <a:bodyPr/>
                    <a:lstStyle/>
                    <a:p>
                      <a:pPr>
                        <a:buNone/>
                      </a:pPr>
                      <a:r>
                        <a:rPr lang="zh-TW" altLang="en-US" sz="1200" dirty="0"/>
                        <a:t>低</a:t>
                      </a:r>
                      <a:endParaRPr lang="zh-TW" sz="1200" dirty="0"/>
                    </a:p>
                  </a:txBody>
                  <a:tcPr marL="71333" marR="71333" marT="35667" marB="35667" anchor="ctr">
                    <a:lnT w="6350" cap="flat" cmpd="sng" algn="ctr">
                      <a:solidFill>
                        <a:schemeClr val="accent6">
                          <a:lumMod val="60000"/>
                          <a:lumOff val="40000"/>
                        </a:schemeClr>
                      </a:solidFill>
                      <a:prstDash val="solid"/>
                      <a:round/>
                      <a:headEnd type="none" w="med" len="med"/>
                      <a:tailEnd type="none" w="med" len="med"/>
                    </a:lnT>
                    <a:noFill/>
                  </a:tcPr>
                </a:tc>
                <a:extLst>
                  <a:ext uri="{0D108BD9-81ED-4DB2-BD59-A6C34878D82A}">
                    <a16:rowId xmlns:a16="http://schemas.microsoft.com/office/drawing/2014/main" val="744769237"/>
                  </a:ext>
                </a:extLst>
              </a:tr>
            </a:tbl>
          </a:graphicData>
        </a:graphic>
      </p:graphicFrame>
    </p:spTree>
    <p:extLst>
      <p:ext uri="{BB962C8B-B14F-4D97-AF65-F5344CB8AC3E}">
        <p14:creationId xmlns:p14="http://schemas.microsoft.com/office/powerpoint/2010/main" val="7647594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0A721-F6A1-9B41-2C05-675D480B0368}"/>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47375AD-C005-3A68-D6EF-978CF8C812B9}"/>
              </a:ext>
            </a:extLst>
          </p:cNvPr>
          <p:cNvGraphicFramePr>
            <a:graphicFrameLocks/>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幻灯片" r:id="rId3" imgW="7772400" imgH="10058400" progId="TCLayout.ActiveDocument.1">
                  <p:embed/>
                </p:oleObj>
              </mc:Choice>
              <mc:Fallback>
                <p:oleObj name="thinkcell 幻灯片" r:id="rId3" imgW="7772400" imgH="10058400" progId="TCLayout.ActiveDocument.1">
                  <p:embed/>
                  <p:pic>
                    <p:nvPicPr>
                      <p:cNvPr id="3" name="thinkcell data - do not delete" hidden="1">
                        <a:extLst>
                          <a:ext uri="{FF2B5EF4-FFF2-40B4-BE49-F238E27FC236}">
                            <a16:creationId xmlns:a16="http://schemas.microsoft.com/office/drawing/2014/main" id="{57A43497-90CF-0126-23FD-4D8A5BFDDB14}"/>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標題 1">
            <a:extLst>
              <a:ext uri="{FF2B5EF4-FFF2-40B4-BE49-F238E27FC236}">
                <a16:creationId xmlns:a16="http://schemas.microsoft.com/office/drawing/2014/main" id="{3B0F2FE1-C031-9994-01F4-AD709FA54EC2}"/>
              </a:ext>
            </a:extLst>
          </p:cNvPr>
          <p:cNvSpPr>
            <a:spLocks noGrp="1"/>
          </p:cNvSpPr>
          <p:nvPr>
            <p:ph type="title"/>
          </p:nvPr>
        </p:nvSpPr>
        <p:spPr>
          <a:xfrm>
            <a:off x="630000" y="622800"/>
            <a:ext cx="10933200" cy="332399"/>
          </a:xfrm>
        </p:spPr>
        <p:txBody>
          <a:bodyPr vert="horz" rIns="0">
            <a:spAutoFit/>
          </a:bodyPr>
          <a:lstStyle/>
          <a:p>
            <a:r>
              <a:rPr kumimoji="1" lang="en-US" altLang="zh-TW" dirty="0"/>
              <a:t>AMC</a:t>
            </a:r>
            <a:r>
              <a:rPr kumimoji="1" lang="zh-TW" altLang="en-US" dirty="0"/>
              <a:t> 在三地合規落地程度明顯分化，香港最成熟，新加坡次之</a:t>
            </a:r>
          </a:p>
        </p:txBody>
      </p:sp>
      <p:graphicFrame>
        <p:nvGraphicFramePr>
          <p:cNvPr id="4" name="表格 3">
            <a:extLst>
              <a:ext uri="{FF2B5EF4-FFF2-40B4-BE49-F238E27FC236}">
                <a16:creationId xmlns:a16="http://schemas.microsoft.com/office/drawing/2014/main" id="{782510CC-86D6-0A58-7A81-65608BF19FC2}"/>
              </a:ext>
            </a:extLst>
          </p:cNvPr>
          <p:cNvGraphicFramePr>
            <a:graphicFrameLocks noGrp="1"/>
          </p:cNvGraphicFramePr>
          <p:nvPr>
            <p:extLst>
              <p:ext uri="{D42A27DB-BD31-4B8C-83A1-F6EECF244321}">
                <p14:modId xmlns:p14="http://schemas.microsoft.com/office/powerpoint/2010/main" val="2898553992"/>
              </p:ext>
            </p:extLst>
          </p:nvPr>
        </p:nvGraphicFramePr>
        <p:xfrm>
          <a:off x="629999" y="1300713"/>
          <a:ext cx="10933199" cy="5056408"/>
        </p:xfrm>
        <a:graphic>
          <a:graphicData uri="http://schemas.openxmlformats.org/drawingml/2006/table">
            <a:tbl>
              <a:tblPr>
                <a:tableStyleId>{5C22544A-7EE6-4342-B048-85BDC9FD1C3A}</a:tableStyleId>
              </a:tblPr>
              <a:tblGrid>
                <a:gridCol w="1344818">
                  <a:extLst>
                    <a:ext uri="{9D8B030D-6E8A-4147-A177-3AD203B41FA5}">
                      <a16:colId xmlns:a16="http://schemas.microsoft.com/office/drawing/2014/main" val="164427449"/>
                    </a:ext>
                  </a:extLst>
                </a:gridCol>
                <a:gridCol w="2485879">
                  <a:extLst>
                    <a:ext uri="{9D8B030D-6E8A-4147-A177-3AD203B41FA5}">
                      <a16:colId xmlns:a16="http://schemas.microsoft.com/office/drawing/2014/main" val="2859708594"/>
                    </a:ext>
                  </a:extLst>
                </a:gridCol>
                <a:gridCol w="4104118">
                  <a:extLst>
                    <a:ext uri="{9D8B030D-6E8A-4147-A177-3AD203B41FA5}">
                      <a16:colId xmlns:a16="http://schemas.microsoft.com/office/drawing/2014/main" val="4055005723"/>
                    </a:ext>
                  </a:extLst>
                </a:gridCol>
                <a:gridCol w="2998384">
                  <a:extLst>
                    <a:ext uri="{9D8B030D-6E8A-4147-A177-3AD203B41FA5}">
                      <a16:colId xmlns:a16="http://schemas.microsoft.com/office/drawing/2014/main" val="3176695865"/>
                    </a:ext>
                  </a:extLst>
                </a:gridCol>
              </a:tblGrid>
              <a:tr h="281841">
                <a:tc>
                  <a:txBody>
                    <a:bodyPr/>
                    <a:lstStyle/>
                    <a:p>
                      <a:pPr>
                        <a:buNone/>
                      </a:pPr>
                      <a:r>
                        <a:rPr lang="zh-TW" sz="1200" b="1" dirty="0"/>
                        <a:t>市場</a:t>
                      </a:r>
                    </a:p>
                  </a:txBody>
                  <a:tcPr marL="26860" marR="26860" marT="13430" marB="13430" anchor="ctr">
                    <a:lnB w="6350" cap="flat" cmpd="sng" algn="ctr">
                      <a:solidFill>
                        <a:schemeClr val="accent6">
                          <a:lumMod val="60000"/>
                          <a:lumOff val="40000"/>
                        </a:schemeClr>
                      </a:solidFill>
                      <a:prstDash val="solid"/>
                      <a:round/>
                      <a:headEnd type="none" w="med" len="med"/>
                      <a:tailEnd type="none" w="med" len="med"/>
                    </a:lnB>
                    <a:noFill/>
                  </a:tcPr>
                </a:tc>
                <a:tc>
                  <a:txBody>
                    <a:bodyPr/>
                    <a:lstStyle/>
                    <a:p>
                      <a:pPr>
                        <a:buNone/>
                      </a:pPr>
                      <a:r>
                        <a:rPr lang="zh-TW" sz="1200" b="1" dirty="0"/>
                        <a:t>客群</a:t>
                      </a:r>
                    </a:p>
                  </a:txBody>
                  <a:tcPr marL="26860" marR="26860" marT="13430" marB="13430" anchor="ctr">
                    <a:lnB w="6350" cap="flat" cmpd="sng" algn="ctr">
                      <a:solidFill>
                        <a:schemeClr val="accent6">
                          <a:lumMod val="60000"/>
                          <a:lumOff val="40000"/>
                        </a:schemeClr>
                      </a:solidFill>
                      <a:prstDash val="solid"/>
                      <a:round/>
                      <a:headEnd type="none" w="med" len="med"/>
                      <a:tailEnd type="none" w="med" len="med"/>
                    </a:lnB>
                    <a:noFill/>
                  </a:tcPr>
                </a:tc>
                <a:tc>
                  <a:txBody>
                    <a:bodyPr/>
                    <a:lstStyle/>
                    <a:p>
                      <a:pPr>
                        <a:buNone/>
                      </a:pPr>
                      <a:r>
                        <a:rPr lang="zh-TW" sz="1200" b="1" dirty="0"/>
                        <a:t>AMC／白牌商品</a:t>
                      </a:r>
                    </a:p>
                  </a:txBody>
                  <a:tcPr marL="26860" marR="26860" marT="13430" marB="13430" anchor="ctr">
                    <a:lnB w="6350" cap="flat" cmpd="sng" algn="ctr">
                      <a:solidFill>
                        <a:schemeClr val="accent6">
                          <a:lumMod val="60000"/>
                          <a:lumOff val="40000"/>
                        </a:schemeClr>
                      </a:solidFill>
                      <a:prstDash val="solid"/>
                      <a:round/>
                      <a:headEnd type="none" w="med" len="med"/>
                      <a:tailEnd type="none" w="med" len="med"/>
                    </a:lnB>
                    <a:noFill/>
                  </a:tcPr>
                </a:tc>
                <a:tc>
                  <a:txBody>
                    <a:bodyPr/>
                    <a:lstStyle/>
                    <a:p>
                      <a:pPr>
                        <a:buNone/>
                      </a:pPr>
                      <a:r>
                        <a:rPr lang="zh-TW" sz="1200" b="1" dirty="0"/>
                        <a:t>KGI 可能承接法人</a:t>
                      </a:r>
                    </a:p>
                  </a:txBody>
                  <a:tcPr marL="26860" marR="26860" marT="13430" marB="13430" anchor="ctr">
                    <a:lnB w="6350" cap="flat" cmpd="sng" algn="ctr">
                      <a:solidFill>
                        <a:schemeClr val="accent6">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3539474998"/>
                  </a:ext>
                </a:extLst>
              </a:tr>
              <a:tr h="402631">
                <a:tc rowSpan="4">
                  <a:txBody>
                    <a:bodyPr/>
                    <a:lstStyle/>
                    <a:p>
                      <a:pPr>
                        <a:buNone/>
                      </a:pPr>
                      <a:r>
                        <a:rPr lang="zh-TW" sz="1200" b="1" dirty="0"/>
                        <a:t>台灣</a:t>
                      </a:r>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tc>
                  <a:txBody>
                    <a:bodyPr/>
                    <a:lstStyle/>
                    <a:p>
                      <a:pPr>
                        <a:buNone/>
                      </a:pPr>
                      <a:r>
                        <a:rPr lang="zh-TW" sz="1050" dirty="0"/>
                        <a:t>一般客戶</a:t>
                      </a:r>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tc>
                  <a:txBody>
                    <a:bodyPr/>
                    <a:lstStyle/>
                    <a:p>
                      <a:pPr>
                        <a:buNone/>
                      </a:pPr>
                      <a:r>
                        <a:rPr lang="zh-TW" sz="1000" dirty="0"/>
                        <a:t>落地難度高</a:t>
                      </a:r>
                      <a:r>
                        <a:rPr lang="zh-TW" altLang="en-US" sz="1000" dirty="0"/>
                        <a:t>：</a:t>
                      </a:r>
                      <a:r>
                        <a:rPr lang="zh-TW" sz="1000" dirty="0"/>
                        <a:t>AMC 法律形式及公開銷售路徑均需先確認</a:t>
                      </a:r>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solidFill>
                      <a:srgbClr val="EBC5D0"/>
                    </a:solidFill>
                  </a:tcPr>
                </a:tc>
                <a:tc>
                  <a:txBody>
                    <a:bodyPr/>
                    <a:lstStyle/>
                    <a:p>
                      <a:pPr>
                        <a:buNone/>
                      </a:pPr>
                      <a:r>
                        <a:rPr lang="zh-TW" sz="1050" dirty="0"/>
                        <a:t>凱基證券／凱基銀行</a:t>
                      </a:r>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2923858318"/>
                  </a:ext>
                </a:extLst>
              </a:tr>
              <a:tr h="492681">
                <a:tc vMerge="1">
                  <a:txBody>
                    <a:bodyPr/>
                    <a:lstStyle/>
                    <a:p>
                      <a:pPr>
                        <a:buNone/>
                      </a:pPr>
                      <a:endParaRPr lang="zh-TW" sz="1100" b="1" dirty="0"/>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tc>
                  <a:txBody>
                    <a:bodyPr/>
                    <a:lstStyle/>
                    <a:p>
                      <a:pPr>
                        <a:buNone/>
                      </a:pPr>
                      <a:r>
                        <a:rPr lang="zh-TW" sz="1050" dirty="0"/>
                        <a:t>專業投資人－自然人</a:t>
                      </a:r>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tc>
                  <a:txBody>
                    <a:bodyPr/>
                    <a:lstStyle/>
                    <a:p>
                      <a:pPr>
                        <a:buNone/>
                      </a:pPr>
                      <a:r>
                        <a:rPr lang="zh-TW" sz="1000" dirty="0"/>
                        <a:t>具潛在路徑仍須確認 AMC 法律形式、發行人與商品文件</a:t>
                      </a:r>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solidFill>
                      <a:srgbClr val="FBFCA9"/>
                    </a:solidFill>
                  </a:tcPr>
                </a:tc>
                <a:tc>
                  <a:txBody>
                    <a:bodyPr/>
                    <a:lstStyle/>
                    <a:p>
                      <a:pPr>
                        <a:buNone/>
                      </a:pPr>
                      <a:r>
                        <a:rPr lang="zh-TW" sz="1050" dirty="0"/>
                        <a:t>凱基證券／凱基銀行／OSU</a:t>
                      </a:r>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1729442264"/>
                  </a:ext>
                </a:extLst>
              </a:tr>
              <a:tr h="402631">
                <a:tc vMerge="1">
                  <a:txBody>
                    <a:bodyPr/>
                    <a:lstStyle/>
                    <a:p>
                      <a:pPr>
                        <a:buNone/>
                      </a:pPr>
                      <a:endParaRPr lang="zh-TW" sz="1100" b="1" dirty="0"/>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tc>
                  <a:txBody>
                    <a:bodyPr/>
                    <a:lstStyle/>
                    <a:p>
                      <a:pPr>
                        <a:buNone/>
                      </a:pPr>
                      <a:r>
                        <a:rPr lang="zh-TW" sz="1050" dirty="0"/>
                        <a:t>專業投資人－法人</a:t>
                      </a:r>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tc>
                  <a:txBody>
                    <a:bodyPr/>
                    <a:lstStyle/>
                    <a:p>
                      <a:pPr>
                        <a:buNone/>
                      </a:pPr>
                      <a:r>
                        <a:rPr lang="zh-TW" sz="1000" dirty="0"/>
                        <a:t>具潛在路徑須確認 AMC 分類及 KGI 可扮演角色</a:t>
                      </a:r>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solidFill>
                      <a:srgbClr val="FBFCA9"/>
                    </a:solidFill>
                  </a:tcPr>
                </a:tc>
                <a:tc>
                  <a:txBody>
                    <a:bodyPr/>
                    <a:lstStyle/>
                    <a:p>
                      <a:pPr>
                        <a:buNone/>
                      </a:pPr>
                      <a:r>
                        <a:rPr lang="zh-TW" sz="1050"/>
                        <a:t>凱基證券／凱基銀行</a:t>
                      </a:r>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3076831663"/>
                  </a:ext>
                </a:extLst>
              </a:tr>
              <a:tr h="402631">
                <a:tc vMerge="1">
                  <a:txBody>
                    <a:bodyPr/>
                    <a:lstStyle/>
                    <a:p>
                      <a:pPr>
                        <a:buNone/>
                      </a:pPr>
                      <a:endParaRPr lang="zh-TW" sz="1100" b="1" dirty="0"/>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tc>
                  <a:txBody>
                    <a:bodyPr/>
                    <a:lstStyle/>
                    <a:p>
                      <a:pPr>
                        <a:buNone/>
                      </a:pPr>
                      <a:r>
                        <a:rPr lang="zh-TW" sz="1050" dirty="0"/>
                        <a:t>高資產客戶</a:t>
                      </a:r>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tc>
                  <a:txBody>
                    <a:bodyPr/>
                    <a:lstStyle/>
                    <a:p>
                      <a:pPr>
                        <a:buNone/>
                      </a:pPr>
                      <a:r>
                        <a:rPr lang="zh-TW" sz="1000" dirty="0"/>
                        <a:t>具策略潛力但需確認 AMC 商品分類、文件及分銷架構</a:t>
                      </a:r>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solidFill>
                      <a:srgbClr val="FBFCA9"/>
                    </a:solidFill>
                  </a:tcPr>
                </a:tc>
                <a:tc>
                  <a:txBody>
                    <a:bodyPr/>
                    <a:lstStyle/>
                    <a:p>
                      <a:pPr>
                        <a:buNone/>
                      </a:pPr>
                      <a:r>
                        <a:rPr lang="zh-TW" sz="1050" dirty="0"/>
                        <a:t>凱基銀行／凱基證券</a:t>
                      </a:r>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231841570"/>
                  </a:ext>
                </a:extLst>
              </a:tr>
              <a:tr h="402631">
                <a:tc rowSpan="3">
                  <a:txBody>
                    <a:bodyPr/>
                    <a:lstStyle/>
                    <a:p>
                      <a:pPr>
                        <a:buNone/>
                      </a:pPr>
                      <a:r>
                        <a:rPr lang="zh-TW" sz="1200" b="1" dirty="0"/>
                        <a:t>香港</a:t>
                      </a:r>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tc>
                  <a:txBody>
                    <a:bodyPr/>
                    <a:lstStyle/>
                    <a:p>
                      <a:pPr>
                        <a:buNone/>
                      </a:pPr>
                      <a:r>
                        <a:rPr lang="zh-TW" sz="1050"/>
                        <a:t>一般客戶</a:t>
                      </a:r>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tc>
                  <a:txBody>
                    <a:bodyPr/>
                    <a:lstStyle/>
                    <a:p>
                      <a:pPr>
                        <a:buNone/>
                      </a:pPr>
                      <a:r>
                        <a:rPr lang="zh-TW" sz="1000" dirty="0"/>
                        <a:t>Retail 落地難度高</a:t>
                      </a:r>
                      <a:r>
                        <a:rPr lang="zh-TW" altLang="en-US" sz="1000" dirty="0"/>
                        <a:t>：</a:t>
                      </a:r>
                      <a:r>
                        <a:rPr lang="zh-TW" sz="1000" dirty="0"/>
                        <a:t>須先確認 AMC 分類及公開發售資格</a:t>
                      </a:r>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solidFill>
                      <a:srgbClr val="EBC5D0"/>
                    </a:solidFill>
                  </a:tcPr>
                </a:tc>
                <a:tc>
                  <a:txBody>
                    <a:bodyPr/>
                    <a:lstStyle/>
                    <a:p>
                      <a:pPr>
                        <a:buNone/>
                      </a:pPr>
                      <a:r>
                        <a:rPr lang="zh-TW" sz="1050" dirty="0"/>
                        <a:t>KGI Asia</a:t>
                      </a:r>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1247765874"/>
                  </a:ext>
                </a:extLst>
              </a:tr>
              <a:tr h="337567">
                <a:tc vMerge="1">
                  <a:txBody>
                    <a:bodyPr/>
                    <a:lstStyle/>
                    <a:p>
                      <a:pPr>
                        <a:buNone/>
                      </a:pPr>
                      <a:endParaRPr lang="zh-TW" sz="1100" b="1" dirty="0"/>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tc>
                  <a:txBody>
                    <a:bodyPr/>
                    <a:lstStyle/>
                    <a:p>
                      <a:pPr>
                        <a:buNone/>
                      </a:pPr>
                      <a:r>
                        <a:rPr lang="zh-TW" sz="1050" dirty="0"/>
                        <a:t>PI－個人</a:t>
                      </a:r>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tc>
                  <a:txBody>
                    <a:bodyPr/>
                    <a:lstStyle/>
                    <a:p>
                      <a:pPr>
                        <a:buNone/>
                      </a:pPr>
                      <a:r>
                        <a:rPr lang="zh-TW" sz="1000" dirty="0"/>
                        <a:t>具較高落地可能性須確認 AMC 是 security、CIS 或其他形式</a:t>
                      </a:r>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solidFill>
                      <a:srgbClr val="BDFED6"/>
                    </a:solidFill>
                  </a:tcPr>
                </a:tc>
                <a:tc>
                  <a:txBody>
                    <a:bodyPr/>
                    <a:lstStyle/>
                    <a:p>
                      <a:pPr>
                        <a:buNone/>
                      </a:pPr>
                      <a:r>
                        <a:rPr lang="zh-TW" sz="1050" dirty="0"/>
                        <a:t>KGI Asia</a:t>
                      </a:r>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75744864"/>
                  </a:ext>
                </a:extLst>
              </a:tr>
              <a:tr h="523421">
                <a:tc vMerge="1">
                  <a:txBody>
                    <a:bodyPr/>
                    <a:lstStyle/>
                    <a:p>
                      <a:pPr>
                        <a:buNone/>
                      </a:pPr>
                      <a:endParaRPr lang="zh-TW" sz="1100" b="1" dirty="0"/>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tc>
                  <a:txBody>
                    <a:bodyPr/>
                    <a:lstStyle/>
                    <a:p>
                      <a:pPr>
                        <a:buNone/>
                      </a:pPr>
                      <a:r>
                        <a:rPr lang="zh-TW" sz="1050" dirty="0"/>
                        <a:t>PI－法人</a:t>
                      </a:r>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tc>
                  <a:txBody>
                    <a:bodyPr/>
                    <a:lstStyle/>
                    <a:p>
                      <a:pPr>
                        <a:buNone/>
                      </a:pPr>
                      <a:r>
                        <a:rPr lang="zh-TW" sz="1000" dirty="0"/>
                        <a:t>具較高落地可能性仍須確認管理、發行及分銷角色</a:t>
                      </a:r>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solidFill>
                      <a:srgbClr val="BDFED6"/>
                    </a:solidFill>
                  </a:tcPr>
                </a:tc>
                <a:tc>
                  <a:txBody>
                    <a:bodyPr/>
                    <a:lstStyle/>
                    <a:p>
                      <a:pPr>
                        <a:buNone/>
                      </a:pPr>
                      <a:r>
                        <a:rPr lang="zh-TW" sz="1050" dirty="0"/>
                        <a:t>KGI Asia</a:t>
                      </a:r>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242093167"/>
                  </a:ext>
                </a:extLst>
              </a:tr>
              <a:tr h="370240">
                <a:tc rowSpan="4">
                  <a:txBody>
                    <a:bodyPr/>
                    <a:lstStyle/>
                    <a:p>
                      <a:pPr>
                        <a:buNone/>
                      </a:pPr>
                      <a:r>
                        <a:rPr lang="zh-TW" sz="1200" b="1" dirty="0"/>
                        <a:t>新加坡</a:t>
                      </a:r>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noFill/>
                  </a:tcPr>
                </a:tc>
                <a:tc>
                  <a:txBody>
                    <a:bodyPr/>
                    <a:lstStyle/>
                    <a:p>
                      <a:pPr>
                        <a:buNone/>
                      </a:pPr>
                      <a:r>
                        <a:rPr lang="zh-TW" sz="1050" dirty="0"/>
                        <a:t>一般客戶</a:t>
                      </a:r>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tc>
                  <a:txBody>
                    <a:bodyPr/>
                    <a:lstStyle/>
                    <a:p>
                      <a:pPr>
                        <a:buNone/>
                      </a:pPr>
                      <a:r>
                        <a:rPr lang="zh-TW" sz="1000" dirty="0"/>
                        <a:t>Retail 落地難度高</a:t>
                      </a:r>
                      <a:r>
                        <a:rPr lang="zh-TW" altLang="en-US" sz="1000" dirty="0"/>
                        <a:t>：</a:t>
                      </a:r>
                      <a:r>
                        <a:rPr lang="zh-TW" sz="1000" dirty="0"/>
                        <a:t>AMC 分類及公開發售路徑均需確認</a:t>
                      </a:r>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solidFill>
                      <a:srgbClr val="EBC5D0"/>
                    </a:solidFill>
                  </a:tcPr>
                </a:tc>
                <a:tc>
                  <a:txBody>
                    <a:bodyPr/>
                    <a:lstStyle/>
                    <a:p>
                      <a:pPr>
                        <a:buNone/>
                      </a:pPr>
                      <a:r>
                        <a:rPr lang="zh-TW" sz="1050" dirty="0"/>
                        <a:t>KGI Singapore</a:t>
                      </a:r>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1985527893"/>
                  </a:ext>
                </a:extLst>
              </a:tr>
              <a:tr h="765000">
                <a:tc vMerge="1">
                  <a:txBody>
                    <a:bodyPr/>
                    <a:lstStyle/>
                    <a:p>
                      <a:pPr>
                        <a:buNone/>
                      </a:pPr>
                      <a:endParaRPr lang="zh-TW" sz="1100" b="1" dirty="0"/>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tc>
                  <a:txBody>
                    <a:bodyPr/>
                    <a:lstStyle/>
                    <a:p>
                      <a:pPr>
                        <a:buNone/>
                      </a:pPr>
                      <a:r>
                        <a:rPr lang="zh-TW" sz="1050" dirty="0"/>
                        <a:t>AI－個人</a:t>
                      </a:r>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tc>
                  <a:txBody>
                    <a:bodyPr/>
                    <a:lstStyle/>
                    <a:p>
                      <a:pPr>
                        <a:buNone/>
                      </a:pPr>
                      <a:r>
                        <a:rPr lang="zh-TW" sz="1000" dirty="0"/>
                        <a:t>具較高落地可能性須確認 AMC 是 note、CIS 或其他商品形式</a:t>
                      </a:r>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solidFill>
                      <a:srgbClr val="FBFCA9"/>
                    </a:solidFill>
                  </a:tcPr>
                </a:tc>
                <a:tc>
                  <a:txBody>
                    <a:bodyPr/>
                    <a:lstStyle/>
                    <a:p>
                      <a:pPr>
                        <a:buNone/>
                      </a:pPr>
                      <a:r>
                        <a:rPr lang="zh-TW" sz="1050" dirty="0"/>
                        <a:t>KGI Singapore</a:t>
                      </a:r>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1969854993"/>
                  </a:ext>
                </a:extLst>
              </a:tr>
              <a:tr h="337567">
                <a:tc vMerge="1">
                  <a:txBody>
                    <a:bodyPr/>
                    <a:lstStyle/>
                    <a:p>
                      <a:pPr>
                        <a:buNone/>
                      </a:pPr>
                      <a:endParaRPr lang="zh-TW" sz="1100" b="1" dirty="0"/>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tc>
                  <a:txBody>
                    <a:bodyPr/>
                    <a:lstStyle/>
                    <a:p>
                      <a:pPr>
                        <a:buNone/>
                      </a:pPr>
                      <a:r>
                        <a:rPr lang="zh-TW" sz="1050" dirty="0"/>
                        <a:t>AI－法人</a:t>
                      </a:r>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tc>
                  <a:txBody>
                    <a:bodyPr/>
                    <a:lstStyle/>
                    <a:p>
                      <a:pPr>
                        <a:buNone/>
                      </a:pPr>
                      <a:r>
                        <a:rPr lang="zh-TW" sz="1000" dirty="0"/>
                        <a:t>具較高落地可能性仍須確認 manager／issuer／distributor 分工</a:t>
                      </a:r>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solidFill>
                      <a:srgbClr val="FBFCA9"/>
                    </a:solidFill>
                  </a:tcPr>
                </a:tc>
                <a:tc>
                  <a:txBody>
                    <a:bodyPr/>
                    <a:lstStyle/>
                    <a:p>
                      <a:pPr>
                        <a:buNone/>
                      </a:pPr>
                      <a:r>
                        <a:rPr lang="zh-TW" sz="1050" dirty="0"/>
                        <a:t>KGI Singapore</a:t>
                      </a:r>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lnB w="6350" cap="flat" cmpd="sng" algn="ctr">
                      <a:solidFill>
                        <a:schemeClr val="accent6">
                          <a:lumMod val="60000"/>
                          <a:lumOff val="40000"/>
                        </a:schemeClr>
                      </a:solidFill>
                      <a:prstDash val="solid"/>
                      <a:round/>
                      <a:headEnd type="none" w="med" len="med"/>
                      <a:tailEnd type="none" w="med" len="med"/>
                    </a:lnB>
                    <a:noFill/>
                  </a:tcPr>
                </a:tc>
                <a:extLst>
                  <a:ext uri="{0D108BD9-81ED-4DB2-BD59-A6C34878D82A}">
                    <a16:rowId xmlns:a16="http://schemas.microsoft.com/office/drawing/2014/main" val="2766329760"/>
                  </a:ext>
                </a:extLst>
              </a:tr>
              <a:tr h="337567">
                <a:tc vMerge="1">
                  <a:txBody>
                    <a:bodyPr/>
                    <a:lstStyle/>
                    <a:p>
                      <a:pPr>
                        <a:buNone/>
                      </a:pPr>
                      <a:endParaRPr lang="zh-TW" sz="1100" b="1" dirty="0"/>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noFill/>
                  </a:tcPr>
                </a:tc>
                <a:tc>
                  <a:txBody>
                    <a:bodyPr/>
                    <a:lstStyle/>
                    <a:p>
                      <a:pPr>
                        <a:buNone/>
                      </a:pPr>
                      <a:r>
                        <a:rPr lang="zh-TW" sz="1050" dirty="0"/>
                        <a:t>Institutional Investor</a:t>
                      </a:r>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noFill/>
                  </a:tcPr>
                </a:tc>
                <a:tc>
                  <a:txBody>
                    <a:bodyPr/>
                    <a:lstStyle/>
                    <a:p>
                      <a:pPr>
                        <a:buNone/>
                      </a:pPr>
                      <a:r>
                        <a:rPr lang="zh-TW" sz="1000" dirty="0"/>
                        <a:t>具較高落地可能性仍需確認 AMC 法律形式與 KGI 角色</a:t>
                      </a:r>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solidFill>
                      <a:srgbClr val="FBFCA9"/>
                    </a:solidFill>
                  </a:tcPr>
                </a:tc>
                <a:tc>
                  <a:txBody>
                    <a:bodyPr/>
                    <a:lstStyle/>
                    <a:p>
                      <a:pPr>
                        <a:buNone/>
                      </a:pPr>
                      <a:r>
                        <a:rPr lang="zh-TW" sz="1050" dirty="0"/>
                        <a:t>KGI Singapore</a:t>
                      </a:r>
                    </a:p>
                  </a:txBody>
                  <a:tcPr marL="26860" marR="26860" marT="13430" marB="13430" anchor="ctr">
                    <a:lnT w="6350" cap="flat" cmpd="sng" algn="ctr">
                      <a:solidFill>
                        <a:schemeClr val="accent6">
                          <a:lumMod val="60000"/>
                          <a:lumOff val="40000"/>
                        </a:schemeClr>
                      </a:solidFill>
                      <a:prstDash val="solid"/>
                      <a:round/>
                      <a:headEnd type="none" w="med" len="med"/>
                      <a:tailEnd type="none" w="med" len="med"/>
                    </a:lnT>
                    <a:noFill/>
                  </a:tcPr>
                </a:tc>
                <a:extLst>
                  <a:ext uri="{0D108BD9-81ED-4DB2-BD59-A6C34878D82A}">
                    <a16:rowId xmlns:a16="http://schemas.microsoft.com/office/drawing/2014/main" val="4089025793"/>
                  </a:ext>
                </a:extLst>
              </a:tr>
            </a:tbl>
          </a:graphicData>
        </a:graphic>
      </p:graphicFrame>
    </p:spTree>
    <p:extLst>
      <p:ext uri="{BB962C8B-B14F-4D97-AF65-F5344CB8AC3E}">
        <p14:creationId xmlns:p14="http://schemas.microsoft.com/office/powerpoint/2010/main" val="15544742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39dcc26a-7131-49f4-a9eb-1c0521500c03"/>
  <p:tag name="EE4P_MASTERWIZARD_DRAFT" val="0"/>
  <p:tag name="EE4P_LANGUAGE_ID" val="1033"/>
  <p:tag name="EE4P_MASTERWIZARD_MARGINS" val="0"/>
  <p:tag name="THINKCELLUNDODONOTDELETE" val="0"/>
  <p:tag name="THINKCELLPRESENTATIONDONOTDELETE" val="&lt;?xml version=&quot;1.0&quot; encoding=&quot;UTF-16&quot; standalone=&quot;yes&quot;?&gt;&lt;root reqver=&quot;32687&quot;&gt;&lt;version val=&quot;1010215&quot;/&gt;&lt;CPresentation id=&quot;1&quot;&gt;&lt;m_precDefaultOrdinal&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Ordinal&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1&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1&quot;/&gt;&lt;m_eweekdayFirstOfWorkweek val=&quot;2&quot;/&gt;&lt;m_eweekdayFirstOfWeekend val=&quot;7&quot;/&gt;&lt;m_eweeknumbering val=&quot;2&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11.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2.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20.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BCG Grid 16:9">
  <a:themeElements>
    <a:clrScheme name="自訂 3">
      <a:dk1>
        <a:srgbClr val="0E2544"/>
      </a:dk1>
      <a:lt1>
        <a:srgbClr val="FFFFFF"/>
      </a:lt1>
      <a:dk2>
        <a:srgbClr val="22518B"/>
      </a:dk2>
      <a:lt2>
        <a:srgbClr val="EAEAEA"/>
      </a:lt2>
      <a:accent1>
        <a:srgbClr val="0D2241"/>
      </a:accent1>
      <a:accent2>
        <a:srgbClr val="15509E"/>
      </a:accent2>
      <a:accent3>
        <a:srgbClr val="3981E2"/>
      </a:accent3>
      <a:accent4>
        <a:srgbClr val="ADCCEC"/>
      </a:accent4>
      <a:accent5>
        <a:srgbClr val="989A98"/>
      </a:accent5>
      <a:accent6>
        <a:srgbClr val="68768A"/>
      </a:accent6>
      <a:hlink>
        <a:srgbClr val="1847A1"/>
      </a:hlink>
      <a:folHlink>
        <a:srgbClr val="1C367E"/>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CG_Grid_16x9.pptx" id="{8830F7DA-A78E-4B82-9935-5CC7FF5B9633}" vid="{52C2632B-9813-48FC-8882-620C42A0A230}"/>
    </a:ext>
  </a:extLst>
</a:theme>
</file>

<file path=ppt/theme/theme2.xml><?xml version="1.0" encoding="utf-8"?>
<a:theme xmlns:a="http://schemas.openxmlformats.org/drawingml/2006/main" name="1_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lank_16x9.potx" id="{F1417891-ADEE-4A5A-84BF-A61365689D8D}" vid="{7D249777-7FCF-437A-B862-D77B0EF45DB4}"/>
    </a:ext>
  </a:extLst>
</a:theme>
</file>

<file path=ppt/theme/theme3.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KGI-Mck">
    <a:dk1>
      <a:srgbClr val="0E2544"/>
    </a:dk1>
    <a:lt1>
      <a:srgbClr val="FFFFFF"/>
    </a:lt1>
    <a:dk2>
      <a:srgbClr val="3175C6"/>
    </a:dk2>
    <a:lt2>
      <a:srgbClr val="EAEAEA"/>
    </a:lt2>
    <a:accent1>
      <a:srgbClr val="0D2241"/>
    </a:accent1>
    <a:accent2>
      <a:srgbClr val="123D79"/>
    </a:accent2>
    <a:accent3>
      <a:srgbClr val="336FC0"/>
    </a:accent3>
    <a:accent4>
      <a:srgbClr val="ADCCEC"/>
    </a:accent4>
    <a:accent5>
      <a:srgbClr val="989A98"/>
    </a:accent5>
    <a:accent6>
      <a:srgbClr val="68768A"/>
    </a:accent6>
    <a:hlink>
      <a:srgbClr val="1847A1"/>
    </a:hlink>
    <a:folHlink>
      <a:srgbClr val="1C367E"/>
    </a:folHlink>
  </a:clrScheme>
</a:themeOverride>
</file>

<file path=ppt/theme/themeOverride2.xml><?xml version="1.0" encoding="utf-8"?>
<a:themeOverride xmlns:a="http://schemas.openxmlformats.org/drawingml/2006/main">
  <a:clrScheme name="KGI-Mck">
    <a:dk1>
      <a:srgbClr val="0E2544"/>
    </a:dk1>
    <a:lt1>
      <a:srgbClr val="FFFFFF"/>
    </a:lt1>
    <a:dk2>
      <a:srgbClr val="3175C6"/>
    </a:dk2>
    <a:lt2>
      <a:srgbClr val="EAEAEA"/>
    </a:lt2>
    <a:accent1>
      <a:srgbClr val="0D2241"/>
    </a:accent1>
    <a:accent2>
      <a:srgbClr val="123D79"/>
    </a:accent2>
    <a:accent3>
      <a:srgbClr val="336FC0"/>
    </a:accent3>
    <a:accent4>
      <a:srgbClr val="ADCCEC"/>
    </a:accent4>
    <a:accent5>
      <a:srgbClr val="989A98"/>
    </a:accent5>
    <a:accent6>
      <a:srgbClr val="68768A"/>
    </a:accent6>
    <a:hlink>
      <a:srgbClr val="1847A1"/>
    </a:hlink>
    <a:folHlink>
      <a:srgbClr val="1C367E"/>
    </a:folHlink>
  </a:clrScheme>
</a:themeOverride>
</file>

<file path=ppt/theme/themeOverride3.xml><?xml version="1.0" encoding="utf-8"?>
<a:themeOverride xmlns:a="http://schemas.openxmlformats.org/drawingml/2006/main">
  <a:clrScheme name="KGI-Mck">
    <a:dk1>
      <a:srgbClr val="0E2544"/>
    </a:dk1>
    <a:lt1>
      <a:srgbClr val="FFFFFF"/>
    </a:lt1>
    <a:dk2>
      <a:srgbClr val="3175C6"/>
    </a:dk2>
    <a:lt2>
      <a:srgbClr val="EAEAEA"/>
    </a:lt2>
    <a:accent1>
      <a:srgbClr val="0D2241"/>
    </a:accent1>
    <a:accent2>
      <a:srgbClr val="123D79"/>
    </a:accent2>
    <a:accent3>
      <a:srgbClr val="336FC0"/>
    </a:accent3>
    <a:accent4>
      <a:srgbClr val="ADCCEC"/>
    </a:accent4>
    <a:accent5>
      <a:srgbClr val="989A98"/>
    </a:accent5>
    <a:accent6>
      <a:srgbClr val="68768A"/>
    </a:accent6>
    <a:hlink>
      <a:srgbClr val="1847A1"/>
    </a:hlink>
    <a:folHlink>
      <a:srgbClr val="1C367E"/>
    </a:folHlink>
  </a:clrScheme>
</a:themeOverride>
</file>

<file path=ppt/theme/themeOverride4.xml><?xml version="1.0" encoding="utf-8"?>
<a:themeOverride xmlns:a="http://schemas.openxmlformats.org/drawingml/2006/main">
  <a:clrScheme name="KGI-Mck">
    <a:dk1>
      <a:srgbClr val="0E2544"/>
    </a:dk1>
    <a:lt1>
      <a:srgbClr val="FFFFFF"/>
    </a:lt1>
    <a:dk2>
      <a:srgbClr val="3175C6"/>
    </a:dk2>
    <a:lt2>
      <a:srgbClr val="EAEAEA"/>
    </a:lt2>
    <a:accent1>
      <a:srgbClr val="0D2241"/>
    </a:accent1>
    <a:accent2>
      <a:srgbClr val="123D79"/>
    </a:accent2>
    <a:accent3>
      <a:srgbClr val="336FC0"/>
    </a:accent3>
    <a:accent4>
      <a:srgbClr val="ADCCEC"/>
    </a:accent4>
    <a:accent5>
      <a:srgbClr val="989A98"/>
    </a:accent5>
    <a:accent6>
      <a:srgbClr val="68768A"/>
    </a:accent6>
    <a:hlink>
      <a:srgbClr val="1847A1"/>
    </a:hlink>
    <a:folHlink>
      <a:srgbClr val="1C367E"/>
    </a:folHlink>
  </a:clrScheme>
</a:themeOverride>
</file>

<file path=ppt/theme/themeOverride5.xml><?xml version="1.0" encoding="utf-8"?>
<a:themeOverride xmlns:a="http://schemas.openxmlformats.org/drawingml/2006/main">
  <a:clrScheme name="KGI-Mck">
    <a:dk1>
      <a:srgbClr val="0E2544"/>
    </a:dk1>
    <a:lt1>
      <a:srgbClr val="FFFFFF"/>
    </a:lt1>
    <a:dk2>
      <a:srgbClr val="3175C6"/>
    </a:dk2>
    <a:lt2>
      <a:srgbClr val="EAEAEA"/>
    </a:lt2>
    <a:accent1>
      <a:srgbClr val="0D2241"/>
    </a:accent1>
    <a:accent2>
      <a:srgbClr val="123D79"/>
    </a:accent2>
    <a:accent3>
      <a:srgbClr val="336FC0"/>
    </a:accent3>
    <a:accent4>
      <a:srgbClr val="ADCCEC"/>
    </a:accent4>
    <a:accent5>
      <a:srgbClr val="989A98"/>
    </a:accent5>
    <a:accent6>
      <a:srgbClr val="68768A"/>
    </a:accent6>
    <a:hlink>
      <a:srgbClr val="1847A1"/>
    </a:hlink>
    <a:folHlink>
      <a:srgbClr val="1C367E"/>
    </a:folHlink>
  </a:clrScheme>
</a:themeOverride>
</file>

<file path=ppt/theme/themeOverride6.xml><?xml version="1.0" encoding="utf-8"?>
<a:themeOverride xmlns:a="http://schemas.openxmlformats.org/drawingml/2006/main">
  <a:clrScheme name="KGI-Mck">
    <a:dk1>
      <a:srgbClr val="0E2544"/>
    </a:dk1>
    <a:lt1>
      <a:srgbClr val="FFFFFF"/>
    </a:lt1>
    <a:dk2>
      <a:srgbClr val="3175C6"/>
    </a:dk2>
    <a:lt2>
      <a:srgbClr val="EAEAEA"/>
    </a:lt2>
    <a:accent1>
      <a:srgbClr val="0D2241"/>
    </a:accent1>
    <a:accent2>
      <a:srgbClr val="123D79"/>
    </a:accent2>
    <a:accent3>
      <a:srgbClr val="336FC0"/>
    </a:accent3>
    <a:accent4>
      <a:srgbClr val="ADCCEC"/>
    </a:accent4>
    <a:accent5>
      <a:srgbClr val="989A98"/>
    </a:accent5>
    <a:accent6>
      <a:srgbClr val="68768A"/>
    </a:accent6>
    <a:hlink>
      <a:srgbClr val="1847A1"/>
    </a:hlink>
    <a:folHlink>
      <a:srgbClr val="1C367E"/>
    </a:folHlink>
  </a:clrScheme>
</a:themeOverride>
</file>

<file path=ppt/theme/themeOverride7.xml><?xml version="1.0" encoding="utf-8"?>
<a:themeOverride xmlns:a="http://schemas.openxmlformats.org/drawingml/2006/main">
  <a:clrScheme name="KGI-Mck">
    <a:dk1>
      <a:srgbClr val="0E2544"/>
    </a:dk1>
    <a:lt1>
      <a:srgbClr val="FFFFFF"/>
    </a:lt1>
    <a:dk2>
      <a:srgbClr val="3175C6"/>
    </a:dk2>
    <a:lt2>
      <a:srgbClr val="EAEAEA"/>
    </a:lt2>
    <a:accent1>
      <a:srgbClr val="0D2241"/>
    </a:accent1>
    <a:accent2>
      <a:srgbClr val="123D79"/>
    </a:accent2>
    <a:accent3>
      <a:srgbClr val="336FC0"/>
    </a:accent3>
    <a:accent4>
      <a:srgbClr val="ADCCEC"/>
    </a:accent4>
    <a:accent5>
      <a:srgbClr val="989A98"/>
    </a:accent5>
    <a:accent6>
      <a:srgbClr val="68768A"/>
    </a:accent6>
    <a:hlink>
      <a:srgbClr val="1847A1"/>
    </a:hlink>
    <a:folHlink>
      <a:srgbClr val="1C367E"/>
    </a:folHlink>
  </a:clrScheme>
</a:themeOverride>
</file>

<file path=ppt/theme/themeOverride8.xml><?xml version="1.0" encoding="utf-8"?>
<a:themeOverride xmlns:a="http://schemas.openxmlformats.org/drawingml/2006/main">
  <a:clrScheme name="KGI-Mck">
    <a:dk1>
      <a:srgbClr val="0E2544"/>
    </a:dk1>
    <a:lt1>
      <a:srgbClr val="FFFFFF"/>
    </a:lt1>
    <a:dk2>
      <a:srgbClr val="3175C6"/>
    </a:dk2>
    <a:lt2>
      <a:srgbClr val="EAEAEA"/>
    </a:lt2>
    <a:accent1>
      <a:srgbClr val="0D2241"/>
    </a:accent1>
    <a:accent2>
      <a:srgbClr val="123D79"/>
    </a:accent2>
    <a:accent3>
      <a:srgbClr val="336FC0"/>
    </a:accent3>
    <a:accent4>
      <a:srgbClr val="ADCCEC"/>
    </a:accent4>
    <a:accent5>
      <a:srgbClr val="989A98"/>
    </a:accent5>
    <a:accent6>
      <a:srgbClr val="68768A"/>
    </a:accent6>
    <a:hlink>
      <a:srgbClr val="1847A1"/>
    </a:hlink>
    <a:folHlink>
      <a:srgbClr val="1C367E"/>
    </a:folHlink>
  </a:clrScheme>
</a:themeOverride>
</file>

<file path=ppt/theme/themeOverride9.xml><?xml version="1.0" encoding="utf-8"?>
<a:themeOverride xmlns:a="http://schemas.openxmlformats.org/drawingml/2006/main">
  <a:clrScheme name="KGI-Mck">
    <a:dk1>
      <a:srgbClr val="0E2544"/>
    </a:dk1>
    <a:lt1>
      <a:srgbClr val="FFFFFF"/>
    </a:lt1>
    <a:dk2>
      <a:srgbClr val="3175C6"/>
    </a:dk2>
    <a:lt2>
      <a:srgbClr val="EAEAEA"/>
    </a:lt2>
    <a:accent1>
      <a:srgbClr val="0D2241"/>
    </a:accent1>
    <a:accent2>
      <a:srgbClr val="123D79"/>
    </a:accent2>
    <a:accent3>
      <a:srgbClr val="336FC0"/>
    </a:accent3>
    <a:accent4>
      <a:srgbClr val="ADCCEC"/>
    </a:accent4>
    <a:accent5>
      <a:srgbClr val="989A98"/>
    </a:accent5>
    <a:accent6>
      <a:srgbClr val="68768A"/>
    </a:accent6>
    <a:hlink>
      <a:srgbClr val="1847A1"/>
    </a:hlink>
    <a:folHlink>
      <a:srgbClr val="1C367E"/>
    </a:folHlink>
  </a:clrScheme>
</a:themeOverride>
</file>

<file path=ppt/theme/themeOverride10.xml><?xml version="1.0" encoding="utf-8"?>
<a:themeOverride xmlns:a="http://schemas.openxmlformats.org/drawingml/2006/main">
  <a:clrScheme name="KGI-Mck">
    <a:dk1>
      <a:srgbClr val="0E2544"/>
    </a:dk1>
    <a:lt1>
      <a:srgbClr val="FFFFFF"/>
    </a:lt1>
    <a:dk2>
      <a:srgbClr val="3175C6"/>
    </a:dk2>
    <a:lt2>
      <a:srgbClr val="EAEAEA"/>
    </a:lt2>
    <a:accent1>
      <a:srgbClr val="0D2241"/>
    </a:accent1>
    <a:accent2>
      <a:srgbClr val="123D79"/>
    </a:accent2>
    <a:accent3>
      <a:srgbClr val="336FC0"/>
    </a:accent3>
    <a:accent4>
      <a:srgbClr val="ADCCEC"/>
    </a:accent4>
    <a:accent5>
      <a:srgbClr val="989A98"/>
    </a:accent5>
    <a:accent6>
      <a:srgbClr val="68768A"/>
    </a:accent6>
    <a:hlink>
      <a:srgbClr val="1847A1"/>
    </a:hlink>
    <a:folHlink>
      <a:srgbClr val="1C367E"/>
    </a:folHlink>
  </a:clrScheme>
</a:themeOverride>
</file>

<file path=ppt/theme/themeOverride11.xml><?xml version="1.0" encoding="utf-8"?>
<a:themeOverride xmlns:a="http://schemas.openxmlformats.org/drawingml/2006/main">
  <a:clrScheme name="KGI-Mck">
    <a:dk1>
      <a:srgbClr val="0E2544"/>
    </a:dk1>
    <a:lt1>
      <a:srgbClr val="FFFFFF"/>
    </a:lt1>
    <a:dk2>
      <a:srgbClr val="3175C6"/>
    </a:dk2>
    <a:lt2>
      <a:srgbClr val="EAEAEA"/>
    </a:lt2>
    <a:accent1>
      <a:srgbClr val="0D2241"/>
    </a:accent1>
    <a:accent2>
      <a:srgbClr val="123D79"/>
    </a:accent2>
    <a:accent3>
      <a:srgbClr val="336FC0"/>
    </a:accent3>
    <a:accent4>
      <a:srgbClr val="ADCCEC"/>
    </a:accent4>
    <a:accent5>
      <a:srgbClr val="989A98"/>
    </a:accent5>
    <a:accent6>
      <a:srgbClr val="68768A"/>
    </a:accent6>
    <a:hlink>
      <a:srgbClr val="1847A1"/>
    </a:hlink>
    <a:folHlink>
      <a:srgbClr val="1C367E"/>
    </a:folHlink>
  </a:clrScheme>
</a:themeOverride>
</file>

<file path=ppt/theme/themeOverride12.xml><?xml version="1.0" encoding="utf-8"?>
<a:themeOverride xmlns:a="http://schemas.openxmlformats.org/drawingml/2006/main">
  <a:clrScheme name="KGI-Mck">
    <a:dk1>
      <a:srgbClr val="0E2544"/>
    </a:dk1>
    <a:lt1>
      <a:srgbClr val="FFFFFF"/>
    </a:lt1>
    <a:dk2>
      <a:srgbClr val="3175C6"/>
    </a:dk2>
    <a:lt2>
      <a:srgbClr val="EAEAEA"/>
    </a:lt2>
    <a:accent1>
      <a:srgbClr val="0D2241"/>
    </a:accent1>
    <a:accent2>
      <a:srgbClr val="123D79"/>
    </a:accent2>
    <a:accent3>
      <a:srgbClr val="336FC0"/>
    </a:accent3>
    <a:accent4>
      <a:srgbClr val="ADCCEC"/>
    </a:accent4>
    <a:accent5>
      <a:srgbClr val="989A98"/>
    </a:accent5>
    <a:accent6>
      <a:srgbClr val="68768A"/>
    </a:accent6>
    <a:hlink>
      <a:srgbClr val="1847A1"/>
    </a:hlink>
    <a:folHlink>
      <a:srgbClr val="1C367E"/>
    </a:folHlink>
  </a:clrScheme>
</a:themeOverride>
</file>

<file path=ppt/theme/themeOverride13.xml><?xml version="1.0" encoding="utf-8"?>
<a:themeOverride xmlns:a="http://schemas.openxmlformats.org/drawingml/2006/main">
  <a:clrScheme name="KGI-Mck">
    <a:dk1>
      <a:srgbClr val="0E2544"/>
    </a:dk1>
    <a:lt1>
      <a:srgbClr val="FFFFFF"/>
    </a:lt1>
    <a:dk2>
      <a:srgbClr val="3175C6"/>
    </a:dk2>
    <a:lt2>
      <a:srgbClr val="EAEAEA"/>
    </a:lt2>
    <a:accent1>
      <a:srgbClr val="0D2241"/>
    </a:accent1>
    <a:accent2>
      <a:srgbClr val="123D79"/>
    </a:accent2>
    <a:accent3>
      <a:srgbClr val="336FC0"/>
    </a:accent3>
    <a:accent4>
      <a:srgbClr val="ADCCEC"/>
    </a:accent4>
    <a:accent5>
      <a:srgbClr val="989A98"/>
    </a:accent5>
    <a:accent6>
      <a:srgbClr val="68768A"/>
    </a:accent6>
    <a:hlink>
      <a:srgbClr val="1847A1"/>
    </a:hlink>
    <a:folHlink>
      <a:srgbClr val="1C367E"/>
    </a:folHlink>
  </a:clrScheme>
</a:themeOverride>
</file>

<file path=ppt/theme/themeOverride14.xml><?xml version="1.0" encoding="utf-8"?>
<a:themeOverride xmlns:a="http://schemas.openxmlformats.org/drawingml/2006/main">
  <a:clrScheme name="KGI-Mck">
    <a:dk1>
      <a:srgbClr val="0E2544"/>
    </a:dk1>
    <a:lt1>
      <a:srgbClr val="FFFFFF"/>
    </a:lt1>
    <a:dk2>
      <a:srgbClr val="3175C6"/>
    </a:dk2>
    <a:lt2>
      <a:srgbClr val="EAEAEA"/>
    </a:lt2>
    <a:accent1>
      <a:srgbClr val="0D2241"/>
    </a:accent1>
    <a:accent2>
      <a:srgbClr val="123D79"/>
    </a:accent2>
    <a:accent3>
      <a:srgbClr val="336FC0"/>
    </a:accent3>
    <a:accent4>
      <a:srgbClr val="ADCCEC"/>
    </a:accent4>
    <a:accent5>
      <a:srgbClr val="989A98"/>
    </a:accent5>
    <a:accent6>
      <a:srgbClr val="68768A"/>
    </a:accent6>
    <a:hlink>
      <a:srgbClr val="1847A1"/>
    </a:hlink>
    <a:folHlink>
      <a:srgbClr val="1C367E"/>
    </a:folHlink>
  </a:clrScheme>
</a:themeOverride>
</file>

<file path=ppt/theme/themeOverride15.xml><?xml version="1.0" encoding="utf-8"?>
<a:themeOverride xmlns:a="http://schemas.openxmlformats.org/drawingml/2006/main">
  <a:clrScheme name="KGI-Mck">
    <a:dk1>
      <a:srgbClr val="0E2544"/>
    </a:dk1>
    <a:lt1>
      <a:srgbClr val="FFFFFF"/>
    </a:lt1>
    <a:dk2>
      <a:srgbClr val="3175C6"/>
    </a:dk2>
    <a:lt2>
      <a:srgbClr val="EAEAEA"/>
    </a:lt2>
    <a:accent1>
      <a:srgbClr val="0D2241"/>
    </a:accent1>
    <a:accent2>
      <a:srgbClr val="123D79"/>
    </a:accent2>
    <a:accent3>
      <a:srgbClr val="336FC0"/>
    </a:accent3>
    <a:accent4>
      <a:srgbClr val="ADCCEC"/>
    </a:accent4>
    <a:accent5>
      <a:srgbClr val="989A98"/>
    </a:accent5>
    <a:accent6>
      <a:srgbClr val="68768A"/>
    </a:accent6>
    <a:hlink>
      <a:srgbClr val="1847A1"/>
    </a:hlink>
    <a:folHlink>
      <a:srgbClr val="1C367E"/>
    </a:folHlink>
  </a:clrScheme>
</a:themeOverride>
</file>

<file path=ppt/theme/themeOverride16.xml><?xml version="1.0" encoding="utf-8"?>
<a:themeOverride xmlns:a="http://schemas.openxmlformats.org/drawingml/2006/main">
  <a:clrScheme name="KGI-Mck">
    <a:dk1>
      <a:srgbClr val="0E2544"/>
    </a:dk1>
    <a:lt1>
      <a:srgbClr val="FFFFFF"/>
    </a:lt1>
    <a:dk2>
      <a:srgbClr val="3175C6"/>
    </a:dk2>
    <a:lt2>
      <a:srgbClr val="EAEAEA"/>
    </a:lt2>
    <a:accent1>
      <a:srgbClr val="0D2241"/>
    </a:accent1>
    <a:accent2>
      <a:srgbClr val="123D79"/>
    </a:accent2>
    <a:accent3>
      <a:srgbClr val="336FC0"/>
    </a:accent3>
    <a:accent4>
      <a:srgbClr val="ADCCEC"/>
    </a:accent4>
    <a:accent5>
      <a:srgbClr val="989A98"/>
    </a:accent5>
    <a:accent6>
      <a:srgbClr val="68768A"/>
    </a:accent6>
    <a:hlink>
      <a:srgbClr val="1847A1"/>
    </a:hlink>
    <a:folHlink>
      <a:srgbClr val="1C367E"/>
    </a:folHlink>
  </a:clrScheme>
</a:themeOverride>
</file>

<file path=ppt/theme/themeOverride17.xml><?xml version="1.0" encoding="utf-8"?>
<a:themeOverride xmlns:a="http://schemas.openxmlformats.org/drawingml/2006/main">
  <a:clrScheme name="KGI-Mck">
    <a:dk1>
      <a:srgbClr val="0E2544"/>
    </a:dk1>
    <a:lt1>
      <a:srgbClr val="FFFFFF"/>
    </a:lt1>
    <a:dk2>
      <a:srgbClr val="3175C6"/>
    </a:dk2>
    <a:lt2>
      <a:srgbClr val="EAEAEA"/>
    </a:lt2>
    <a:accent1>
      <a:srgbClr val="0D2241"/>
    </a:accent1>
    <a:accent2>
      <a:srgbClr val="123D79"/>
    </a:accent2>
    <a:accent3>
      <a:srgbClr val="336FC0"/>
    </a:accent3>
    <a:accent4>
      <a:srgbClr val="ADCCEC"/>
    </a:accent4>
    <a:accent5>
      <a:srgbClr val="989A98"/>
    </a:accent5>
    <a:accent6>
      <a:srgbClr val="68768A"/>
    </a:accent6>
    <a:hlink>
      <a:srgbClr val="1847A1"/>
    </a:hlink>
    <a:folHlink>
      <a:srgbClr val="1C367E"/>
    </a:folHlink>
  </a:clrScheme>
</a:themeOverride>
</file>

<file path=ppt/theme/themeOverride18.xml><?xml version="1.0" encoding="utf-8"?>
<a:themeOverride xmlns:a="http://schemas.openxmlformats.org/drawingml/2006/main">
  <a:clrScheme name="KGI-Mck">
    <a:dk1>
      <a:srgbClr val="0E2544"/>
    </a:dk1>
    <a:lt1>
      <a:srgbClr val="FFFFFF"/>
    </a:lt1>
    <a:dk2>
      <a:srgbClr val="3175C6"/>
    </a:dk2>
    <a:lt2>
      <a:srgbClr val="EAEAEA"/>
    </a:lt2>
    <a:accent1>
      <a:srgbClr val="0D2241"/>
    </a:accent1>
    <a:accent2>
      <a:srgbClr val="123D79"/>
    </a:accent2>
    <a:accent3>
      <a:srgbClr val="336FC0"/>
    </a:accent3>
    <a:accent4>
      <a:srgbClr val="ADCCEC"/>
    </a:accent4>
    <a:accent5>
      <a:srgbClr val="989A98"/>
    </a:accent5>
    <a:accent6>
      <a:srgbClr val="68768A"/>
    </a:accent6>
    <a:hlink>
      <a:srgbClr val="1847A1"/>
    </a:hlink>
    <a:folHlink>
      <a:srgbClr val="1C367E"/>
    </a:folHlink>
  </a:clrScheme>
</a:themeOverride>
</file>

<file path=ppt/theme/themeOverride19.xml><?xml version="1.0" encoding="utf-8"?>
<a:themeOverride xmlns:a="http://schemas.openxmlformats.org/drawingml/2006/main">
  <a:clrScheme name="KGI-Mck">
    <a:dk1>
      <a:srgbClr val="0E2544"/>
    </a:dk1>
    <a:lt1>
      <a:srgbClr val="FFFFFF"/>
    </a:lt1>
    <a:dk2>
      <a:srgbClr val="3175C6"/>
    </a:dk2>
    <a:lt2>
      <a:srgbClr val="EAEAEA"/>
    </a:lt2>
    <a:accent1>
      <a:srgbClr val="0D2241"/>
    </a:accent1>
    <a:accent2>
      <a:srgbClr val="123D79"/>
    </a:accent2>
    <a:accent3>
      <a:srgbClr val="336FC0"/>
    </a:accent3>
    <a:accent4>
      <a:srgbClr val="ADCCEC"/>
    </a:accent4>
    <a:accent5>
      <a:srgbClr val="989A98"/>
    </a:accent5>
    <a:accent6>
      <a:srgbClr val="68768A"/>
    </a:accent6>
    <a:hlink>
      <a:srgbClr val="1847A1"/>
    </a:hlink>
    <a:folHlink>
      <a:srgbClr val="1C367E"/>
    </a:folHlink>
  </a:clrScheme>
</a:themeOverride>
</file>

<file path=ppt/theme/themeOverride20.xml><?xml version="1.0" encoding="utf-8"?>
<a:themeOverride xmlns:a="http://schemas.openxmlformats.org/drawingml/2006/main">
  <a:clrScheme name="KGI-Mck">
    <a:dk1>
      <a:srgbClr val="0E2544"/>
    </a:dk1>
    <a:lt1>
      <a:srgbClr val="FFFFFF"/>
    </a:lt1>
    <a:dk2>
      <a:srgbClr val="3175C6"/>
    </a:dk2>
    <a:lt2>
      <a:srgbClr val="EAEAEA"/>
    </a:lt2>
    <a:accent1>
      <a:srgbClr val="0D2241"/>
    </a:accent1>
    <a:accent2>
      <a:srgbClr val="123D79"/>
    </a:accent2>
    <a:accent3>
      <a:srgbClr val="336FC0"/>
    </a:accent3>
    <a:accent4>
      <a:srgbClr val="ADCCEC"/>
    </a:accent4>
    <a:accent5>
      <a:srgbClr val="989A98"/>
    </a:accent5>
    <a:accent6>
      <a:srgbClr val="68768A"/>
    </a:accent6>
    <a:hlink>
      <a:srgbClr val="1847A1"/>
    </a:hlink>
    <a:folHlink>
      <a:srgbClr val="1C367E"/>
    </a:folHlink>
  </a:clrScheme>
</a:themeOverride>
</file>

<file path=ppt/theme/themeOverride21.xml><?xml version="1.0" encoding="utf-8"?>
<a:themeOverride xmlns:a="http://schemas.openxmlformats.org/drawingml/2006/main">
  <a:clrScheme name="KGI-Mck">
    <a:dk1>
      <a:srgbClr val="0E2544"/>
    </a:dk1>
    <a:lt1>
      <a:srgbClr val="FFFFFF"/>
    </a:lt1>
    <a:dk2>
      <a:srgbClr val="3175C6"/>
    </a:dk2>
    <a:lt2>
      <a:srgbClr val="EAEAEA"/>
    </a:lt2>
    <a:accent1>
      <a:srgbClr val="0D2241"/>
    </a:accent1>
    <a:accent2>
      <a:srgbClr val="123D79"/>
    </a:accent2>
    <a:accent3>
      <a:srgbClr val="336FC0"/>
    </a:accent3>
    <a:accent4>
      <a:srgbClr val="ADCCEC"/>
    </a:accent4>
    <a:accent5>
      <a:srgbClr val="989A98"/>
    </a:accent5>
    <a:accent6>
      <a:srgbClr val="68768A"/>
    </a:accent6>
    <a:hlink>
      <a:srgbClr val="1847A1"/>
    </a:hlink>
    <a:folHlink>
      <a:srgbClr val="1C367E"/>
    </a:folHlink>
  </a:clrScheme>
</a:themeOverride>
</file>

<file path=ppt/theme/themeOverride22.xml><?xml version="1.0" encoding="utf-8"?>
<a:themeOverride xmlns:a="http://schemas.openxmlformats.org/drawingml/2006/main">
  <a:clrScheme name="KGI-Mck">
    <a:dk1>
      <a:srgbClr val="0E2544"/>
    </a:dk1>
    <a:lt1>
      <a:srgbClr val="FFFFFF"/>
    </a:lt1>
    <a:dk2>
      <a:srgbClr val="3175C6"/>
    </a:dk2>
    <a:lt2>
      <a:srgbClr val="EAEAEA"/>
    </a:lt2>
    <a:accent1>
      <a:srgbClr val="0D2241"/>
    </a:accent1>
    <a:accent2>
      <a:srgbClr val="123D79"/>
    </a:accent2>
    <a:accent3>
      <a:srgbClr val="336FC0"/>
    </a:accent3>
    <a:accent4>
      <a:srgbClr val="ADCCEC"/>
    </a:accent4>
    <a:accent5>
      <a:srgbClr val="989A98"/>
    </a:accent5>
    <a:accent6>
      <a:srgbClr val="68768A"/>
    </a:accent6>
    <a:hlink>
      <a:srgbClr val="1847A1"/>
    </a:hlink>
    <a:folHlink>
      <a:srgbClr val="1C367E"/>
    </a:folHlink>
  </a:clrScheme>
</a:themeOverride>
</file>

<file path=ppt/theme/themeOverride23.xml><?xml version="1.0" encoding="utf-8"?>
<a:themeOverride xmlns:a="http://schemas.openxmlformats.org/drawingml/2006/main">
  <a:clrScheme name="KGI-Mck">
    <a:dk1>
      <a:srgbClr val="0E2544"/>
    </a:dk1>
    <a:lt1>
      <a:srgbClr val="FFFFFF"/>
    </a:lt1>
    <a:dk2>
      <a:srgbClr val="3175C6"/>
    </a:dk2>
    <a:lt2>
      <a:srgbClr val="EAEAEA"/>
    </a:lt2>
    <a:accent1>
      <a:srgbClr val="0D2241"/>
    </a:accent1>
    <a:accent2>
      <a:srgbClr val="123D79"/>
    </a:accent2>
    <a:accent3>
      <a:srgbClr val="336FC0"/>
    </a:accent3>
    <a:accent4>
      <a:srgbClr val="ADCCEC"/>
    </a:accent4>
    <a:accent5>
      <a:srgbClr val="989A98"/>
    </a:accent5>
    <a:accent6>
      <a:srgbClr val="68768A"/>
    </a:accent6>
    <a:hlink>
      <a:srgbClr val="1847A1"/>
    </a:hlink>
    <a:folHlink>
      <a:srgbClr val="1C367E"/>
    </a:folHlink>
  </a:clrScheme>
</a:themeOverride>
</file>

<file path=ppt/theme/themeOverride24.xml><?xml version="1.0" encoding="utf-8"?>
<a:themeOverride xmlns:a="http://schemas.openxmlformats.org/drawingml/2006/main">
  <a:clrScheme name="KGI-Mck">
    <a:dk1>
      <a:srgbClr val="0E2544"/>
    </a:dk1>
    <a:lt1>
      <a:srgbClr val="FFFFFF"/>
    </a:lt1>
    <a:dk2>
      <a:srgbClr val="3175C6"/>
    </a:dk2>
    <a:lt2>
      <a:srgbClr val="EAEAEA"/>
    </a:lt2>
    <a:accent1>
      <a:srgbClr val="0D2241"/>
    </a:accent1>
    <a:accent2>
      <a:srgbClr val="123D79"/>
    </a:accent2>
    <a:accent3>
      <a:srgbClr val="336FC0"/>
    </a:accent3>
    <a:accent4>
      <a:srgbClr val="ADCCEC"/>
    </a:accent4>
    <a:accent5>
      <a:srgbClr val="989A98"/>
    </a:accent5>
    <a:accent6>
      <a:srgbClr val="68768A"/>
    </a:accent6>
    <a:hlink>
      <a:srgbClr val="1847A1"/>
    </a:hlink>
    <a:folHlink>
      <a:srgbClr val="1C367E"/>
    </a:folHlink>
  </a:clrScheme>
</a:themeOverride>
</file>

<file path=ppt/theme/themeOverride25.xml><?xml version="1.0" encoding="utf-8"?>
<a:themeOverride xmlns:a="http://schemas.openxmlformats.org/drawingml/2006/main">
  <a:clrScheme name="KGI-Mck">
    <a:dk1>
      <a:srgbClr val="0E2544"/>
    </a:dk1>
    <a:lt1>
      <a:srgbClr val="FFFFFF"/>
    </a:lt1>
    <a:dk2>
      <a:srgbClr val="3175C6"/>
    </a:dk2>
    <a:lt2>
      <a:srgbClr val="EAEAEA"/>
    </a:lt2>
    <a:accent1>
      <a:srgbClr val="0D2241"/>
    </a:accent1>
    <a:accent2>
      <a:srgbClr val="123D79"/>
    </a:accent2>
    <a:accent3>
      <a:srgbClr val="336FC0"/>
    </a:accent3>
    <a:accent4>
      <a:srgbClr val="ADCCEC"/>
    </a:accent4>
    <a:accent5>
      <a:srgbClr val="989A98"/>
    </a:accent5>
    <a:accent6>
      <a:srgbClr val="68768A"/>
    </a:accent6>
    <a:hlink>
      <a:srgbClr val="1847A1"/>
    </a:hlink>
    <a:folHlink>
      <a:srgbClr val="1C367E"/>
    </a:folHlink>
  </a:clrScheme>
</a:themeOverride>
</file>

<file path=ppt/theme/themeOverride26.xml><?xml version="1.0" encoding="utf-8"?>
<a:themeOverride xmlns:a="http://schemas.openxmlformats.org/drawingml/2006/main">
  <a:clrScheme name="KGI-Mck">
    <a:dk1>
      <a:srgbClr val="0E2544"/>
    </a:dk1>
    <a:lt1>
      <a:srgbClr val="FFFFFF"/>
    </a:lt1>
    <a:dk2>
      <a:srgbClr val="3175C6"/>
    </a:dk2>
    <a:lt2>
      <a:srgbClr val="EAEAEA"/>
    </a:lt2>
    <a:accent1>
      <a:srgbClr val="0D2241"/>
    </a:accent1>
    <a:accent2>
      <a:srgbClr val="123D79"/>
    </a:accent2>
    <a:accent3>
      <a:srgbClr val="336FC0"/>
    </a:accent3>
    <a:accent4>
      <a:srgbClr val="ADCCEC"/>
    </a:accent4>
    <a:accent5>
      <a:srgbClr val="989A98"/>
    </a:accent5>
    <a:accent6>
      <a:srgbClr val="68768A"/>
    </a:accent6>
    <a:hlink>
      <a:srgbClr val="1847A1"/>
    </a:hlink>
    <a:folHlink>
      <a:srgbClr val="1C367E"/>
    </a:folHlink>
  </a:clrScheme>
</a:themeOverride>
</file>

<file path=ppt/theme/themeOverride27.xml><?xml version="1.0" encoding="utf-8"?>
<a:themeOverride xmlns:a="http://schemas.openxmlformats.org/drawingml/2006/main">
  <a:clrScheme name="KGI-Mck">
    <a:dk1>
      <a:srgbClr val="0E2544"/>
    </a:dk1>
    <a:lt1>
      <a:srgbClr val="FFFFFF"/>
    </a:lt1>
    <a:dk2>
      <a:srgbClr val="3175C6"/>
    </a:dk2>
    <a:lt2>
      <a:srgbClr val="EAEAEA"/>
    </a:lt2>
    <a:accent1>
      <a:srgbClr val="0D2241"/>
    </a:accent1>
    <a:accent2>
      <a:srgbClr val="123D79"/>
    </a:accent2>
    <a:accent3>
      <a:srgbClr val="336FC0"/>
    </a:accent3>
    <a:accent4>
      <a:srgbClr val="ADCCEC"/>
    </a:accent4>
    <a:accent5>
      <a:srgbClr val="989A98"/>
    </a:accent5>
    <a:accent6>
      <a:srgbClr val="68768A"/>
    </a:accent6>
    <a:hlink>
      <a:srgbClr val="1847A1"/>
    </a:hlink>
    <a:folHlink>
      <a:srgbClr val="1C367E"/>
    </a:folHlink>
  </a:clrScheme>
</a:themeOverride>
</file>

<file path=ppt/theme/themeOverride28.xml><?xml version="1.0" encoding="utf-8"?>
<a:themeOverride xmlns:a="http://schemas.openxmlformats.org/drawingml/2006/main">
  <a:clrScheme name="KGI-Mck">
    <a:dk1>
      <a:srgbClr val="0E2544"/>
    </a:dk1>
    <a:lt1>
      <a:srgbClr val="FFFFFF"/>
    </a:lt1>
    <a:dk2>
      <a:srgbClr val="3175C6"/>
    </a:dk2>
    <a:lt2>
      <a:srgbClr val="EAEAEA"/>
    </a:lt2>
    <a:accent1>
      <a:srgbClr val="0D2241"/>
    </a:accent1>
    <a:accent2>
      <a:srgbClr val="123D79"/>
    </a:accent2>
    <a:accent3>
      <a:srgbClr val="336FC0"/>
    </a:accent3>
    <a:accent4>
      <a:srgbClr val="ADCCEC"/>
    </a:accent4>
    <a:accent5>
      <a:srgbClr val="989A98"/>
    </a:accent5>
    <a:accent6>
      <a:srgbClr val="68768A"/>
    </a:accent6>
    <a:hlink>
      <a:srgbClr val="1847A1"/>
    </a:hlink>
    <a:folHlink>
      <a:srgbClr val="1C367E"/>
    </a:folHlink>
  </a:clrScheme>
</a:themeOverride>
</file>

<file path=ppt/theme/themeOverride29.xml><?xml version="1.0" encoding="utf-8"?>
<a:themeOverride xmlns:a="http://schemas.openxmlformats.org/drawingml/2006/main">
  <a:clrScheme name="KGI-Mck">
    <a:dk1>
      <a:srgbClr val="0E2544"/>
    </a:dk1>
    <a:lt1>
      <a:srgbClr val="FFFFFF"/>
    </a:lt1>
    <a:dk2>
      <a:srgbClr val="3175C6"/>
    </a:dk2>
    <a:lt2>
      <a:srgbClr val="EAEAEA"/>
    </a:lt2>
    <a:accent1>
      <a:srgbClr val="0D2241"/>
    </a:accent1>
    <a:accent2>
      <a:srgbClr val="123D79"/>
    </a:accent2>
    <a:accent3>
      <a:srgbClr val="336FC0"/>
    </a:accent3>
    <a:accent4>
      <a:srgbClr val="ADCCEC"/>
    </a:accent4>
    <a:accent5>
      <a:srgbClr val="989A98"/>
    </a:accent5>
    <a:accent6>
      <a:srgbClr val="68768A"/>
    </a:accent6>
    <a:hlink>
      <a:srgbClr val="1847A1"/>
    </a:hlink>
    <a:folHlink>
      <a:srgbClr val="1C367E"/>
    </a:folHlink>
  </a:clrScheme>
</a:themeOverride>
</file>

<file path=ppt/theme/themeOverride30.xml><?xml version="1.0" encoding="utf-8"?>
<a:themeOverride xmlns:a="http://schemas.openxmlformats.org/drawingml/2006/main">
  <a:clrScheme name="KGI-Mck">
    <a:dk1>
      <a:srgbClr val="0E2544"/>
    </a:dk1>
    <a:lt1>
      <a:srgbClr val="FFFFFF"/>
    </a:lt1>
    <a:dk2>
      <a:srgbClr val="3175C6"/>
    </a:dk2>
    <a:lt2>
      <a:srgbClr val="EAEAEA"/>
    </a:lt2>
    <a:accent1>
      <a:srgbClr val="0D2241"/>
    </a:accent1>
    <a:accent2>
      <a:srgbClr val="123D79"/>
    </a:accent2>
    <a:accent3>
      <a:srgbClr val="336FC0"/>
    </a:accent3>
    <a:accent4>
      <a:srgbClr val="ADCCEC"/>
    </a:accent4>
    <a:accent5>
      <a:srgbClr val="989A98"/>
    </a:accent5>
    <a:accent6>
      <a:srgbClr val="68768A"/>
    </a:accent6>
    <a:hlink>
      <a:srgbClr val="1847A1"/>
    </a:hlink>
    <a:folHlink>
      <a:srgbClr val="1C367E"/>
    </a:folHlink>
  </a:clrScheme>
</a:themeOverride>
</file>

<file path=ppt/theme/themeOverride31.xml><?xml version="1.0" encoding="utf-8"?>
<a:themeOverride xmlns:a="http://schemas.openxmlformats.org/drawingml/2006/main">
  <a:clrScheme name="KGI-Mck">
    <a:dk1>
      <a:srgbClr val="0E2544"/>
    </a:dk1>
    <a:lt1>
      <a:srgbClr val="FFFFFF"/>
    </a:lt1>
    <a:dk2>
      <a:srgbClr val="3175C6"/>
    </a:dk2>
    <a:lt2>
      <a:srgbClr val="EAEAEA"/>
    </a:lt2>
    <a:accent1>
      <a:srgbClr val="0D2241"/>
    </a:accent1>
    <a:accent2>
      <a:srgbClr val="123D79"/>
    </a:accent2>
    <a:accent3>
      <a:srgbClr val="336FC0"/>
    </a:accent3>
    <a:accent4>
      <a:srgbClr val="ADCCEC"/>
    </a:accent4>
    <a:accent5>
      <a:srgbClr val="989A98"/>
    </a:accent5>
    <a:accent6>
      <a:srgbClr val="68768A"/>
    </a:accent6>
    <a:hlink>
      <a:srgbClr val="1847A1"/>
    </a:hlink>
    <a:folHlink>
      <a:srgbClr val="1C367E"/>
    </a:folHlink>
  </a:clrScheme>
</a:themeOverride>
</file>

<file path=ppt/theme/themeOverride32.xml><?xml version="1.0" encoding="utf-8"?>
<a:themeOverride xmlns:a="http://schemas.openxmlformats.org/drawingml/2006/main">
  <a:clrScheme name="KGI-Mck">
    <a:dk1>
      <a:srgbClr val="0E2544"/>
    </a:dk1>
    <a:lt1>
      <a:srgbClr val="FFFFFF"/>
    </a:lt1>
    <a:dk2>
      <a:srgbClr val="3175C6"/>
    </a:dk2>
    <a:lt2>
      <a:srgbClr val="EAEAEA"/>
    </a:lt2>
    <a:accent1>
      <a:srgbClr val="0D2241"/>
    </a:accent1>
    <a:accent2>
      <a:srgbClr val="123D79"/>
    </a:accent2>
    <a:accent3>
      <a:srgbClr val="336FC0"/>
    </a:accent3>
    <a:accent4>
      <a:srgbClr val="ADCCEC"/>
    </a:accent4>
    <a:accent5>
      <a:srgbClr val="989A98"/>
    </a:accent5>
    <a:accent6>
      <a:srgbClr val="68768A"/>
    </a:accent6>
    <a:hlink>
      <a:srgbClr val="1847A1"/>
    </a:hlink>
    <a:folHlink>
      <a:srgbClr val="1C367E"/>
    </a:folHlink>
  </a:clrScheme>
</a:themeOverride>
</file>

<file path=ppt/theme/themeOverride33.xml><?xml version="1.0" encoding="utf-8"?>
<a:themeOverride xmlns:a="http://schemas.openxmlformats.org/drawingml/2006/main">
  <a:clrScheme name="KGI-Mck">
    <a:dk1>
      <a:srgbClr val="0E2544"/>
    </a:dk1>
    <a:lt1>
      <a:srgbClr val="FFFFFF"/>
    </a:lt1>
    <a:dk2>
      <a:srgbClr val="3175C6"/>
    </a:dk2>
    <a:lt2>
      <a:srgbClr val="EAEAEA"/>
    </a:lt2>
    <a:accent1>
      <a:srgbClr val="0D2241"/>
    </a:accent1>
    <a:accent2>
      <a:srgbClr val="123D79"/>
    </a:accent2>
    <a:accent3>
      <a:srgbClr val="336FC0"/>
    </a:accent3>
    <a:accent4>
      <a:srgbClr val="ADCCEC"/>
    </a:accent4>
    <a:accent5>
      <a:srgbClr val="989A98"/>
    </a:accent5>
    <a:accent6>
      <a:srgbClr val="68768A"/>
    </a:accent6>
    <a:hlink>
      <a:srgbClr val="1847A1"/>
    </a:hlink>
    <a:folHlink>
      <a:srgbClr val="1C367E"/>
    </a:folHlink>
  </a:clrScheme>
</a:themeOverride>
</file>

<file path=ppt/theme/themeOverride34.xml><?xml version="1.0" encoding="utf-8"?>
<a:themeOverride xmlns:a="http://schemas.openxmlformats.org/drawingml/2006/main">
  <a:clrScheme name="KGI-Mck">
    <a:dk1>
      <a:srgbClr val="0E2544"/>
    </a:dk1>
    <a:lt1>
      <a:srgbClr val="FFFFFF"/>
    </a:lt1>
    <a:dk2>
      <a:srgbClr val="3175C6"/>
    </a:dk2>
    <a:lt2>
      <a:srgbClr val="EAEAEA"/>
    </a:lt2>
    <a:accent1>
      <a:srgbClr val="0D2241"/>
    </a:accent1>
    <a:accent2>
      <a:srgbClr val="123D79"/>
    </a:accent2>
    <a:accent3>
      <a:srgbClr val="336FC0"/>
    </a:accent3>
    <a:accent4>
      <a:srgbClr val="ADCCEC"/>
    </a:accent4>
    <a:accent5>
      <a:srgbClr val="989A98"/>
    </a:accent5>
    <a:accent6>
      <a:srgbClr val="68768A"/>
    </a:accent6>
    <a:hlink>
      <a:srgbClr val="1847A1"/>
    </a:hlink>
    <a:folHlink>
      <a:srgbClr val="1C367E"/>
    </a:folHlink>
  </a:clrScheme>
</a:themeOverride>
</file>

<file path=ppt/theme/themeOverride35.xml><?xml version="1.0" encoding="utf-8"?>
<a:themeOverride xmlns:a="http://schemas.openxmlformats.org/drawingml/2006/main">
  <a:clrScheme name="KGI-Mck">
    <a:dk1>
      <a:srgbClr val="0E2544"/>
    </a:dk1>
    <a:lt1>
      <a:srgbClr val="FFFFFF"/>
    </a:lt1>
    <a:dk2>
      <a:srgbClr val="3175C6"/>
    </a:dk2>
    <a:lt2>
      <a:srgbClr val="EAEAEA"/>
    </a:lt2>
    <a:accent1>
      <a:srgbClr val="0D2241"/>
    </a:accent1>
    <a:accent2>
      <a:srgbClr val="123D79"/>
    </a:accent2>
    <a:accent3>
      <a:srgbClr val="336FC0"/>
    </a:accent3>
    <a:accent4>
      <a:srgbClr val="ADCCEC"/>
    </a:accent4>
    <a:accent5>
      <a:srgbClr val="989A98"/>
    </a:accent5>
    <a:accent6>
      <a:srgbClr val="68768A"/>
    </a:accent6>
    <a:hlink>
      <a:srgbClr val="1847A1"/>
    </a:hlink>
    <a:folHlink>
      <a:srgbClr val="1C367E"/>
    </a:folHlink>
  </a:clrScheme>
</a:themeOverride>
</file>

<file path=ppt/theme/themeOverride36.xml><?xml version="1.0" encoding="utf-8"?>
<a:themeOverride xmlns:a="http://schemas.openxmlformats.org/drawingml/2006/main">
  <a:clrScheme name="KGI-Mck">
    <a:dk1>
      <a:srgbClr val="0E2544"/>
    </a:dk1>
    <a:lt1>
      <a:srgbClr val="FFFFFF"/>
    </a:lt1>
    <a:dk2>
      <a:srgbClr val="3175C6"/>
    </a:dk2>
    <a:lt2>
      <a:srgbClr val="EAEAEA"/>
    </a:lt2>
    <a:accent1>
      <a:srgbClr val="0D2241"/>
    </a:accent1>
    <a:accent2>
      <a:srgbClr val="123D79"/>
    </a:accent2>
    <a:accent3>
      <a:srgbClr val="336FC0"/>
    </a:accent3>
    <a:accent4>
      <a:srgbClr val="ADCCEC"/>
    </a:accent4>
    <a:accent5>
      <a:srgbClr val="989A98"/>
    </a:accent5>
    <a:accent6>
      <a:srgbClr val="68768A"/>
    </a:accent6>
    <a:hlink>
      <a:srgbClr val="1847A1"/>
    </a:hlink>
    <a:folHlink>
      <a:srgbClr val="1C367E"/>
    </a:folHlink>
  </a:clrScheme>
</a:themeOverride>
</file>

<file path=ppt/theme/themeOverride37.xml><?xml version="1.0" encoding="utf-8"?>
<a:themeOverride xmlns:a="http://schemas.openxmlformats.org/drawingml/2006/main">
  <a:clrScheme name="KGI-Mck">
    <a:dk1>
      <a:srgbClr val="0E2544"/>
    </a:dk1>
    <a:lt1>
      <a:srgbClr val="FFFFFF"/>
    </a:lt1>
    <a:dk2>
      <a:srgbClr val="3175C6"/>
    </a:dk2>
    <a:lt2>
      <a:srgbClr val="EAEAEA"/>
    </a:lt2>
    <a:accent1>
      <a:srgbClr val="0D2241"/>
    </a:accent1>
    <a:accent2>
      <a:srgbClr val="123D79"/>
    </a:accent2>
    <a:accent3>
      <a:srgbClr val="336FC0"/>
    </a:accent3>
    <a:accent4>
      <a:srgbClr val="ADCCEC"/>
    </a:accent4>
    <a:accent5>
      <a:srgbClr val="989A98"/>
    </a:accent5>
    <a:accent6>
      <a:srgbClr val="68768A"/>
    </a:accent6>
    <a:hlink>
      <a:srgbClr val="1847A1"/>
    </a:hlink>
    <a:folHlink>
      <a:srgbClr val="1C367E"/>
    </a:folHlink>
  </a:clrScheme>
</a:themeOverride>
</file>

<file path=ppt/theme/themeOverride38.xml><?xml version="1.0" encoding="utf-8"?>
<a:themeOverride xmlns:a="http://schemas.openxmlformats.org/drawingml/2006/main">
  <a:clrScheme name="KGI-Mck">
    <a:dk1>
      <a:srgbClr val="0E2544"/>
    </a:dk1>
    <a:lt1>
      <a:srgbClr val="FFFFFF"/>
    </a:lt1>
    <a:dk2>
      <a:srgbClr val="3175C6"/>
    </a:dk2>
    <a:lt2>
      <a:srgbClr val="EAEAEA"/>
    </a:lt2>
    <a:accent1>
      <a:srgbClr val="0D2241"/>
    </a:accent1>
    <a:accent2>
      <a:srgbClr val="123D79"/>
    </a:accent2>
    <a:accent3>
      <a:srgbClr val="336FC0"/>
    </a:accent3>
    <a:accent4>
      <a:srgbClr val="ADCCEC"/>
    </a:accent4>
    <a:accent5>
      <a:srgbClr val="989A98"/>
    </a:accent5>
    <a:accent6>
      <a:srgbClr val="68768A"/>
    </a:accent6>
    <a:hlink>
      <a:srgbClr val="1847A1"/>
    </a:hlink>
    <a:folHlink>
      <a:srgbClr val="1C367E"/>
    </a:folHlink>
  </a:clrScheme>
</a:themeOverride>
</file>

<file path=ppt/theme/themeOverride39.xml><?xml version="1.0" encoding="utf-8"?>
<a:themeOverride xmlns:a="http://schemas.openxmlformats.org/drawingml/2006/main">
  <a:clrScheme name="KGI-Mck">
    <a:dk1>
      <a:srgbClr val="0E2544"/>
    </a:dk1>
    <a:lt1>
      <a:srgbClr val="FFFFFF"/>
    </a:lt1>
    <a:dk2>
      <a:srgbClr val="3175C6"/>
    </a:dk2>
    <a:lt2>
      <a:srgbClr val="EAEAEA"/>
    </a:lt2>
    <a:accent1>
      <a:srgbClr val="0D2241"/>
    </a:accent1>
    <a:accent2>
      <a:srgbClr val="123D79"/>
    </a:accent2>
    <a:accent3>
      <a:srgbClr val="336FC0"/>
    </a:accent3>
    <a:accent4>
      <a:srgbClr val="ADCCEC"/>
    </a:accent4>
    <a:accent5>
      <a:srgbClr val="989A98"/>
    </a:accent5>
    <a:accent6>
      <a:srgbClr val="68768A"/>
    </a:accent6>
    <a:hlink>
      <a:srgbClr val="1847A1"/>
    </a:hlink>
    <a:folHlink>
      <a:srgbClr val="1C367E"/>
    </a:folHlink>
  </a:clrScheme>
</a:themeOverride>
</file>

<file path=ppt/theme/themeOverride40.xml><?xml version="1.0" encoding="utf-8"?>
<a:themeOverride xmlns:a="http://schemas.openxmlformats.org/drawingml/2006/main">
  <a:clrScheme name="KGI-Mck">
    <a:dk1>
      <a:srgbClr val="0E2544"/>
    </a:dk1>
    <a:lt1>
      <a:srgbClr val="FFFFFF"/>
    </a:lt1>
    <a:dk2>
      <a:srgbClr val="3175C6"/>
    </a:dk2>
    <a:lt2>
      <a:srgbClr val="EAEAEA"/>
    </a:lt2>
    <a:accent1>
      <a:srgbClr val="0D2241"/>
    </a:accent1>
    <a:accent2>
      <a:srgbClr val="123D79"/>
    </a:accent2>
    <a:accent3>
      <a:srgbClr val="336FC0"/>
    </a:accent3>
    <a:accent4>
      <a:srgbClr val="ADCCEC"/>
    </a:accent4>
    <a:accent5>
      <a:srgbClr val="989A98"/>
    </a:accent5>
    <a:accent6>
      <a:srgbClr val="68768A"/>
    </a:accent6>
    <a:hlink>
      <a:srgbClr val="1847A1"/>
    </a:hlink>
    <a:folHlink>
      <a:srgbClr val="1C367E"/>
    </a:folHlink>
  </a:clrScheme>
</a:themeOverrid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5">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2EE4A404-8534-4A34-861E-FE64B2ABC8CD}">
  <we:reference id="1e02f4c4-fc90-4da1-8ab3-b26c44d971ec" version="2.2.0.0" store="EXCatalog" storeType="EXCatalog"/>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419A6983-F22A-374A-9760-9C0C17D6E415}">
  <we:reference id="wa200010001" version="1.0.0.1" store="en-US" storeType="OMEX"/>
  <we:alternateReferences>
    <we:reference id="WA200010001" version="1.0.0.1" store="" storeType="OMEX"/>
  </we:alternateReferences>
  <we:properties>
    <we:property name="claude.fileId" value="&quot;862e2d73-e8b0-4714-97c9-22ab845362bd&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88FABD9E627A942B7A0373138464A12" ma:contentTypeVersion="15" ma:contentTypeDescription="Create a new document." ma:contentTypeScope="" ma:versionID="17563c6bda9230eada0075e15a5a535d">
  <xsd:schema xmlns:xsd="http://www.w3.org/2001/XMLSchema" xmlns:xs="http://www.w3.org/2001/XMLSchema" xmlns:p="http://schemas.microsoft.com/office/2006/metadata/properties" xmlns:ns1="http://schemas.microsoft.com/sharepoint/v3" xmlns:ns2="ed596afb-b43d-4b37-9607-5be3046dbb15" xmlns:ns3="79b1087e-b6e1-495d-b445-e191f6146686" targetNamespace="http://schemas.microsoft.com/office/2006/metadata/properties" ma:root="true" ma:fieldsID="79b4063232eedcf30fe786e892e3bb9b" ns1:_="" ns2:_="" ns3:_="">
    <xsd:import namespace="http://schemas.microsoft.com/sharepoint/v3"/>
    <xsd:import namespace="ed596afb-b43d-4b37-9607-5be3046dbb15"/>
    <xsd:import namespace="79b1087e-b6e1-495d-b445-e191f614668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1:_ip_UnifiedCompliancePolicyProperties" minOccurs="0"/>
                <xsd:element ref="ns1:_ip_UnifiedCompliancePolicyUIAction"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d596afb-b43d-4b37-9607-5be3046dbb1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1edaf98-933d-48b7-9af8-6bdbb703d060"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9b1087e-b6e1-495d-b445-e191f6146686"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8ab5bcf1-aebb-4c90-83a7-d70acacb2f5c}" ma:internalName="TaxCatchAll" ma:showField="CatchAllData" ma:web="79b1087e-b6e1-495d-b445-e191f614668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79b1087e-b6e1-495d-b445-e191f6146686" xsi:nil="true"/>
    <_ip_UnifiedCompliancePolicyProperties xmlns="http://schemas.microsoft.com/sharepoint/v3" xsi:nil="true"/>
    <lcf76f155ced4ddcb4097134ff3c332f xmlns="ed596afb-b43d-4b37-9607-5be3046dbb15">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F142F910-8057-4E7D-B8F3-D1AA6583D590}">
  <ds:schemaRefs>
    <ds:schemaRef ds:uri="http://schemas.microsoft.com/sharepoint/v3/contenttype/forms"/>
  </ds:schemaRefs>
</ds:datastoreItem>
</file>

<file path=customXml/itemProps2.xml><?xml version="1.0" encoding="utf-8"?>
<ds:datastoreItem xmlns:ds="http://schemas.openxmlformats.org/officeDocument/2006/customXml" ds:itemID="{E8CEA8BA-AF61-43D6-9684-72F1EC50AAF8}">
  <ds:schemaRefs>
    <ds:schemaRef ds:uri="79b1087e-b6e1-495d-b445-e191f6146686"/>
    <ds:schemaRef ds:uri="ed596afb-b43d-4b37-9607-5be3046dbb1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179C227-D6D2-4881-8DB8-93CC8A99D200}">
  <ds:schemaRefs>
    <ds:schemaRef ds:uri="79b1087e-b6e1-495d-b445-e191f6146686"/>
    <ds:schemaRef ds:uri="ed596afb-b43d-4b37-9607-5be3046dbb1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blank</Template>
  <TotalTime>4940</TotalTime>
  <Words>909</Words>
  <Application>Microsoft Office PowerPoint</Application>
  <PresentationFormat>寬螢幕</PresentationFormat>
  <Paragraphs>109</Paragraphs>
  <Slides>3</Slides>
  <Notes>0</Notes>
  <HiddenSlides>0</HiddenSlides>
  <MMClips>0</MMClips>
  <ScaleCrop>false</ScaleCrop>
  <HeadingPairs>
    <vt:vector size="10" baseType="variant">
      <vt:variant>
        <vt:lpstr>使用字型</vt:lpstr>
      </vt:variant>
      <vt:variant>
        <vt:i4>2</vt:i4>
      </vt:variant>
      <vt:variant>
        <vt:lpstr>佈景主題</vt:lpstr>
      </vt:variant>
      <vt:variant>
        <vt:i4>2</vt:i4>
      </vt:variant>
      <vt:variant>
        <vt:lpstr>內嵌 OLE 伺服程式</vt:lpstr>
      </vt:variant>
      <vt:variant>
        <vt:i4>1</vt:i4>
      </vt:variant>
      <vt:variant>
        <vt:lpstr>投影片標題</vt:lpstr>
      </vt:variant>
      <vt:variant>
        <vt:i4>3</vt:i4>
      </vt:variant>
      <vt:variant>
        <vt:lpstr>自訂放映</vt:lpstr>
      </vt:variant>
      <vt:variant>
        <vt:i4>1</vt:i4>
      </vt:variant>
    </vt:vector>
  </HeadingPairs>
  <TitlesOfParts>
    <vt:vector size="9" baseType="lpstr">
      <vt:lpstr>Arial</vt:lpstr>
      <vt:lpstr>Trebuchet MS</vt:lpstr>
      <vt:lpstr>BCG Grid 16:9</vt:lpstr>
      <vt:lpstr>1_BCG Grid 16:9</vt:lpstr>
      <vt:lpstr>thinkcell 幻灯片</vt:lpstr>
      <vt:lpstr>Hermes 為受瑞士監管的投資商品平台，核心提供 AMC 與結構型商品的發行、交易及全週期管理；股東現正評估最高 100% 股權交易，引入資源支持下一階段成長</vt:lpstr>
      <vt:lpstr>AMC 在亞洲已被實際用於私銀、EAM 與高資產客群，香港已有多個成熟商業先例、新加坡開始形成平台化模式；台灣目前尚未找到可驗證案例</vt:lpstr>
      <vt:lpstr>AMC 在三地合規落地程度明顯分化，香港最成熟，新加坡次之</vt:lpstr>
      <vt:lpstr>Format Guide Workshop</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Chang, Annie</dc:creator>
  <cp:keywords/>
  <dc:description/>
  <cp:lastModifiedBy>呂新晨AstonLu-HR-KGISEC</cp:lastModifiedBy>
  <cp:revision>12</cp:revision>
  <cp:lastPrinted>2016-04-06T18:59:25Z</cp:lastPrinted>
  <dcterms:created xsi:type="dcterms:W3CDTF">2024-05-20T02:47:19Z</dcterms:created>
  <dcterms:modified xsi:type="dcterms:W3CDTF">2026-09-18T10:08:15Z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2024-05-20T02:47:39Z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9fd07008-143f-4d2c-b685-84eb12c5714b</vt:lpwstr>
  </property>
  <property fmtid="{D5CDD505-2E9C-101B-9397-08002B2CF9AE}" pid="13" name="MSIP_Label_b0d5c4f4-7a29-4385-b7a5-afbe2154ae6f_ContentBits">
    <vt:lpwstr>0</vt:lpwstr>
  </property>
  <property fmtid="{D5CDD505-2E9C-101B-9397-08002B2CF9AE}" pid="14" name="ContentTypeId">
    <vt:lpwstr>0x010100888FABD9E627A942B7A0373138464A12</vt:lpwstr>
  </property>
  <property fmtid="{D5CDD505-2E9C-101B-9397-08002B2CF9AE}" pid="15" name="MediaServiceImageTags">
    <vt:lpwstr/>
  </property>
</Properties>
</file>