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3D5C92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D5C92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D5C92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D5C92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71653"/>
            <a:ext cx="12192000" cy="4571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9138" y="63830"/>
            <a:ext cx="877379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3D5C92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7420" y="2544318"/>
            <a:ext cx="7047230" cy="1671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769597" y="6550711"/>
            <a:ext cx="28257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63"/>
            <a:ext cx="4014473" cy="574545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01361" y="2148585"/>
            <a:ext cx="635508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100">
                <a:solidFill>
                  <a:srgbClr val="000000"/>
                </a:solidFill>
              </a:rPr>
              <a:t>RWA</a:t>
            </a:r>
            <a:r>
              <a:rPr dirty="0" sz="4800" spc="-10">
                <a:solidFill>
                  <a:srgbClr val="000000"/>
                </a:solidFill>
              </a:rPr>
              <a:t>代幣平台規劃概要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5709920" y="4793589"/>
            <a:ext cx="4023360" cy="109283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40"/>
              </a:spcBef>
            </a:pPr>
            <a:r>
              <a:rPr dirty="0" sz="2800" spc="-40">
                <a:latin typeface="Microsoft JhengHei"/>
                <a:cs typeface="Microsoft JhengHei"/>
              </a:rPr>
              <a:t>集保結算所 數位暨資安部</a:t>
            </a:r>
            <a:endParaRPr sz="2800">
              <a:latin typeface="Microsoft JhengHei"/>
              <a:cs typeface="Microsoft JhengHei"/>
            </a:endParaRPr>
          </a:p>
          <a:p>
            <a:pPr algn="ctr" marL="2540">
              <a:lnSpc>
                <a:spcPct val="100000"/>
              </a:lnSpc>
              <a:spcBef>
                <a:spcPts val="840"/>
              </a:spcBef>
            </a:pPr>
            <a:r>
              <a:rPr dirty="0" sz="2800" spc="-10">
                <a:latin typeface="Microsoft JhengHei"/>
                <a:cs typeface="Microsoft JhengHei"/>
              </a:rPr>
              <a:t>2026.08.05</a:t>
            </a:r>
            <a:endParaRPr sz="2800">
              <a:latin typeface="Microsoft JhengHei"/>
              <a:cs typeface="Microsoft JhengHe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17268" y="5285330"/>
            <a:ext cx="1774731" cy="15726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13682" y="0"/>
            <a:ext cx="978317" cy="10273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4538" y="63830"/>
            <a:ext cx="2056764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報告大綱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635000" y="1101703"/>
            <a:ext cx="5707380" cy="3227705"/>
          </a:xfrm>
          <a:prstGeom prst="rect">
            <a:avLst/>
          </a:prstGeom>
        </p:spPr>
        <p:txBody>
          <a:bodyPr wrap="square" lIns="0" tIns="2266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dirty="0" sz="2800" spc="-45">
                <a:latin typeface="Microsoft JhengHei"/>
                <a:cs typeface="Microsoft JhengHei"/>
              </a:rPr>
              <a:t>一、平台架構</a:t>
            </a:r>
            <a:endParaRPr sz="2800">
              <a:latin typeface="Microsoft JhengHei"/>
              <a:cs typeface="Microsoft JhengHei"/>
            </a:endParaRPr>
          </a:p>
          <a:p>
            <a:pPr marL="12700" marR="1424940">
              <a:lnSpc>
                <a:spcPct val="150000"/>
              </a:lnSpc>
              <a:spcBef>
                <a:spcPts val="5"/>
              </a:spcBef>
            </a:pPr>
            <a:r>
              <a:rPr dirty="0" sz="2800" spc="-40">
                <a:latin typeface="Microsoft JhengHei"/>
                <a:cs typeface="Microsoft JhengHei"/>
              </a:rPr>
              <a:t>二、使用單位私鑰保管方案三、使用單位自行保管私鑰</a:t>
            </a:r>
            <a:endParaRPr sz="2800">
              <a:latin typeface="Microsoft JhengHei"/>
              <a:cs typeface="Microsoft JhengHei"/>
            </a:endParaRPr>
          </a:p>
          <a:p>
            <a:pPr marL="12700" marR="5080">
              <a:lnSpc>
                <a:spcPct val="150000"/>
              </a:lnSpc>
            </a:pPr>
            <a:r>
              <a:rPr dirty="0" sz="2800" spc="-40">
                <a:latin typeface="Microsoft JhengHei"/>
                <a:cs typeface="Microsoft JhengHei"/>
              </a:rPr>
              <a:t>四、使用單位洽第三方機構保管私鑰五、預定時程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4538" y="63830"/>
            <a:ext cx="307276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一、平台架構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5823" y="958723"/>
            <a:ext cx="352171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200" spc="-50">
                <a:latin typeface="Microsoft JhengHei"/>
                <a:cs typeface="Microsoft JhengHei"/>
              </a:rPr>
              <a:t>RWA</a:t>
            </a:r>
            <a:r>
              <a:rPr dirty="0" sz="2200" spc="-35">
                <a:latin typeface="Microsoft JhengHei"/>
                <a:cs typeface="Microsoft JhengHei"/>
              </a:rPr>
              <a:t>代幣平台架構示意圖</a:t>
            </a:r>
            <a:endParaRPr sz="22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31667" y="5612358"/>
            <a:ext cx="1316355" cy="697230"/>
          </a:xfrm>
          <a:custGeom>
            <a:avLst/>
            <a:gdLst/>
            <a:ahLst/>
            <a:cxnLst/>
            <a:rect l="l" t="t" r="r" b="b"/>
            <a:pathLst>
              <a:path w="1316354" h="697229">
                <a:moveTo>
                  <a:pt x="0" y="65366"/>
                </a:moveTo>
                <a:lnTo>
                  <a:pt x="5127" y="39921"/>
                </a:lnTo>
                <a:lnTo>
                  <a:pt x="19113" y="19143"/>
                </a:lnTo>
                <a:lnTo>
                  <a:pt x="39862" y="5136"/>
                </a:lnTo>
                <a:lnTo>
                  <a:pt x="65277" y="0"/>
                </a:lnTo>
                <a:lnTo>
                  <a:pt x="1250695" y="0"/>
                </a:lnTo>
                <a:lnTo>
                  <a:pt x="1276185" y="5136"/>
                </a:lnTo>
                <a:lnTo>
                  <a:pt x="1296971" y="19143"/>
                </a:lnTo>
                <a:lnTo>
                  <a:pt x="1310971" y="39921"/>
                </a:lnTo>
                <a:lnTo>
                  <a:pt x="1316101" y="65366"/>
                </a:lnTo>
                <a:lnTo>
                  <a:pt x="1316101" y="631634"/>
                </a:lnTo>
                <a:lnTo>
                  <a:pt x="1310971" y="657080"/>
                </a:lnTo>
                <a:lnTo>
                  <a:pt x="1296971" y="677857"/>
                </a:lnTo>
                <a:lnTo>
                  <a:pt x="1276185" y="691865"/>
                </a:lnTo>
                <a:lnTo>
                  <a:pt x="1250695" y="697001"/>
                </a:lnTo>
                <a:lnTo>
                  <a:pt x="65277" y="697001"/>
                </a:lnTo>
                <a:lnTo>
                  <a:pt x="39862" y="691865"/>
                </a:lnTo>
                <a:lnTo>
                  <a:pt x="19113" y="677857"/>
                </a:lnTo>
                <a:lnTo>
                  <a:pt x="5127" y="657080"/>
                </a:lnTo>
                <a:lnTo>
                  <a:pt x="0" y="631634"/>
                </a:lnTo>
                <a:lnTo>
                  <a:pt x="0" y="6536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131057" y="5836716"/>
            <a:ext cx="9169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Microsoft JhengHei"/>
                <a:cs typeface="Microsoft JhengHei"/>
              </a:rPr>
              <a:t>分散式帳本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31567" y="5475478"/>
            <a:ext cx="6278880" cy="932180"/>
          </a:xfrm>
          <a:custGeom>
            <a:avLst/>
            <a:gdLst/>
            <a:ahLst/>
            <a:cxnLst/>
            <a:rect l="l" t="t" r="r" b="b"/>
            <a:pathLst>
              <a:path w="6278880" h="932179">
                <a:moveTo>
                  <a:pt x="0" y="74168"/>
                </a:moveTo>
                <a:lnTo>
                  <a:pt x="5840" y="45273"/>
                </a:lnTo>
                <a:lnTo>
                  <a:pt x="21764" y="21701"/>
                </a:lnTo>
                <a:lnTo>
                  <a:pt x="45380" y="5820"/>
                </a:lnTo>
                <a:lnTo>
                  <a:pt x="74294" y="0"/>
                </a:lnTo>
                <a:lnTo>
                  <a:pt x="6204331" y="0"/>
                </a:lnTo>
                <a:lnTo>
                  <a:pt x="6233245" y="5820"/>
                </a:lnTo>
                <a:lnTo>
                  <a:pt x="6256861" y="21701"/>
                </a:lnTo>
                <a:lnTo>
                  <a:pt x="6272785" y="45273"/>
                </a:lnTo>
                <a:lnTo>
                  <a:pt x="6278626" y="74168"/>
                </a:lnTo>
                <a:lnTo>
                  <a:pt x="6278626" y="857415"/>
                </a:lnTo>
                <a:lnTo>
                  <a:pt x="6272785" y="886308"/>
                </a:lnTo>
                <a:lnTo>
                  <a:pt x="6256861" y="909904"/>
                </a:lnTo>
                <a:lnTo>
                  <a:pt x="6233245" y="925812"/>
                </a:lnTo>
                <a:lnTo>
                  <a:pt x="6204331" y="931646"/>
                </a:lnTo>
                <a:lnTo>
                  <a:pt x="74294" y="931646"/>
                </a:lnTo>
                <a:lnTo>
                  <a:pt x="45380" y="925812"/>
                </a:lnTo>
                <a:lnTo>
                  <a:pt x="21764" y="909904"/>
                </a:lnTo>
                <a:lnTo>
                  <a:pt x="5840" y="886308"/>
                </a:lnTo>
                <a:lnTo>
                  <a:pt x="0" y="857415"/>
                </a:lnTo>
                <a:lnTo>
                  <a:pt x="0" y="74168"/>
                </a:lnTo>
                <a:close/>
              </a:path>
              <a:path w="6278880" h="932179">
                <a:moveTo>
                  <a:pt x="1784095" y="202247"/>
                </a:moveTo>
                <a:lnTo>
                  <a:pt x="1789243" y="176801"/>
                </a:lnTo>
                <a:lnTo>
                  <a:pt x="1803272" y="156024"/>
                </a:lnTo>
                <a:lnTo>
                  <a:pt x="1824065" y="142016"/>
                </a:lnTo>
                <a:lnTo>
                  <a:pt x="1849500" y="136880"/>
                </a:lnTo>
                <a:lnTo>
                  <a:pt x="3034919" y="136880"/>
                </a:lnTo>
                <a:lnTo>
                  <a:pt x="3060354" y="142016"/>
                </a:lnTo>
                <a:lnTo>
                  <a:pt x="3081147" y="156024"/>
                </a:lnTo>
                <a:lnTo>
                  <a:pt x="3095176" y="176801"/>
                </a:lnTo>
                <a:lnTo>
                  <a:pt x="3100323" y="202247"/>
                </a:lnTo>
                <a:lnTo>
                  <a:pt x="3100323" y="768515"/>
                </a:lnTo>
                <a:lnTo>
                  <a:pt x="3095176" y="793960"/>
                </a:lnTo>
                <a:lnTo>
                  <a:pt x="3081147" y="814738"/>
                </a:lnTo>
                <a:lnTo>
                  <a:pt x="3060354" y="828745"/>
                </a:lnTo>
                <a:lnTo>
                  <a:pt x="3034919" y="833882"/>
                </a:lnTo>
                <a:lnTo>
                  <a:pt x="1849500" y="833882"/>
                </a:lnTo>
                <a:lnTo>
                  <a:pt x="1824065" y="828745"/>
                </a:lnTo>
                <a:lnTo>
                  <a:pt x="1803272" y="814738"/>
                </a:lnTo>
                <a:lnTo>
                  <a:pt x="1789243" y="793960"/>
                </a:lnTo>
                <a:lnTo>
                  <a:pt x="1784095" y="768515"/>
                </a:lnTo>
                <a:lnTo>
                  <a:pt x="1784095" y="20224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746106" y="3185667"/>
            <a:ext cx="1795145" cy="810260"/>
          </a:xfrm>
          <a:custGeom>
            <a:avLst/>
            <a:gdLst/>
            <a:ahLst/>
            <a:cxnLst/>
            <a:rect l="l" t="t" r="r" b="b"/>
            <a:pathLst>
              <a:path w="1795145" h="810260">
                <a:moveTo>
                  <a:pt x="0" y="23876"/>
                </a:moveTo>
                <a:lnTo>
                  <a:pt x="1873" y="14573"/>
                </a:lnTo>
                <a:lnTo>
                  <a:pt x="6985" y="6985"/>
                </a:lnTo>
                <a:lnTo>
                  <a:pt x="14573" y="1873"/>
                </a:lnTo>
                <a:lnTo>
                  <a:pt x="23875" y="0"/>
                </a:lnTo>
                <a:lnTo>
                  <a:pt x="1771142" y="0"/>
                </a:lnTo>
                <a:lnTo>
                  <a:pt x="1780371" y="1873"/>
                </a:lnTo>
                <a:lnTo>
                  <a:pt x="1787921" y="6985"/>
                </a:lnTo>
                <a:lnTo>
                  <a:pt x="1793019" y="14573"/>
                </a:lnTo>
                <a:lnTo>
                  <a:pt x="1794891" y="23876"/>
                </a:lnTo>
                <a:lnTo>
                  <a:pt x="1794891" y="786257"/>
                </a:lnTo>
                <a:lnTo>
                  <a:pt x="1793019" y="795486"/>
                </a:lnTo>
                <a:lnTo>
                  <a:pt x="1787921" y="803036"/>
                </a:lnTo>
                <a:lnTo>
                  <a:pt x="1780371" y="808134"/>
                </a:lnTo>
                <a:lnTo>
                  <a:pt x="1771142" y="810006"/>
                </a:lnTo>
                <a:lnTo>
                  <a:pt x="23875" y="810006"/>
                </a:lnTo>
                <a:lnTo>
                  <a:pt x="14573" y="808134"/>
                </a:lnTo>
                <a:lnTo>
                  <a:pt x="6985" y="803036"/>
                </a:lnTo>
                <a:lnTo>
                  <a:pt x="1873" y="795486"/>
                </a:lnTo>
                <a:lnTo>
                  <a:pt x="0" y="786257"/>
                </a:lnTo>
                <a:lnTo>
                  <a:pt x="0" y="2387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888093" y="3220288"/>
            <a:ext cx="1511300" cy="697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600" spc="-35" b="1">
                <a:latin typeface="Microsoft JhengHei"/>
                <a:cs typeface="Microsoft JhengHei"/>
              </a:rPr>
              <a:t>集保結算所</a:t>
            </a:r>
            <a:endParaRPr sz="1600">
              <a:latin typeface="Microsoft JhengHei"/>
              <a:cs typeface="Microsoft JhengHei"/>
            </a:endParaRPr>
          </a:p>
          <a:p>
            <a:pPr algn="ctr" marL="1270">
              <a:lnSpc>
                <a:spcPct val="100000"/>
              </a:lnSpc>
              <a:spcBef>
                <a:spcPts val="15"/>
              </a:spcBef>
            </a:pPr>
            <a:r>
              <a:rPr dirty="0" sz="1400" spc="-10">
                <a:latin typeface="Microsoft JhengHei"/>
                <a:cs typeface="Microsoft JhengHei"/>
              </a:rPr>
              <a:t>證券存託系統</a:t>
            </a:r>
            <a:endParaRPr sz="1400">
              <a:latin typeface="Microsoft JhengHei"/>
              <a:cs typeface="Microsoft JhengHei"/>
            </a:endParaRPr>
          </a:p>
          <a:p>
            <a:pPr algn="ctr">
              <a:lnSpc>
                <a:spcPct val="100000"/>
              </a:lnSpc>
            </a:pPr>
            <a:r>
              <a:rPr dirty="0" sz="1400">
                <a:latin typeface="Microsoft JhengHei"/>
                <a:cs typeface="Microsoft JhengHei"/>
              </a:rPr>
              <a:t>e手掌握(MPS)</a:t>
            </a:r>
            <a:r>
              <a:rPr dirty="0" sz="1400" spc="-35">
                <a:latin typeface="Microsoft JhengHei"/>
                <a:cs typeface="Microsoft JhengHei"/>
              </a:rPr>
              <a:t>系統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15119" y="3443096"/>
            <a:ext cx="2654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Microsoft JhengHei"/>
                <a:cs typeface="Microsoft JhengHei"/>
              </a:rPr>
              <a:t>API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816986" y="2962275"/>
            <a:ext cx="6851650" cy="784860"/>
            <a:chOff x="2816986" y="2962275"/>
            <a:chExt cx="6851650" cy="784860"/>
          </a:xfrm>
        </p:grpSpPr>
        <p:sp>
          <p:nvSpPr>
            <p:cNvPr id="11" name="object 11"/>
            <p:cNvSpPr/>
            <p:nvPr/>
          </p:nvSpPr>
          <p:spPr>
            <a:xfrm>
              <a:off x="8910320" y="3670808"/>
              <a:ext cx="758190" cy="76200"/>
            </a:xfrm>
            <a:custGeom>
              <a:avLst/>
              <a:gdLst/>
              <a:ahLst/>
              <a:cxnLst/>
              <a:rect l="l" t="t" r="r" b="b"/>
              <a:pathLst>
                <a:path w="75819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1275"/>
                  </a:lnTo>
                  <a:lnTo>
                    <a:pt x="63500" y="41275"/>
                  </a:lnTo>
                  <a:lnTo>
                    <a:pt x="63500" y="34925"/>
                  </a:lnTo>
                  <a:lnTo>
                    <a:pt x="76200" y="34925"/>
                  </a:lnTo>
                  <a:lnTo>
                    <a:pt x="76200" y="0"/>
                  </a:lnTo>
                  <a:close/>
                </a:path>
                <a:path w="758190" h="76200">
                  <a:moveTo>
                    <a:pt x="681862" y="0"/>
                  </a:moveTo>
                  <a:lnTo>
                    <a:pt x="681862" y="76200"/>
                  </a:lnTo>
                  <a:lnTo>
                    <a:pt x="751712" y="41275"/>
                  </a:lnTo>
                  <a:lnTo>
                    <a:pt x="694562" y="41275"/>
                  </a:lnTo>
                  <a:lnTo>
                    <a:pt x="694562" y="34925"/>
                  </a:lnTo>
                  <a:lnTo>
                    <a:pt x="751712" y="34925"/>
                  </a:lnTo>
                  <a:lnTo>
                    <a:pt x="681862" y="0"/>
                  </a:lnTo>
                  <a:close/>
                </a:path>
                <a:path w="758190" h="76200">
                  <a:moveTo>
                    <a:pt x="76200" y="34925"/>
                  </a:moveTo>
                  <a:lnTo>
                    <a:pt x="63500" y="34925"/>
                  </a:lnTo>
                  <a:lnTo>
                    <a:pt x="63500" y="41275"/>
                  </a:lnTo>
                  <a:lnTo>
                    <a:pt x="76200" y="41275"/>
                  </a:lnTo>
                  <a:lnTo>
                    <a:pt x="76200" y="34925"/>
                  </a:lnTo>
                  <a:close/>
                </a:path>
                <a:path w="758190" h="76200">
                  <a:moveTo>
                    <a:pt x="681862" y="34925"/>
                  </a:moveTo>
                  <a:lnTo>
                    <a:pt x="76200" y="34925"/>
                  </a:lnTo>
                  <a:lnTo>
                    <a:pt x="76200" y="41275"/>
                  </a:lnTo>
                  <a:lnTo>
                    <a:pt x="681862" y="41275"/>
                  </a:lnTo>
                  <a:lnTo>
                    <a:pt x="681862" y="34925"/>
                  </a:lnTo>
                  <a:close/>
                </a:path>
                <a:path w="758190" h="76200">
                  <a:moveTo>
                    <a:pt x="751712" y="34925"/>
                  </a:moveTo>
                  <a:lnTo>
                    <a:pt x="694562" y="34925"/>
                  </a:lnTo>
                  <a:lnTo>
                    <a:pt x="694562" y="41275"/>
                  </a:lnTo>
                  <a:lnTo>
                    <a:pt x="751712" y="41275"/>
                  </a:lnTo>
                  <a:lnTo>
                    <a:pt x="758062" y="38100"/>
                  </a:lnTo>
                  <a:lnTo>
                    <a:pt x="751712" y="34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823336" y="2968625"/>
              <a:ext cx="1823085" cy="467359"/>
            </a:xfrm>
            <a:custGeom>
              <a:avLst/>
              <a:gdLst/>
              <a:ahLst/>
              <a:cxnLst/>
              <a:rect l="l" t="t" r="r" b="b"/>
              <a:pathLst>
                <a:path w="1823085" h="467360">
                  <a:moveTo>
                    <a:pt x="0" y="77850"/>
                  </a:moveTo>
                  <a:lnTo>
                    <a:pt x="6127" y="47523"/>
                  </a:lnTo>
                  <a:lnTo>
                    <a:pt x="22828" y="22780"/>
                  </a:lnTo>
                  <a:lnTo>
                    <a:pt x="47577" y="6109"/>
                  </a:lnTo>
                  <a:lnTo>
                    <a:pt x="77850" y="0"/>
                  </a:lnTo>
                  <a:lnTo>
                    <a:pt x="1745234" y="0"/>
                  </a:lnTo>
                  <a:lnTo>
                    <a:pt x="1775507" y="6109"/>
                  </a:lnTo>
                  <a:lnTo>
                    <a:pt x="1800256" y="22780"/>
                  </a:lnTo>
                  <a:lnTo>
                    <a:pt x="1816957" y="47523"/>
                  </a:lnTo>
                  <a:lnTo>
                    <a:pt x="1823085" y="77850"/>
                  </a:lnTo>
                  <a:lnTo>
                    <a:pt x="1823085" y="389254"/>
                  </a:lnTo>
                  <a:lnTo>
                    <a:pt x="1816957" y="419582"/>
                  </a:lnTo>
                  <a:lnTo>
                    <a:pt x="1800256" y="444325"/>
                  </a:lnTo>
                  <a:lnTo>
                    <a:pt x="1775507" y="460996"/>
                  </a:lnTo>
                  <a:lnTo>
                    <a:pt x="1745234" y="467105"/>
                  </a:lnTo>
                  <a:lnTo>
                    <a:pt x="77850" y="467105"/>
                  </a:lnTo>
                  <a:lnTo>
                    <a:pt x="47577" y="460996"/>
                  </a:lnTo>
                  <a:lnTo>
                    <a:pt x="22828" y="444325"/>
                  </a:lnTo>
                  <a:lnTo>
                    <a:pt x="6127" y="419582"/>
                  </a:lnTo>
                  <a:lnTo>
                    <a:pt x="0" y="389254"/>
                  </a:lnTo>
                  <a:lnTo>
                    <a:pt x="0" y="7785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187700" y="3077337"/>
            <a:ext cx="10953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Microsoft JhengHei"/>
                <a:cs typeface="Microsoft JhengHei"/>
              </a:rPr>
              <a:t>使用單位介面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631567" y="2514854"/>
            <a:ext cx="6278880" cy="2835910"/>
          </a:xfrm>
          <a:custGeom>
            <a:avLst/>
            <a:gdLst/>
            <a:ahLst/>
            <a:cxnLst/>
            <a:rect l="l" t="t" r="r" b="b"/>
            <a:pathLst>
              <a:path w="6278880" h="2835910">
                <a:moveTo>
                  <a:pt x="0" y="83312"/>
                </a:moveTo>
                <a:lnTo>
                  <a:pt x="6552" y="50899"/>
                </a:lnTo>
                <a:lnTo>
                  <a:pt x="24415" y="24415"/>
                </a:lnTo>
                <a:lnTo>
                  <a:pt x="50899" y="6552"/>
                </a:lnTo>
                <a:lnTo>
                  <a:pt x="83312" y="0"/>
                </a:lnTo>
                <a:lnTo>
                  <a:pt x="6195313" y="0"/>
                </a:lnTo>
                <a:lnTo>
                  <a:pt x="6227726" y="6552"/>
                </a:lnTo>
                <a:lnTo>
                  <a:pt x="6254210" y="24415"/>
                </a:lnTo>
                <a:lnTo>
                  <a:pt x="6272073" y="50899"/>
                </a:lnTo>
                <a:lnTo>
                  <a:pt x="6278626" y="83312"/>
                </a:lnTo>
                <a:lnTo>
                  <a:pt x="6278626" y="2752090"/>
                </a:lnTo>
                <a:lnTo>
                  <a:pt x="6272073" y="2784502"/>
                </a:lnTo>
                <a:lnTo>
                  <a:pt x="6254210" y="2810986"/>
                </a:lnTo>
                <a:lnTo>
                  <a:pt x="6227726" y="2828849"/>
                </a:lnTo>
                <a:lnTo>
                  <a:pt x="6195313" y="2835402"/>
                </a:lnTo>
                <a:lnTo>
                  <a:pt x="83312" y="2835402"/>
                </a:lnTo>
                <a:lnTo>
                  <a:pt x="50899" y="2828849"/>
                </a:lnTo>
                <a:lnTo>
                  <a:pt x="24415" y="2810986"/>
                </a:lnTo>
                <a:lnTo>
                  <a:pt x="6552" y="2784502"/>
                </a:lnTo>
                <a:lnTo>
                  <a:pt x="0" y="2752090"/>
                </a:lnTo>
                <a:lnTo>
                  <a:pt x="0" y="83312"/>
                </a:lnTo>
                <a:close/>
              </a:path>
              <a:path w="6278880" h="2835910">
                <a:moveTo>
                  <a:pt x="4195063" y="519049"/>
                </a:moveTo>
                <a:lnTo>
                  <a:pt x="4201374" y="487808"/>
                </a:lnTo>
                <a:lnTo>
                  <a:pt x="4218590" y="462295"/>
                </a:lnTo>
                <a:lnTo>
                  <a:pt x="4244141" y="445093"/>
                </a:lnTo>
                <a:lnTo>
                  <a:pt x="4275455" y="438785"/>
                </a:lnTo>
                <a:lnTo>
                  <a:pt x="6003925" y="438785"/>
                </a:lnTo>
                <a:lnTo>
                  <a:pt x="6035184" y="445093"/>
                </a:lnTo>
                <a:lnTo>
                  <a:pt x="6060741" y="462295"/>
                </a:lnTo>
                <a:lnTo>
                  <a:pt x="6077987" y="487808"/>
                </a:lnTo>
                <a:lnTo>
                  <a:pt x="6084315" y="519049"/>
                </a:lnTo>
                <a:lnTo>
                  <a:pt x="6084315" y="840486"/>
                </a:lnTo>
                <a:lnTo>
                  <a:pt x="6077987" y="871799"/>
                </a:lnTo>
                <a:lnTo>
                  <a:pt x="6060741" y="897350"/>
                </a:lnTo>
                <a:lnTo>
                  <a:pt x="6035184" y="914566"/>
                </a:lnTo>
                <a:lnTo>
                  <a:pt x="6003925" y="920876"/>
                </a:lnTo>
                <a:lnTo>
                  <a:pt x="4275455" y="920876"/>
                </a:lnTo>
                <a:lnTo>
                  <a:pt x="4244141" y="914566"/>
                </a:lnTo>
                <a:lnTo>
                  <a:pt x="4218590" y="897350"/>
                </a:lnTo>
                <a:lnTo>
                  <a:pt x="4201374" y="871799"/>
                </a:lnTo>
                <a:lnTo>
                  <a:pt x="4195063" y="840486"/>
                </a:lnTo>
                <a:lnTo>
                  <a:pt x="4195063" y="51904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492365" y="2963418"/>
            <a:ext cx="560705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>
                <a:latin typeface="Microsoft JhengHei"/>
                <a:cs typeface="Microsoft JhengHei"/>
              </a:rPr>
              <a:t>白名單</a:t>
            </a:r>
            <a:endParaRPr sz="1400">
              <a:latin typeface="Microsoft JhengHei"/>
              <a:cs typeface="Microsoft JhengHei"/>
            </a:endParaRPr>
          </a:p>
          <a:p>
            <a:pPr marL="56515">
              <a:lnSpc>
                <a:spcPct val="100000"/>
              </a:lnSpc>
            </a:pPr>
            <a:r>
              <a:rPr dirty="0" sz="1400" spc="-10">
                <a:latin typeface="Microsoft JhengHei"/>
                <a:cs typeface="Microsoft JhengHei"/>
              </a:rPr>
              <a:t>(KYC)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59151" y="2588513"/>
            <a:ext cx="18465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5" b="1">
                <a:latin typeface="Microsoft JhengHei"/>
                <a:cs typeface="Microsoft JhengHei"/>
              </a:rPr>
              <a:t>RWA</a:t>
            </a:r>
            <a:r>
              <a:rPr dirty="0" sz="1600" spc="-25" b="1">
                <a:latin typeface="Microsoft JhengHei"/>
                <a:cs typeface="Microsoft JhengHei"/>
              </a:rPr>
              <a:t>應用系統(</a:t>
            </a:r>
            <a:r>
              <a:rPr dirty="0" sz="1600" spc="-20" b="1">
                <a:latin typeface="Microsoft JhengHei"/>
                <a:cs typeface="Microsoft JhengHei"/>
              </a:rPr>
              <a:t>B2B)</a:t>
            </a:r>
            <a:endParaRPr sz="1600">
              <a:latin typeface="Microsoft JhengHei"/>
              <a:cs typeface="Microsoft JhengHe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816986" y="1507756"/>
            <a:ext cx="4591685" cy="3726179"/>
            <a:chOff x="2816986" y="1507756"/>
            <a:chExt cx="4591685" cy="3726179"/>
          </a:xfrm>
        </p:grpSpPr>
        <p:sp>
          <p:nvSpPr>
            <p:cNvPr id="18" name="object 18"/>
            <p:cNvSpPr/>
            <p:nvPr/>
          </p:nvSpPr>
          <p:spPr>
            <a:xfrm>
              <a:off x="2824225" y="3571747"/>
              <a:ext cx="4578350" cy="485775"/>
            </a:xfrm>
            <a:custGeom>
              <a:avLst/>
              <a:gdLst/>
              <a:ahLst/>
              <a:cxnLst/>
              <a:rect l="l" t="t" r="r" b="b"/>
              <a:pathLst>
                <a:path w="4578350" h="485775">
                  <a:moveTo>
                    <a:pt x="3550158" y="83819"/>
                  </a:moveTo>
                  <a:lnTo>
                    <a:pt x="3556486" y="52506"/>
                  </a:lnTo>
                  <a:lnTo>
                    <a:pt x="3573732" y="26955"/>
                  </a:lnTo>
                  <a:lnTo>
                    <a:pt x="3599289" y="9739"/>
                  </a:lnTo>
                  <a:lnTo>
                    <a:pt x="3630549" y="3428"/>
                  </a:lnTo>
                  <a:lnTo>
                    <a:pt x="4497578" y="3428"/>
                  </a:lnTo>
                  <a:lnTo>
                    <a:pt x="4528891" y="9739"/>
                  </a:lnTo>
                  <a:lnTo>
                    <a:pt x="4554442" y="26955"/>
                  </a:lnTo>
                  <a:lnTo>
                    <a:pt x="4571658" y="52506"/>
                  </a:lnTo>
                  <a:lnTo>
                    <a:pt x="4577969" y="83819"/>
                  </a:lnTo>
                  <a:lnTo>
                    <a:pt x="4577969" y="405256"/>
                  </a:lnTo>
                  <a:lnTo>
                    <a:pt x="4571658" y="436497"/>
                  </a:lnTo>
                  <a:lnTo>
                    <a:pt x="4554442" y="462010"/>
                  </a:lnTo>
                  <a:lnTo>
                    <a:pt x="4528891" y="479212"/>
                  </a:lnTo>
                  <a:lnTo>
                    <a:pt x="4497578" y="485520"/>
                  </a:lnTo>
                  <a:lnTo>
                    <a:pt x="3630549" y="485520"/>
                  </a:lnTo>
                  <a:lnTo>
                    <a:pt x="3599289" y="479212"/>
                  </a:lnTo>
                  <a:lnTo>
                    <a:pt x="3573732" y="462010"/>
                  </a:lnTo>
                  <a:lnTo>
                    <a:pt x="3556486" y="436497"/>
                  </a:lnTo>
                  <a:lnTo>
                    <a:pt x="3550158" y="405256"/>
                  </a:lnTo>
                  <a:lnTo>
                    <a:pt x="3550158" y="83819"/>
                  </a:lnTo>
                  <a:close/>
                </a:path>
                <a:path w="4578350" h="485775">
                  <a:moveTo>
                    <a:pt x="0" y="80390"/>
                  </a:moveTo>
                  <a:lnTo>
                    <a:pt x="6310" y="49077"/>
                  </a:lnTo>
                  <a:lnTo>
                    <a:pt x="23526" y="23526"/>
                  </a:lnTo>
                  <a:lnTo>
                    <a:pt x="49077" y="6310"/>
                  </a:lnTo>
                  <a:lnTo>
                    <a:pt x="80391" y="0"/>
                  </a:lnTo>
                  <a:lnTo>
                    <a:pt x="947420" y="0"/>
                  </a:lnTo>
                  <a:lnTo>
                    <a:pt x="978733" y="6310"/>
                  </a:lnTo>
                  <a:lnTo>
                    <a:pt x="1004284" y="23526"/>
                  </a:lnTo>
                  <a:lnTo>
                    <a:pt x="1021500" y="49077"/>
                  </a:lnTo>
                  <a:lnTo>
                    <a:pt x="1027811" y="80390"/>
                  </a:lnTo>
                  <a:lnTo>
                    <a:pt x="1027811" y="401827"/>
                  </a:lnTo>
                  <a:lnTo>
                    <a:pt x="1021500" y="433087"/>
                  </a:lnTo>
                  <a:lnTo>
                    <a:pt x="1004284" y="458644"/>
                  </a:lnTo>
                  <a:lnTo>
                    <a:pt x="978733" y="475890"/>
                  </a:lnTo>
                  <a:lnTo>
                    <a:pt x="947420" y="482219"/>
                  </a:lnTo>
                  <a:lnTo>
                    <a:pt x="80391" y="482219"/>
                  </a:lnTo>
                  <a:lnTo>
                    <a:pt x="49077" y="475890"/>
                  </a:lnTo>
                  <a:lnTo>
                    <a:pt x="23526" y="458644"/>
                  </a:lnTo>
                  <a:lnTo>
                    <a:pt x="6310" y="433087"/>
                  </a:lnTo>
                  <a:lnTo>
                    <a:pt x="0" y="401827"/>
                  </a:lnTo>
                  <a:lnTo>
                    <a:pt x="0" y="8039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663374" y="2009775"/>
              <a:ext cx="76835" cy="487045"/>
            </a:xfrm>
            <a:custGeom>
              <a:avLst/>
              <a:gdLst/>
              <a:ahLst/>
              <a:cxnLst/>
              <a:rect l="l" t="t" r="r" b="b"/>
              <a:pathLst>
                <a:path w="76835" h="487044">
                  <a:moveTo>
                    <a:pt x="34866" y="410463"/>
                  </a:moveTo>
                  <a:lnTo>
                    <a:pt x="0" y="410463"/>
                  </a:lnTo>
                  <a:lnTo>
                    <a:pt x="38036" y="486663"/>
                  </a:lnTo>
                  <a:lnTo>
                    <a:pt x="69786" y="423163"/>
                  </a:lnTo>
                  <a:lnTo>
                    <a:pt x="34861" y="423163"/>
                  </a:lnTo>
                  <a:lnTo>
                    <a:pt x="34866" y="410463"/>
                  </a:lnTo>
                  <a:close/>
                </a:path>
                <a:path w="76835" h="487044">
                  <a:moveTo>
                    <a:pt x="41338" y="63500"/>
                  </a:moveTo>
                  <a:lnTo>
                    <a:pt x="34988" y="63500"/>
                  </a:lnTo>
                  <a:lnTo>
                    <a:pt x="34861" y="423163"/>
                  </a:lnTo>
                  <a:lnTo>
                    <a:pt x="41211" y="423163"/>
                  </a:lnTo>
                  <a:lnTo>
                    <a:pt x="41338" y="63500"/>
                  </a:lnTo>
                  <a:close/>
                </a:path>
                <a:path w="76835" h="487044">
                  <a:moveTo>
                    <a:pt x="76136" y="410463"/>
                  </a:moveTo>
                  <a:lnTo>
                    <a:pt x="41216" y="410463"/>
                  </a:lnTo>
                  <a:lnTo>
                    <a:pt x="41211" y="423163"/>
                  </a:lnTo>
                  <a:lnTo>
                    <a:pt x="69786" y="423163"/>
                  </a:lnTo>
                  <a:lnTo>
                    <a:pt x="76136" y="410463"/>
                  </a:lnTo>
                  <a:close/>
                </a:path>
                <a:path w="76835" h="487044">
                  <a:moveTo>
                    <a:pt x="38163" y="0"/>
                  </a:moveTo>
                  <a:lnTo>
                    <a:pt x="63" y="76200"/>
                  </a:lnTo>
                  <a:lnTo>
                    <a:pt x="34984" y="76200"/>
                  </a:lnTo>
                  <a:lnTo>
                    <a:pt x="34988" y="63500"/>
                  </a:lnTo>
                  <a:lnTo>
                    <a:pt x="69913" y="63500"/>
                  </a:lnTo>
                  <a:lnTo>
                    <a:pt x="38163" y="0"/>
                  </a:lnTo>
                  <a:close/>
                </a:path>
                <a:path w="76835" h="487044">
                  <a:moveTo>
                    <a:pt x="69913" y="63500"/>
                  </a:moveTo>
                  <a:lnTo>
                    <a:pt x="41338" y="63500"/>
                  </a:lnTo>
                  <a:lnTo>
                    <a:pt x="41334" y="76200"/>
                  </a:lnTo>
                  <a:lnTo>
                    <a:pt x="76263" y="76200"/>
                  </a:lnTo>
                  <a:lnTo>
                    <a:pt x="69913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一張含有 行 的圖片  AI 產生的內容可能不正確。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50585" y="1507756"/>
              <a:ext cx="502018" cy="50201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823336" y="4745228"/>
              <a:ext cx="2878455" cy="482600"/>
            </a:xfrm>
            <a:custGeom>
              <a:avLst/>
              <a:gdLst/>
              <a:ahLst/>
              <a:cxnLst/>
              <a:rect l="l" t="t" r="r" b="b"/>
              <a:pathLst>
                <a:path w="2878454" h="482600">
                  <a:moveTo>
                    <a:pt x="0" y="80391"/>
                  </a:moveTo>
                  <a:lnTo>
                    <a:pt x="6310" y="49077"/>
                  </a:lnTo>
                  <a:lnTo>
                    <a:pt x="23526" y="23526"/>
                  </a:lnTo>
                  <a:lnTo>
                    <a:pt x="49077" y="6310"/>
                  </a:lnTo>
                  <a:lnTo>
                    <a:pt x="80390" y="0"/>
                  </a:lnTo>
                  <a:lnTo>
                    <a:pt x="2797683" y="0"/>
                  </a:lnTo>
                  <a:lnTo>
                    <a:pt x="2828996" y="6310"/>
                  </a:lnTo>
                  <a:lnTo>
                    <a:pt x="2854547" y="23526"/>
                  </a:lnTo>
                  <a:lnTo>
                    <a:pt x="2871763" y="49077"/>
                  </a:lnTo>
                  <a:lnTo>
                    <a:pt x="2878074" y="80391"/>
                  </a:lnTo>
                  <a:lnTo>
                    <a:pt x="2878074" y="401701"/>
                  </a:lnTo>
                  <a:lnTo>
                    <a:pt x="2871763" y="433014"/>
                  </a:lnTo>
                  <a:lnTo>
                    <a:pt x="2854547" y="458565"/>
                  </a:lnTo>
                  <a:lnTo>
                    <a:pt x="2828996" y="475781"/>
                  </a:lnTo>
                  <a:lnTo>
                    <a:pt x="2797683" y="482092"/>
                  </a:lnTo>
                  <a:lnTo>
                    <a:pt x="80390" y="482092"/>
                  </a:lnTo>
                  <a:lnTo>
                    <a:pt x="49077" y="475781"/>
                  </a:lnTo>
                  <a:lnTo>
                    <a:pt x="23526" y="458565"/>
                  </a:lnTo>
                  <a:lnTo>
                    <a:pt x="6310" y="433014"/>
                  </a:lnTo>
                  <a:lnTo>
                    <a:pt x="0" y="401701"/>
                  </a:lnTo>
                  <a:lnTo>
                    <a:pt x="0" y="8039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712467" y="3075508"/>
            <a:ext cx="56070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Microsoft JhengHei"/>
                <a:cs typeface="Microsoft JhengHei"/>
              </a:rPr>
              <a:t>存取層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12467" y="3977766"/>
            <a:ext cx="5607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Microsoft JhengHei"/>
                <a:cs typeface="Microsoft JhengHei"/>
              </a:rPr>
              <a:t>服務層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12467" y="4864734"/>
            <a:ext cx="5607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Microsoft JhengHei"/>
                <a:cs typeface="Microsoft JhengHei"/>
              </a:rPr>
              <a:t>資產層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93946" y="4861940"/>
            <a:ext cx="7391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5">
                <a:latin typeface="Microsoft JhengHei"/>
                <a:cs typeface="Microsoft JhengHei"/>
              </a:rPr>
              <a:t>債券代幣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827014" y="4745228"/>
            <a:ext cx="2878455" cy="482600"/>
          </a:xfrm>
          <a:custGeom>
            <a:avLst/>
            <a:gdLst/>
            <a:ahLst/>
            <a:cxnLst/>
            <a:rect l="l" t="t" r="r" b="b"/>
            <a:pathLst>
              <a:path w="2878454" h="482600">
                <a:moveTo>
                  <a:pt x="0" y="80391"/>
                </a:moveTo>
                <a:lnTo>
                  <a:pt x="6328" y="49077"/>
                </a:lnTo>
                <a:lnTo>
                  <a:pt x="23574" y="23526"/>
                </a:lnTo>
                <a:lnTo>
                  <a:pt x="49131" y="6310"/>
                </a:lnTo>
                <a:lnTo>
                  <a:pt x="80390" y="0"/>
                </a:lnTo>
                <a:lnTo>
                  <a:pt x="2797683" y="0"/>
                </a:lnTo>
                <a:lnTo>
                  <a:pt x="2828996" y="6310"/>
                </a:lnTo>
                <a:lnTo>
                  <a:pt x="2854547" y="23526"/>
                </a:lnTo>
                <a:lnTo>
                  <a:pt x="2871763" y="49077"/>
                </a:lnTo>
                <a:lnTo>
                  <a:pt x="2878074" y="80391"/>
                </a:lnTo>
                <a:lnTo>
                  <a:pt x="2878074" y="401701"/>
                </a:lnTo>
                <a:lnTo>
                  <a:pt x="2871763" y="433014"/>
                </a:lnTo>
                <a:lnTo>
                  <a:pt x="2854547" y="458565"/>
                </a:lnTo>
                <a:lnTo>
                  <a:pt x="2828996" y="475781"/>
                </a:lnTo>
                <a:lnTo>
                  <a:pt x="2797683" y="482092"/>
                </a:lnTo>
                <a:lnTo>
                  <a:pt x="80390" y="482092"/>
                </a:lnTo>
                <a:lnTo>
                  <a:pt x="49131" y="475781"/>
                </a:lnTo>
                <a:lnTo>
                  <a:pt x="23574" y="458565"/>
                </a:lnTo>
                <a:lnTo>
                  <a:pt x="6328" y="433014"/>
                </a:lnTo>
                <a:lnTo>
                  <a:pt x="0" y="401701"/>
                </a:lnTo>
                <a:lnTo>
                  <a:pt x="0" y="8039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6898005" y="4861940"/>
            <a:ext cx="7391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5">
                <a:latin typeface="Microsoft JhengHei"/>
                <a:cs typeface="Microsoft JhengHei"/>
              </a:rPr>
              <a:t>黃金代幣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12467" y="5919927"/>
            <a:ext cx="38227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30">
                <a:latin typeface="Microsoft JhengHei"/>
                <a:cs typeface="Microsoft JhengHei"/>
              </a:rPr>
              <a:t>底層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06515" y="1680210"/>
            <a:ext cx="909319" cy="701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105"/>
              </a:spcBef>
            </a:pPr>
            <a:r>
              <a:rPr dirty="0" sz="1400" spc="-15">
                <a:latin typeface="Microsoft JhengHei"/>
                <a:cs typeface="Microsoft JhengHei"/>
              </a:rPr>
              <a:t>使用單位</a:t>
            </a:r>
            <a:endParaRPr sz="14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195"/>
              </a:spcBef>
            </a:pPr>
            <a:r>
              <a:rPr dirty="0" sz="1200" spc="-10">
                <a:latin typeface="Microsoft JhengHei"/>
                <a:cs typeface="Microsoft JhengHei"/>
              </a:rPr>
              <a:t>API/Web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952747" y="3571747"/>
            <a:ext cx="4773295" cy="1051560"/>
          </a:xfrm>
          <a:custGeom>
            <a:avLst/>
            <a:gdLst/>
            <a:ahLst/>
            <a:cxnLst/>
            <a:rect l="l" t="t" r="r" b="b"/>
            <a:pathLst>
              <a:path w="4773295" h="1051560">
                <a:moveTo>
                  <a:pt x="0" y="80390"/>
                </a:moveTo>
                <a:lnTo>
                  <a:pt x="6328" y="49077"/>
                </a:lnTo>
                <a:lnTo>
                  <a:pt x="23574" y="23526"/>
                </a:lnTo>
                <a:lnTo>
                  <a:pt x="49131" y="6310"/>
                </a:lnTo>
                <a:lnTo>
                  <a:pt x="80390" y="0"/>
                </a:lnTo>
                <a:lnTo>
                  <a:pt x="1142364" y="0"/>
                </a:lnTo>
                <a:lnTo>
                  <a:pt x="1173605" y="6310"/>
                </a:lnTo>
                <a:lnTo>
                  <a:pt x="1199118" y="23526"/>
                </a:lnTo>
                <a:lnTo>
                  <a:pt x="1216320" y="49077"/>
                </a:lnTo>
                <a:lnTo>
                  <a:pt x="1222628" y="80390"/>
                </a:lnTo>
                <a:lnTo>
                  <a:pt x="1222628" y="401827"/>
                </a:lnTo>
                <a:lnTo>
                  <a:pt x="1216320" y="433087"/>
                </a:lnTo>
                <a:lnTo>
                  <a:pt x="1199118" y="458644"/>
                </a:lnTo>
                <a:lnTo>
                  <a:pt x="1173605" y="475890"/>
                </a:lnTo>
                <a:lnTo>
                  <a:pt x="1142364" y="482219"/>
                </a:lnTo>
                <a:lnTo>
                  <a:pt x="80390" y="482219"/>
                </a:lnTo>
                <a:lnTo>
                  <a:pt x="49131" y="475890"/>
                </a:lnTo>
                <a:lnTo>
                  <a:pt x="23574" y="458644"/>
                </a:lnTo>
                <a:lnTo>
                  <a:pt x="6328" y="433087"/>
                </a:lnTo>
                <a:lnTo>
                  <a:pt x="0" y="401827"/>
                </a:lnTo>
                <a:lnTo>
                  <a:pt x="0" y="80390"/>
                </a:lnTo>
                <a:close/>
              </a:path>
              <a:path w="4773295" h="1051560">
                <a:moveTo>
                  <a:pt x="1323466" y="80390"/>
                </a:moveTo>
                <a:lnTo>
                  <a:pt x="1329775" y="49077"/>
                </a:lnTo>
                <a:lnTo>
                  <a:pt x="1346977" y="23526"/>
                </a:lnTo>
                <a:lnTo>
                  <a:pt x="1372490" y="6310"/>
                </a:lnTo>
                <a:lnTo>
                  <a:pt x="1403730" y="0"/>
                </a:lnTo>
                <a:lnTo>
                  <a:pt x="2270887" y="0"/>
                </a:lnTo>
                <a:lnTo>
                  <a:pt x="2302127" y="6310"/>
                </a:lnTo>
                <a:lnTo>
                  <a:pt x="2327640" y="23526"/>
                </a:lnTo>
                <a:lnTo>
                  <a:pt x="2344842" y="49077"/>
                </a:lnTo>
                <a:lnTo>
                  <a:pt x="2351151" y="80390"/>
                </a:lnTo>
                <a:lnTo>
                  <a:pt x="2351151" y="401827"/>
                </a:lnTo>
                <a:lnTo>
                  <a:pt x="2344842" y="433087"/>
                </a:lnTo>
                <a:lnTo>
                  <a:pt x="2327640" y="458644"/>
                </a:lnTo>
                <a:lnTo>
                  <a:pt x="2302127" y="475890"/>
                </a:lnTo>
                <a:lnTo>
                  <a:pt x="2270887" y="482219"/>
                </a:lnTo>
                <a:lnTo>
                  <a:pt x="1403730" y="482219"/>
                </a:lnTo>
                <a:lnTo>
                  <a:pt x="1372490" y="475890"/>
                </a:lnTo>
                <a:lnTo>
                  <a:pt x="1346977" y="458644"/>
                </a:lnTo>
                <a:lnTo>
                  <a:pt x="1329775" y="433087"/>
                </a:lnTo>
                <a:lnTo>
                  <a:pt x="1323466" y="401827"/>
                </a:lnTo>
                <a:lnTo>
                  <a:pt x="1323466" y="80390"/>
                </a:lnTo>
                <a:close/>
              </a:path>
              <a:path w="4773295" h="1051560">
                <a:moveTo>
                  <a:pt x="3550157" y="80390"/>
                </a:moveTo>
                <a:lnTo>
                  <a:pt x="3556486" y="49077"/>
                </a:lnTo>
                <a:lnTo>
                  <a:pt x="3573732" y="23526"/>
                </a:lnTo>
                <a:lnTo>
                  <a:pt x="3599289" y="6310"/>
                </a:lnTo>
                <a:lnTo>
                  <a:pt x="3630549" y="0"/>
                </a:lnTo>
                <a:lnTo>
                  <a:pt x="4692523" y="0"/>
                </a:lnTo>
                <a:lnTo>
                  <a:pt x="4723763" y="6310"/>
                </a:lnTo>
                <a:lnTo>
                  <a:pt x="4749276" y="23526"/>
                </a:lnTo>
                <a:lnTo>
                  <a:pt x="4766478" y="49077"/>
                </a:lnTo>
                <a:lnTo>
                  <a:pt x="4772786" y="80390"/>
                </a:lnTo>
                <a:lnTo>
                  <a:pt x="4772786" y="401827"/>
                </a:lnTo>
                <a:lnTo>
                  <a:pt x="4766478" y="433087"/>
                </a:lnTo>
                <a:lnTo>
                  <a:pt x="4749276" y="458644"/>
                </a:lnTo>
                <a:lnTo>
                  <a:pt x="4723763" y="475890"/>
                </a:lnTo>
                <a:lnTo>
                  <a:pt x="4692523" y="482219"/>
                </a:lnTo>
                <a:lnTo>
                  <a:pt x="3630549" y="482219"/>
                </a:lnTo>
                <a:lnTo>
                  <a:pt x="3599289" y="475890"/>
                </a:lnTo>
                <a:lnTo>
                  <a:pt x="3573732" y="458644"/>
                </a:lnTo>
                <a:lnTo>
                  <a:pt x="3556486" y="433087"/>
                </a:lnTo>
                <a:lnTo>
                  <a:pt x="3550157" y="401827"/>
                </a:lnTo>
                <a:lnTo>
                  <a:pt x="3550157" y="80390"/>
                </a:lnTo>
                <a:close/>
              </a:path>
              <a:path w="4773295" h="1051560">
                <a:moveTo>
                  <a:pt x="1317371" y="649604"/>
                </a:moveTo>
                <a:lnTo>
                  <a:pt x="1323679" y="618291"/>
                </a:lnTo>
                <a:lnTo>
                  <a:pt x="1340881" y="592740"/>
                </a:lnTo>
                <a:lnTo>
                  <a:pt x="1366394" y="575524"/>
                </a:lnTo>
                <a:lnTo>
                  <a:pt x="1397635" y="569213"/>
                </a:lnTo>
                <a:lnTo>
                  <a:pt x="2264791" y="569213"/>
                </a:lnTo>
                <a:lnTo>
                  <a:pt x="2296031" y="575524"/>
                </a:lnTo>
                <a:lnTo>
                  <a:pt x="2321544" y="592740"/>
                </a:lnTo>
                <a:lnTo>
                  <a:pt x="2338746" y="618291"/>
                </a:lnTo>
                <a:lnTo>
                  <a:pt x="2345054" y="649604"/>
                </a:lnTo>
                <a:lnTo>
                  <a:pt x="2345054" y="971041"/>
                </a:lnTo>
                <a:lnTo>
                  <a:pt x="2338746" y="1002282"/>
                </a:lnTo>
                <a:lnTo>
                  <a:pt x="2321544" y="1027795"/>
                </a:lnTo>
                <a:lnTo>
                  <a:pt x="2296031" y="1044997"/>
                </a:lnTo>
                <a:lnTo>
                  <a:pt x="2264791" y="1051306"/>
                </a:lnTo>
                <a:lnTo>
                  <a:pt x="1397635" y="1051306"/>
                </a:lnTo>
                <a:lnTo>
                  <a:pt x="1366394" y="1044997"/>
                </a:lnTo>
                <a:lnTo>
                  <a:pt x="1340881" y="1027795"/>
                </a:lnTo>
                <a:lnTo>
                  <a:pt x="1323679" y="1002282"/>
                </a:lnTo>
                <a:lnTo>
                  <a:pt x="1317371" y="971041"/>
                </a:lnTo>
                <a:lnTo>
                  <a:pt x="1317371" y="64960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414517" y="3581527"/>
            <a:ext cx="744855" cy="1022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415" marR="5080" indent="1778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Microsoft JhengHei"/>
                <a:cs typeface="Microsoft JhengHei"/>
              </a:rPr>
              <a:t>黃金</a:t>
            </a:r>
            <a:r>
              <a:rPr dirty="0" sz="1400" spc="-50">
                <a:latin typeface="Microsoft JhengHei"/>
                <a:cs typeface="Microsoft JhengHei"/>
              </a:rPr>
              <a:t> </a:t>
            </a:r>
            <a:r>
              <a:rPr dirty="0" sz="1400" spc="-15">
                <a:latin typeface="Microsoft JhengHei"/>
                <a:cs typeface="Microsoft JhengHei"/>
              </a:rPr>
              <a:t>虛實移轉</a:t>
            </a:r>
            <a:endParaRPr sz="1400">
              <a:latin typeface="Microsoft JhengHei"/>
              <a:cs typeface="Microsoft JhengHei"/>
            </a:endParaRPr>
          </a:p>
          <a:p>
            <a:pPr marL="12700" marR="10795" indent="177800">
              <a:lnSpc>
                <a:spcPct val="100000"/>
              </a:lnSpc>
              <a:spcBef>
                <a:spcPts val="1120"/>
              </a:spcBef>
            </a:pPr>
            <a:r>
              <a:rPr dirty="0" sz="1400" spc="-25">
                <a:latin typeface="Microsoft JhengHei"/>
                <a:cs typeface="Microsoft JhengHei"/>
              </a:rPr>
              <a:t>債券</a:t>
            </a:r>
            <a:r>
              <a:rPr dirty="0" sz="1400" spc="-50">
                <a:latin typeface="Microsoft JhengHei"/>
                <a:cs typeface="Microsoft JhengHei"/>
              </a:rPr>
              <a:t> </a:t>
            </a:r>
            <a:r>
              <a:rPr dirty="0" sz="1400" spc="-15">
                <a:latin typeface="Microsoft JhengHei"/>
                <a:cs typeface="Microsoft JhengHei"/>
              </a:rPr>
              <a:t>虛實移轉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374638" y="4140961"/>
            <a:ext cx="1028065" cy="482600"/>
          </a:xfrm>
          <a:custGeom>
            <a:avLst/>
            <a:gdLst/>
            <a:ahLst/>
            <a:cxnLst/>
            <a:rect l="l" t="t" r="r" b="b"/>
            <a:pathLst>
              <a:path w="1028065" h="482600">
                <a:moveTo>
                  <a:pt x="0" y="80390"/>
                </a:moveTo>
                <a:lnTo>
                  <a:pt x="6310" y="49077"/>
                </a:lnTo>
                <a:lnTo>
                  <a:pt x="23526" y="23526"/>
                </a:lnTo>
                <a:lnTo>
                  <a:pt x="49077" y="6310"/>
                </a:lnTo>
                <a:lnTo>
                  <a:pt x="80390" y="0"/>
                </a:lnTo>
                <a:lnTo>
                  <a:pt x="947419" y="0"/>
                </a:lnTo>
                <a:lnTo>
                  <a:pt x="978679" y="6310"/>
                </a:lnTo>
                <a:lnTo>
                  <a:pt x="1004236" y="23526"/>
                </a:lnTo>
                <a:lnTo>
                  <a:pt x="1021482" y="49077"/>
                </a:lnTo>
                <a:lnTo>
                  <a:pt x="1027811" y="80390"/>
                </a:lnTo>
                <a:lnTo>
                  <a:pt x="1027811" y="401827"/>
                </a:lnTo>
                <a:lnTo>
                  <a:pt x="1021482" y="433068"/>
                </a:lnTo>
                <a:lnTo>
                  <a:pt x="1004236" y="458581"/>
                </a:lnTo>
                <a:lnTo>
                  <a:pt x="978679" y="475783"/>
                </a:lnTo>
                <a:lnTo>
                  <a:pt x="947419" y="482092"/>
                </a:lnTo>
                <a:lnTo>
                  <a:pt x="80390" y="482092"/>
                </a:lnTo>
                <a:lnTo>
                  <a:pt x="49077" y="475783"/>
                </a:lnTo>
                <a:lnTo>
                  <a:pt x="23526" y="458581"/>
                </a:lnTo>
                <a:lnTo>
                  <a:pt x="6310" y="433068"/>
                </a:lnTo>
                <a:lnTo>
                  <a:pt x="0" y="401827"/>
                </a:lnTo>
                <a:lnTo>
                  <a:pt x="0" y="8039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519164" y="3584828"/>
            <a:ext cx="739140" cy="10191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Microsoft JhengHei"/>
                <a:cs typeface="Microsoft JhengHei"/>
              </a:rPr>
              <a:t>債券</a:t>
            </a:r>
            <a:endParaRPr sz="1400">
              <a:latin typeface="Microsoft JhengHei"/>
              <a:cs typeface="Microsoft JhengHei"/>
            </a:endParaRPr>
          </a:p>
          <a:p>
            <a:pPr algn="ctr">
              <a:lnSpc>
                <a:spcPct val="100000"/>
              </a:lnSpc>
            </a:pPr>
            <a:r>
              <a:rPr dirty="0" sz="1400" spc="-20">
                <a:latin typeface="Microsoft JhengHei"/>
                <a:cs typeface="Microsoft JhengHei"/>
              </a:rPr>
              <a:t>原生發行</a:t>
            </a:r>
            <a:endParaRPr sz="1400">
              <a:latin typeface="Microsoft JhengHei"/>
              <a:cs typeface="Microsoft JhengHei"/>
            </a:endParaRPr>
          </a:p>
          <a:p>
            <a:pPr marL="12700" marR="5080" indent="177800">
              <a:lnSpc>
                <a:spcPct val="100000"/>
              </a:lnSpc>
              <a:spcBef>
                <a:spcPts val="1095"/>
              </a:spcBef>
            </a:pPr>
            <a:r>
              <a:rPr dirty="0" sz="1400" spc="-25">
                <a:latin typeface="Microsoft JhengHei"/>
                <a:cs typeface="Microsoft JhengHei"/>
              </a:rPr>
              <a:t>債券</a:t>
            </a:r>
            <a:r>
              <a:rPr dirty="0" sz="1400" spc="-50">
                <a:latin typeface="Microsoft JhengHei"/>
                <a:cs typeface="Microsoft JhengHei"/>
              </a:rPr>
              <a:t> </a:t>
            </a:r>
            <a:r>
              <a:rPr dirty="0" sz="1400" spc="-15">
                <a:latin typeface="Microsoft JhengHei"/>
                <a:cs typeface="Microsoft JhengHei"/>
              </a:rPr>
              <a:t>還本付息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823336" y="4141723"/>
            <a:ext cx="1049020" cy="482600"/>
          </a:xfrm>
          <a:custGeom>
            <a:avLst/>
            <a:gdLst/>
            <a:ahLst/>
            <a:cxnLst/>
            <a:rect l="l" t="t" r="r" b="b"/>
            <a:pathLst>
              <a:path w="1049020" h="482600">
                <a:moveTo>
                  <a:pt x="0" y="80390"/>
                </a:moveTo>
                <a:lnTo>
                  <a:pt x="6310" y="49077"/>
                </a:lnTo>
                <a:lnTo>
                  <a:pt x="23526" y="23526"/>
                </a:lnTo>
                <a:lnTo>
                  <a:pt x="49077" y="6310"/>
                </a:lnTo>
                <a:lnTo>
                  <a:pt x="80390" y="0"/>
                </a:lnTo>
                <a:lnTo>
                  <a:pt x="968248" y="0"/>
                </a:lnTo>
                <a:lnTo>
                  <a:pt x="999561" y="6310"/>
                </a:lnTo>
                <a:lnTo>
                  <a:pt x="1025112" y="23526"/>
                </a:lnTo>
                <a:lnTo>
                  <a:pt x="1042328" y="49077"/>
                </a:lnTo>
                <a:lnTo>
                  <a:pt x="1048639" y="80390"/>
                </a:lnTo>
                <a:lnTo>
                  <a:pt x="1048639" y="401827"/>
                </a:lnTo>
                <a:lnTo>
                  <a:pt x="1042328" y="433068"/>
                </a:lnTo>
                <a:lnTo>
                  <a:pt x="1025112" y="458581"/>
                </a:lnTo>
                <a:lnTo>
                  <a:pt x="999561" y="475783"/>
                </a:lnTo>
                <a:lnTo>
                  <a:pt x="968248" y="482092"/>
                </a:lnTo>
                <a:lnTo>
                  <a:pt x="80390" y="482092"/>
                </a:lnTo>
                <a:lnTo>
                  <a:pt x="49077" y="475783"/>
                </a:lnTo>
                <a:lnTo>
                  <a:pt x="23526" y="458581"/>
                </a:lnTo>
                <a:lnTo>
                  <a:pt x="6310" y="433068"/>
                </a:lnTo>
                <a:lnTo>
                  <a:pt x="0" y="401827"/>
                </a:lnTo>
                <a:lnTo>
                  <a:pt x="0" y="8039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2968498" y="3581527"/>
            <a:ext cx="748665" cy="10229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14604" indent="1778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Microsoft JhengHei"/>
                <a:cs typeface="Microsoft JhengHei"/>
              </a:rPr>
              <a:t>黃金</a:t>
            </a:r>
            <a:r>
              <a:rPr dirty="0" sz="1400" spc="-50">
                <a:latin typeface="Microsoft JhengHei"/>
                <a:cs typeface="Microsoft JhengHei"/>
              </a:rPr>
              <a:t> </a:t>
            </a:r>
            <a:r>
              <a:rPr dirty="0" sz="1400" spc="-15">
                <a:latin typeface="Microsoft JhengHei"/>
                <a:cs typeface="Microsoft JhengHei"/>
              </a:rPr>
              <a:t>定期定額</a:t>
            </a:r>
            <a:endParaRPr sz="1400">
              <a:latin typeface="Microsoft JhengHei"/>
              <a:cs typeface="Microsoft JhengHei"/>
            </a:endParaRPr>
          </a:p>
          <a:p>
            <a:pPr marL="22225" marR="5080" indent="177800">
              <a:lnSpc>
                <a:spcPct val="100000"/>
              </a:lnSpc>
              <a:spcBef>
                <a:spcPts val="1125"/>
              </a:spcBef>
            </a:pPr>
            <a:r>
              <a:rPr dirty="0" sz="1400" spc="-25">
                <a:latin typeface="Microsoft JhengHei"/>
                <a:cs typeface="Microsoft JhengHei"/>
              </a:rPr>
              <a:t>債券</a:t>
            </a:r>
            <a:r>
              <a:rPr dirty="0" sz="1400" spc="-50">
                <a:latin typeface="Microsoft JhengHei"/>
                <a:cs typeface="Microsoft JhengHei"/>
              </a:rPr>
              <a:t> </a:t>
            </a:r>
            <a:r>
              <a:rPr dirty="0" sz="1400" spc="-15">
                <a:latin typeface="Microsoft JhengHei"/>
                <a:cs typeface="Microsoft JhengHei"/>
              </a:rPr>
              <a:t>等殖交割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958082" y="4140961"/>
            <a:ext cx="1217295" cy="482600"/>
          </a:xfrm>
          <a:custGeom>
            <a:avLst/>
            <a:gdLst/>
            <a:ahLst/>
            <a:cxnLst/>
            <a:rect l="l" t="t" r="r" b="b"/>
            <a:pathLst>
              <a:path w="1217295" h="482600">
                <a:moveTo>
                  <a:pt x="0" y="80390"/>
                </a:moveTo>
                <a:lnTo>
                  <a:pt x="6308" y="49077"/>
                </a:lnTo>
                <a:lnTo>
                  <a:pt x="23510" y="23526"/>
                </a:lnTo>
                <a:lnTo>
                  <a:pt x="49023" y="6310"/>
                </a:lnTo>
                <a:lnTo>
                  <a:pt x="80263" y="0"/>
                </a:lnTo>
                <a:lnTo>
                  <a:pt x="1137030" y="0"/>
                </a:lnTo>
                <a:lnTo>
                  <a:pt x="1168271" y="6310"/>
                </a:lnTo>
                <a:lnTo>
                  <a:pt x="1193784" y="23526"/>
                </a:lnTo>
                <a:lnTo>
                  <a:pt x="1210986" y="49077"/>
                </a:lnTo>
                <a:lnTo>
                  <a:pt x="1217294" y="80390"/>
                </a:lnTo>
                <a:lnTo>
                  <a:pt x="1217294" y="401827"/>
                </a:lnTo>
                <a:lnTo>
                  <a:pt x="1210986" y="433068"/>
                </a:lnTo>
                <a:lnTo>
                  <a:pt x="1193784" y="458581"/>
                </a:lnTo>
                <a:lnTo>
                  <a:pt x="1168271" y="475783"/>
                </a:lnTo>
                <a:lnTo>
                  <a:pt x="1137030" y="482092"/>
                </a:lnTo>
                <a:lnTo>
                  <a:pt x="80263" y="482092"/>
                </a:lnTo>
                <a:lnTo>
                  <a:pt x="49023" y="475783"/>
                </a:lnTo>
                <a:lnTo>
                  <a:pt x="23510" y="458581"/>
                </a:lnTo>
                <a:lnTo>
                  <a:pt x="6308" y="433068"/>
                </a:lnTo>
                <a:lnTo>
                  <a:pt x="0" y="401827"/>
                </a:lnTo>
                <a:lnTo>
                  <a:pt x="0" y="8039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4106036" y="3581527"/>
            <a:ext cx="919480" cy="1022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Microsoft JhengHei"/>
                <a:cs typeface="Microsoft JhengHei"/>
              </a:rPr>
              <a:t>黃金</a:t>
            </a:r>
            <a:endParaRPr sz="1400">
              <a:latin typeface="Microsoft JhengHei"/>
              <a:cs typeface="Microsoft JhengHei"/>
            </a:endParaRPr>
          </a:p>
          <a:p>
            <a:pPr algn="ctr">
              <a:lnSpc>
                <a:spcPct val="100000"/>
              </a:lnSpc>
            </a:pPr>
            <a:r>
              <a:rPr dirty="0" sz="1400" spc="-10">
                <a:latin typeface="Microsoft JhengHei"/>
                <a:cs typeface="Microsoft JhengHei"/>
              </a:rPr>
              <a:t>碎片化交易</a:t>
            </a:r>
            <a:endParaRPr sz="1400">
              <a:latin typeface="Microsoft JhengHei"/>
              <a:cs typeface="Microsoft JhengHei"/>
            </a:endParaRPr>
          </a:p>
          <a:p>
            <a:pPr algn="ctr" marL="3175">
              <a:lnSpc>
                <a:spcPct val="100000"/>
              </a:lnSpc>
              <a:spcBef>
                <a:spcPts val="1120"/>
              </a:spcBef>
            </a:pPr>
            <a:r>
              <a:rPr dirty="0" sz="1400" spc="-25">
                <a:latin typeface="Microsoft JhengHei"/>
                <a:cs typeface="Microsoft JhengHei"/>
              </a:rPr>
              <a:t>債券</a:t>
            </a:r>
            <a:endParaRPr sz="1400">
              <a:latin typeface="Microsoft JhengHei"/>
              <a:cs typeface="Microsoft JhengHei"/>
            </a:endParaRPr>
          </a:p>
          <a:p>
            <a:pPr algn="ctr" marL="1905">
              <a:lnSpc>
                <a:spcPct val="100000"/>
              </a:lnSpc>
            </a:pPr>
            <a:r>
              <a:rPr dirty="0" sz="1400" spc="-10">
                <a:latin typeface="Microsoft JhengHei"/>
                <a:cs typeface="Microsoft JhengHei"/>
              </a:rPr>
              <a:t>買賣斷交割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502906" y="4140961"/>
            <a:ext cx="1223010" cy="482600"/>
          </a:xfrm>
          <a:custGeom>
            <a:avLst/>
            <a:gdLst/>
            <a:ahLst/>
            <a:cxnLst/>
            <a:rect l="l" t="t" r="r" b="b"/>
            <a:pathLst>
              <a:path w="1223009" h="482600">
                <a:moveTo>
                  <a:pt x="0" y="80390"/>
                </a:moveTo>
                <a:lnTo>
                  <a:pt x="6328" y="49077"/>
                </a:lnTo>
                <a:lnTo>
                  <a:pt x="23574" y="23526"/>
                </a:lnTo>
                <a:lnTo>
                  <a:pt x="49131" y="6310"/>
                </a:lnTo>
                <a:lnTo>
                  <a:pt x="80391" y="0"/>
                </a:lnTo>
                <a:lnTo>
                  <a:pt x="1142365" y="0"/>
                </a:lnTo>
                <a:lnTo>
                  <a:pt x="1173605" y="6310"/>
                </a:lnTo>
                <a:lnTo>
                  <a:pt x="1199118" y="23526"/>
                </a:lnTo>
                <a:lnTo>
                  <a:pt x="1216320" y="49077"/>
                </a:lnTo>
                <a:lnTo>
                  <a:pt x="1222628" y="80390"/>
                </a:lnTo>
                <a:lnTo>
                  <a:pt x="1222628" y="401827"/>
                </a:lnTo>
                <a:lnTo>
                  <a:pt x="1216320" y="433068"/>
                </a:lnTo>
                <a:lnTo>
                  <a:pt x="1199118" y="458581"/>
                </a:lnTo>
                <a:lnTo>
                  <a:pt x="1173605" y="475783"/>
                </a:lnTo>
                <a:lnTo>
                  <a:pt x="1142365" y="482092"/>
                </a:lnTo>
                <a:lnTo>
                  <a:pt x="80391" y="482092"/>
                </a:lnTo>
                <a:lnTo>
                  <a:pt x="49131" y="475783"/>
                </a:lnTo>
                <a:lnTo>
                  <a:pt x="23574" y="458581"/>
                </a:lnTo>
                <a:lnTo>
                  <a:pt x="6328" y="433068"/>
                </a:lnTo>
                <a:lnTo>
                  <a:pt x="0" y="401827"/>
                </a:lnTo>
                <a:lnTo>
                  <a:pt x="0" y="8039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7618603" y="3581527"/>
            <a:ext cx="991869" cy="1022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Microsoft JhengHei"/>
                <a:cs typeface="Microsoft JhengHei"/>
              </a:rPr>
              <a:t>債券</a:t>
            </a:r>
            <a:endParaRPr sz="1400">
              <a:latin typeface="Microsoft JhengHei"/>
              <a:cs typeface="Microsoft JhengHei"/>
            </a:endParaRPr>
          </a:p>
          <a:p>
            <a:pPr algn="ctr">
              <a:lnSpc>
                <a:spcPct val="100000"/>
              </a:lnSpc>
            </a:pPr>
            <a:r>
              <a:rPr dirty="0" sz="1400" spc="-15">
                <a:latin typeface="Microsoft JhengHei"/>
                <a:cs typeface="Microsoft JhengHei"/>
              </a:rPr>
              <a:t>提前買/賣回</a:t>
            </a:r>
            <a:endParaRPr sz="1400">
              <a:latin typeface="Microsoft JhengHei"/>
              <a:cs typeface="Microsoft JhengHei"/>
            </a:endParaRPr>
          </a:p>
          <a:p>
            <a:pPr algn="ctr" marL="50800" marR="41275" indent="-1905">
              <a:lnSpc>
                <a:spcPct val="100000"/>
              </a:lnSpc>
              <a:spcBef>
                <a:spcPts val="1120"/>
              </a:spcBef>
            </a:pPr>
            <a:r>
              <a:rPr dirty="0" sz="1400" spc="-15">
                <a:latin typeface="Microsoft JhengHei"/>
                <a:cs typeface="Microsoft JhengHei"/>
              </a:rPr>
              <a:t>特權帳號</a:t>
            </a:r>
            <a:r>
              <a:rPr dirty="0" sz="1400">
                <a:latin typeface="Microsoft JhengHei"/>
                <a:cs typeface="Microsoft JhengHei"/>
              </a:rPr>
              <a:t> </a:t>
            </a:r>
            <a:r>
              <a:rPr dirty="0" sz="1400" spc="-10">
                <a:latin typeface="Microsoft JhengHei"/>
                <a:cs typeface="Microsoft JhengHei"/>
              </a:rPr>
              <a:t>管理者權限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744211" y="2968625"/>
            <a:ext cx="1981200" cy="467359"/>
          </a:xfrm>
          <a:custGeom>
            <a:avLst/>
            <a:gdLst/>
            <a:ahLst/>
            <a:cxnLst/>
            <a:rect l="l" t="t" r="r" b="b"/>
            <a:pathLst>
              <a:path w="1981200" h="467360">
                <a:moveTo>
                  <a:pt x="0" y="77850"/>
                </a:moveTo>
                <a:lnTo>
                  <a:pt x="6127" y="47523"/>
                </a:lnTo>
                <a:lnTo>
                  <a:pt x="22828" y="22780"/>
                </a:lnTo>
                <a:lnTo>
                  <a:pt x="47577" y="6109"/>
                </a:lnTo>
                <a:lnTo>
                  <a:pt x="77850" y="0"/>
                </a:lnTo>
                <a:lnTo>
                  <a:pt x="1903094" y="0"/>
                </a:lnTo>
                <a:lnTo>
                  <a:pt x="1933422" y="6109"/>
                </a:lnTo>
                <a:lnTo>
                  <a:pt x="1958165" y="22780"/>
                </a:lnTo>
                <a:lnTo>
                  <a:pt x="1974836" y="47523"/>
                </a:lnTo>
                <a:lnTo>
                  <a:pt x="1980945" y="77850"/>
                </a:lnTo>
                <a:lnTo>
                  <a:pt x="1980945" y="389254"/>
                </a:lnTo>
                <a:lnTo>
                  <a:pt x="1974836" y="419582"/>
                </a:lnTo>
                <a:lnTo>
                  <a:pt x="1958165" y="444325"/>
                </a:lnTo>
                <a:lnTo>
                  <a:pt x="1933422" y="460996"/>
                </a:lnTo>
                <a:lnTo>
                  <a:pt x="1903094" y="467105"/>
                </a:lnTo>
                <a:lnTo>
                  <a:pt x="77850" y="467105"/>
                </a:lnTo>
                <a:lnTo>
                  <a:pt x="47577" y="460996"/>
                </a:lnTo>
                <a:lnTo>
                  <a:pt x="22828" y="444325"/>
                </a:lnTo>
                <a:lnTo>
                  <a:pt x="6127" y="419582"/>
                </a:lnTo>
                <a:lnTo>
                  <a:pt x="0" y="389254"/>
                </a:lnTo>
                <a:lnTo>
                  <a:pt x="0" y="7785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4869941" y="3077337"/>
            <a:ext cx="173101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Microsoft JhengHei"/>
                <a:cs typeface="Microsoft JhengHei"/>
              </a:rPr>
              <a:t>e</a:t>
            </a:r>
            <a:r>
              <a:rPr dirty="0" sz="1400" spc="-10">
                <a:latin typeface="Microsoft JhengHei"/>
                <a:cs typeface="Microsoft JhengHei"/>
              </a:rPr>
              <a:t>手掌握查詢黃金代幣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705350" y="5836716"/>
            <a:ext cx="7391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5">
                <a:latin typeface="Microsoft JhengHei"/>
                <a:cs typeface="Microsoft JhengHei"/>
              </a:rPr>
              <a:t>共識機制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930265" y="5612358"/>
            <a:ext cx="1316355" cy="697230"/>
          </a:xfrm>
          <a:custGeom>
            <a:avLst/>
            <a:gdLst/>
            <a:ahLst/>
            <a:cxnLst/>
            <a:rect l="l" t="t" r="r" b="b"/>
            <a:pathLst>
              <a:path w="1316354" h="697229">
                <a:moveTo>
                  <a:pt x="0" y="65366"/>
                </a:moveTo>
                <a:lnTo>
                  <a:pt x="5147" y="39921"/>
                </a:lnTo>
                <a:lnTo>
                  <a:pt x="19176" y="19143"/>
                </a:lnTo>
                <a:lnTo>
                  <a:pt x="39969" y="5136"/>
                </a:lnTo>
                <a:lnTo>
                  <a:pt x="65405" y="0"/>
                </a:lnTo>
                <a:lnTo>
                  <a:pt x="1250823" y="0"/>
                </a:lnTo>
                <a:lnTo>
                  <a:pt x="1276258" y="5136"/>
                </a:lnTo>
                <a:lnTo>
                  <a:pt x="1297051" y="19143"/>
                </a:lnTo>
                <a:lnTo>
                  <a:pt x="1311080" y="39921"/>
                </a:lnTo>
                <a:lnTo>
                  <a:pt x="1316228" y="65366"/>
                </a:lnTo>
                <a:lnTo>
                  <a:pt x="1316228" y="631634"/>
                </a:lnTo>
                <a:lnTo>
                  <a:pt x="1311080" y="657080"/>
                </a:lnTo>
                <a:lnTo>
                  <a:pt x="1297050" y="677857"/>
                </a:lnTo>
                <a:lnTo>
                  <a:pt x="1276258" y="691865"/>
                </a:lnTo>
                <a:lnTo>
                  <a:pt x="1250823" y="697001"/>
                </a:lnTo>
                <a:lnTo>
                  <a:pt x="65405" y="697001"/>
                </a:lnTo>
                <a:lnTo>
                  <a:pt x="39969" y="691865"/>
                </a:lnTo>
                <a:lnTo>
                  <a:pt x="19177" y="677857"/>
                </a:lnTo>
                <a:lnTo>
                  <a:pt x="5147" y="657080"/>
                </a:lnTo>
                <a:lnTo>
                  <a:pt x="0" y="631634"/>
                </a:lnTo>
                <a:lnTo>
                  <a:pt x="0" y="6536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6220205" y="5836716"/>
            <a:ext cx="7391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5">
                <a:latin typeface="Microsoft JhengHei"/>
                <a:cs typeface="Microsoft JhengHei"/>
              </a:rPr>
              <a:t>智能合約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402194" y="5612358"/>
            <a:ext cx="1316355" cy="697230"/>
          </a:xfrm>
          <a:custGeom>
            <a:avLst/>
            <a:gdLst/>
            <a:ahLst/>
            <a:cxnLst/>
            <a:rect l="l" t="t" r="r" b="b"/>
            <a:pathLst>
              <a:path w="1316354" h="697229">
                <a:moveTo>
                  <a:pt x="0" y="65366"/>
                </a:moveTo>
                <a:lnTo>
                  <a:pt x="5147" y="39921"/>
                </a:lnTo>
                <a:lnTo>
                  <a:pt x="19176" y="19143"/>
                </a:lnTo>
                <a:lnTo>
                  <a:pt x="39969" y="5136"/>
                </a:lnTo>
                <a:lnTo>
                  <a:pt x="65404" y="0"/>
                </a:lnTo>
                <a:lnTo>
                  <a:pt x="1250823" y="0"/>
                </a:lnTo>
                <a:lnTo>
                  <a:pt x="1276258" y="5136"/>
                </a:lnTo>
                <a:lnTo>
                  <a:pt x="1297051" y="19143"/>
                </a:lnTo>
                <a:lnTo>
                  <a:pt x="1311080" y="39921"/>
                </a:lnTo>
                <a:lnTo>
                  <a:pt x="1316227" y="65366"/>
                </a:lnTo>
                <a:lnTo>
                  <a:pt x="1316227" y="631634"/>
                </a:lnTo>
                <a:lnTo>
                  <a:pt x="1311080" y="657080"/>
                </a:lnTo>
                <a:lnTo>
                  <a:pt x="1297051" y="677857"/>
                </a:lnTo>
                <a:lnTo>
                  <a:pt x="1276258" y="691865"/>
                </a:lnTo>
                <a:lnTo>
                  <a:pt x="1250823" y="697001"/>
                </a:lnTo>
                <a:lnTo>
                  <a:pt x="65404" y="697001"/>
                </a:lnTo>
                <a:lnTo>
                  <a:pt x="39969" y="691865"/>
                </a:lnTo>
                <a:lnTo>
                  <a:pt x="19176" y="677857"/>
                </a:lnTo>
                <a:lnTo>
                  <a:pt x="5147" y="657080"/>
                </a:lnTo>
                <a:lnTo>
                  <a:pt x="0" y="631634"/>
                </a:lnTo>
                <a:lnTo>
                  <a:pt x="0" y="6536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7870697" y="5836716"/>
            <a:ext cx="3822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Microsoft JhengHei"/>
                <a:cs typeface="Microsoft JhengHei"/>
              </a:rPr>
              <a:t>節點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9746106" y="4149725"/>
            <a:ext cx="1795145" cy="605790"/>
          </a:xfrm>
          <a:custGeom>
            <a:avLst/>
            <a:gdLst/>
            <a:ahLst/>
            <a:cxnLst/>
            <a:rect l="l" t="t" r="r" b="b"/>
            <a:pathLst>
              <a:path w="1795145" h="605789">
                <a:moveTo>
                  <a:pt x="0" y="17780"/>
                </a:moveTo>
                <a:lnTo>
                  <a:pt x="0" y="8000"/>
                </a:lnTo>
                <a:lnTo>
                  <a:pt x="8000" y="0"/>
                </a:lnTo>
                <a:lnTo>
                  <a:pt x="17779" y="0"/>
                </a:lnTo>
                <a:lnTo>
                  <a:pt x="1777111" y="0"/>
                </a:lnTo>
                <a:lnTo>
                  <a:pt x="1786890" y="0"/>
                </a:lnTo>
                <a:lnTo>
                  <a:pt x="1794891" y="8000"/>
                </a:lnTo>
                <a:lnTo>
                  <a:pt x="1794891" y="17780"/>
                </a:lnTo>
                <a:lnTo>
                  <a:pt x="1794891" y="587882"/>
                </a:lnTo>
                <a:lnTo>
                  <a:pt x="1794891" y="597662"/>
                </a:lnTo>
                <a:lnTo>
                  <a:pt x="1786890" y="605663"/>
                </a:lnTo>
                <a:lnTo>
                  <a:pt x="1777111" y="605663"/>
                </a:lnTo>
                <a:lnTo>
                  <a:pt x="17779" y="605663"/>
                </a:lnTo>
                <a:lnTo>
                  <a:pt x="8000" y="605663"/>
                </a:lnTo>
                <a:lnTo>
                  <a:pt x="0" y="597662"/>
                </a:lnTo>
                <a:lnTo>
                  <a:pt x="0" y="587882"/>
                </a:lnTo>
                <a:lnTo>
                  <a:pt x="0" y="1778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9756457" y="4205478"/>
            <a:ext cx="1774189" cy="4832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95"/>
              </a:spcBef>
            </a:pPr>
            <a:r>
              <a:rPr dirty="0" sz="1600" spc="-35" b="1">
                <a:latin typeface="Microsoft JhengHei"/>
                <a:cs typeface="Microsoft JhengHei"/>
              </a:rPr>
              <a:t>櫃買中心</a:t>
            </a:r>
            <a:endParaRPr sz="1600">
              <a:latin typeface="Microsoft JhengHei"/>
              <a:cs typeface="Microsoft JhengHei"/>
            </a:endParaRPr>
          </a:p>
          <a:p>
            <a:pPr algn="ctr" marL="1905">
              <a:lnSpc>
                <a:spcPct val="100000"/>
              </a:lnSpc>
              <a:spcBef>
                <a:spcPts val="5"/>
              </a:spcBef>
            </a:pPr>
            <a:r>
              <a:rPr dirty="0" sz="1400" spc="-10">
                <a:latin typeface="Microsoft JhengHei"/>
                <a:cs typeface="Microsoft JhengHei"/>
              </a:rPr>
              <a:t>等殖成交系統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215119" y="4170045"/>
            <a:ext cx="2654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Microsoft JhengHei"/>
                <a:cs typeface="Microsoft JhengHei"/>
              </a:rPr>
              <a:t>API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8910319" y="4397502"/>
            <a:ext cx="758190" cy="76200"/>
          </a:xfrm>
          <a:custGeom>
            <a:avLst/>
            <a:gdLst/>
            <a:ahLst/>
            <a:cxnLst/>
            <a:rect l="l" t="t" r="r" b="b"/>
            <a:pathLst>
              <a:path w="75819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1275"/>
                </a:lnTo>
                <a:lnTo>
                  <a:pt x="63500" y="41275"/>
                </a:lnTo>
                <a:lnTo>
                  <a:pt x="63500" y="34925"/>
                </a:lnTo>
                <a:lnTo>
                  <a:pt x="76200" y="34925"/>
                </a:lnTo>
                <a:lnTo>
                  <a:pt x="76200" y="0"/>
                </a:lnTo>
                <a:close/>
              </a:path>
              <a:path w="758190" h="76200">
                <a:moveTo>
                  <a:pt x="681862" y="0"/>
                </a:moveTo>
                <a:lnTo>
                  <a:pt x="681862" y="76200"/>
                </a:lnTo>
                <a:lnTo>
                  <a:pt x="751712" y="41275"/>
                </a:lnTo>
                <a:lnTo>
                  <a:pt x="694562" y="41275"/>
                </a:lnTo>
                <a:lnTo>
                  <a:pt x="694562" y="34925"/>
                </a:lnTo>
                <a:lnTo>
                  <a:pt x="751712" y="34925"/>
                </a:lnTo>
                <a:lnTo>
                  <a:pt x="681862" y="0"/>
                </a:lnTo>
                <a:close/>
              </a:path>
              <a:path w="758190" h="76200">
                <a:moveTo>
                  <a:pt x="76200" y="34925"/>
                </a:moveTo>
                <a:lnTo>
                  <a:pt x="63500" y="34925"/>
                </a:lnTo>
                <a:lnTo>
                  <a:pt x="63500" y="41275"/>
                </a:lnTo>
                <a:lnTo>
                  <a:pt x="76200" y="41275"/>
                </a:lnTo>
                <a:lnTo>
                  <a:pt x="76200" y="34925"/>
                </a:lnTo>
                <a:close/>
              </a:path>
              <a:path w="758190" h="76200">
                <a:moveTo>
                  <a:pt x="681862" y="34925"/>
                </a:moveTo>
                <a:lnTo>
                  <a:pt x="76200" y="34925"/>
                </a:lnTo>
                <a:lnTo>
                  <a:pt x="76200" y="41275"/>
                </a:lnTo>
                <a:lnTo>
                  <a:pt x="681862" y="41275"/>
                </a:lnTo>
                <a:lnTo>
                  <a:pt x="681862" y="34925"/>
                </a:lnTo>
                <a:close/>
              </a:path>
              <a:path w="758190" h="76200">
                <a:moveTo>
                  <a:pt x="751712" y="34925"/>
                </a:moveTo>
                <a:lnTo>
                  <a:pt x="694562" y="34925"/>
                </a:lnTo>
                <a:lnTo>
                  <a:pt x="694562" y="41275"/>
                </a:lnTo>
                <a:lnTo>
                  <a:pt x="751712" y="41275"/>
                </a:lnTo>
                <a:lnTo>
                  <a:pt x="758062" y="38100"/>
                </a:lnTo>
                <a:lnTo>
                  <a:pt x="751712" y="349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4538" y="63830"/>
            <a:ext cx="611949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二、使用單位私鑰保管方案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3740" y="876706"/>
            <a:ext cx="11407775" cy="1510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marR="5080" indent="-287020">
              <a:lnSpc>
                <a:spcPct val="1323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200" spc="-50">
                <a:latin typeface="Microsoft JhengHei"/>
                <a:cs typeface="Microsoft JhengHei"/>
              </a:rPr>
              <a:t>RWA</a:t>
            </a:r>
            <a:r>
              <a:rPr dirty="0" sz="2200" spc="-35">
                <a:latin typeface="Microsoft JhengHei"/>
                <a:cs typeface="Microsoft JhengHei"/>
              </a:rPr>
              <a:t>代幣平台外部使用單位包含債券發行人/股務代理、經紀商、自營商、本息兌領機構、黃金造市商、保管銀行等機構</a:t>
            </a:r>
            <a:endParaRPr sz="22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spcBef>
                <a:spcPts val="206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200" spc="-30">
                <a:latin typeface="Microsoft JhengHei"/>
                <a:cs typeface="Microsoft JhengHei"/>
              </a:rPr>
              <a:t>錢包私鑰保管選項(使用單位擇一)：</a:t>
            </a:r>
            <a:endParaRPr sz="22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7704" y="2794889"/>
            <a:ext cx="3338195" cy="1154430"/>
          </a:xfrm>
          <a:custGeom>
            <a:avLst/>
            <a:gdLst/>
            <a:ahLst/>
            <a:cxnLst/>
            <a:rect l="l" t="t" r="r" b="b"/>
            <a:pathLst>
              <a:path w="3338195" h="1154429">
                <a:moveTo>
                  <a:pt x="3177946" y="0"/>
                </a:moveTo>
                <a:lnTo>
                  <a:pt x="159956" y="0"/>
                </a:lnTo>
                <a:lnTo>
                  <a:pt x="109398" y="8155"/>
                </a:lnTo>
                <a:lnTo>
                  <a:pt x="65488" y="30862"/>
                </a:lnTo>
                <a:lnTo>
                  <a:pt x="30862" y="65480"/>
                </a:lnTo>
                <a:lnTo>
                  <a:pt x="8154" y="109370"/>
                </a:lnTo>
                <a:lnTo>
                  <a:pt x="0" y="159893"/>
                </a:lnTo>
                <a:lnTo>
                  <a:pt x="0" y="994029"/>
                </a:lnTo>
                <a:lnTo>
                  <a:pt x="8154" y="1044551"/>
                </a:lnTo>
                <a:lnTo>
                  <a:pt x="30862" y="1088441"/>
                </a:lnTo>
                <a:lnTo>
                  <a:pt x="65488" y="1123059"/>
                </a:lnTo>
                <a:lnTo>
                  <a:pt x="109398" y="1145766"/>
                </a:lnTo>
                <a:lnTo>
                  <a:pt x="159956" y="1153922"/>
                </a:lnTo>
                <a:lnTo>
                  <a:pt x="3177946" y="1153922"/>
                </a:lnTo>
                <a:lnTo>
                  <a:pt x="3228531" y="1145766"/>
                </a:lnTo>
                <a:lnTo>
                  <a:pt x="3272458" y="1123059"/>
                </a:lnTo>
                <a:lnTo>
                  <a:pt x="3307096" y="1088441"/>
                </a:lnTo>
                <a:lnTo>
                  <a:pt x="3329809" y="1044551"/>
                </a:lnTo>
                <a:lnTo>
                  <a:pt x="3337966" y="994029"/>
                </a:lnTo>
                <a:lnTo>
                  <a:pt x="3337966" y="159893"/>
                </a:lnTo>
                <a:lnTo>
                  <a:pt x="3329809" y="109370"/>
                </a:lnTo>
                <a:lnTo>
                  <a:pt x="3307096" y="65480"/>
                </a:lnTo>
                <a:lnTo>
                  <a:pt x="3272458" y="30862"/>
                </a:lnTo>
                <a:lnTo>
                  <a:pt x="3228531" y="8155"/>
                </a:lnTo>
                <a:lnTo>
                  <a:pt x="3177946" y="0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25650" y="2915259"/>
            <a:ext cx="2061845" cy="71120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400"/>
              </a:spcBef>
            </a:pPr>
            <a:r>
              <a:rPr dirty="0" sz="2000" spc="-20" b="1">
                <a:latin typeface="Microsoft JhengHei"/>
                <a:cs typeface="Microsoft JhengHei"/>
              </a:rPr>
              <a:t>方案一</a:t>
            </a:r>
            <a:endParaRPr sz="2000">
              <a:latin typeface="Microsoft JhengHei"/>
              <a:cs typeface="Microsoft JhengHei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dirty="0" sz="2000" spc="-10" b="1">
                <a:latin typeface="Microsoft JhengHei"/>
                <a:cs typeface="Microsoft JhengHei"/>
              </a:rPr>
              <a:t>使用單位自行保管</a:t>
            </a:r>
            <a:endParaRPr sz="200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pc="-5"/>
              <a:t>使用單位配合開發項目：</a:t>
            </a:r>
            <a:r>
              <a:rPr dirty="0" spc="-10"/>
              <a:t>(1)產製錢包私鑰、錢包公鑰、錢包地址，</a:t>
            </a:r>
            <a:r>
              <a:rPr dirty="0"/>
              <a:t>並傳輸錢包地址予</a:t>
            </a:r>
            <a:r>
              <a:rPr dirty="0" spc="-35"/>
              <a:t>RWA</a:t>
            </a:r>
            <a:r>
              <a:rPr dirty="0"/>
              <a:t>代幣平台、</a:t>
            </a:r>
            <a:r>
              <a:rPr dirty="0" spc="-10"/>
              <a:t>(2)開發代幣部位移轉或交割指</a:t>
            </a:r>
            <a:r>
              <a:rPr dirty="0"/>
              <a:t>示之區塊鏈私鑰簽章機制及相關</a:t>
            </a:r>
            <a:r>
              <a:rPr dirty="0" spc="-25"/>
              <a:t>API</a:t>
            </a: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pc="-15"/>
              <a:t>作業流程示意、保管原則詳後</a:t>
            </a:r>
          </a:p>
        </p:txBody>
      </p:sp>
      <p:sp>
        <p:nvSpPr>
          <p:cNvPr id="7" name="object 7"/>
          <p:cNvSpPr/>
          <p:nvPr/>
        </p:nvSpPr>
        <p:spPr>
          <a:xfrm>
            <a:off x="4332732" y="3061080"/>
            <a:ext cx="152400" cy="619760"/>
          </a:xfrm>
          <a:custGeom>
            <a:avLst/>
            <a:gdLst/>
            <a:ahLst/>
            <a:cxnLst/>
            <a:rect l="l" t="t" r="r" b="b"/>
            <a:pathLst>
              <a:path w="152400" h="619760">
                <a:moveTo>
                  <a:pt x="0" y="0"/>
                </a:moveTo>
                <a:lnTo>
                  <a:pt x="0" y="619760"/>
                </a:lnTo>
                <a:lnTo>
                  <a:pt x="152400" y="309880"/>
                </a:lnTo>
                <a:lnTo>
                  <a:pt x="0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05383" y="5017134"/>
            <a:ext cx="3338195" cy="1154430"/>
          </a:xfrm>
          <a:custGeom>
            <a:avLst/>
            <a:gdLst/>
            <a:ahLst/>
            <a:cxnLst/>
            <a:rect l="l" t="t" r="r" b="b"/>
            <a:pathLst>
              <a:path w="3338195" h="1154429">
                <a:moveTo>
                  <a:pt x="3178047" y="0"/>
                </a:moveTo>
                <a:lnTo>
                  <a:pt x="159956" y="0"/>
                </a:lnTo>
                <a:lnTo>
                  <a:pt x="109398" y="8156"/>
                </a:lnTo>
                <a:lnTo>
                  <a:pt x="65488" y="30870"/>
                </a:lnTo>
                <a:lnTo>
                  <a:pt x="30862" y="65507"/>
                </a:lnTo>
                <a:lnTo>
                  <a:pt x="8154" y="109435"/>
                </a:lnTo>
                <a:lnTo>
                  <a:pt x="0" y="160019"/>
                </a:lnTo>
                <a:lnTo>
                  <a:pt x="0" y="994067"/>
                </a:lnTo>
                <a:lnTo>
                  <a:pt x="8154" y="1044625"/>
                </a:lnTo>
                <a:lnTo>
                  <a:pt x="30862" y="1088535"/>
                </a:lnTo>
                <a:lnTo>
                  <a:pt x="65488" y="1123161"/>
                </a:lnTo>
                <a:lnTo>
                  <a:pt x="109398" y="1145868"/>
                </a:lnTo>
                <a:lnTo>
                  <a:pt x="159956" y="1154023"/>
                </a:lnTo>
                <a:lnTo>
                  <a:pt x="3178047" y="1154023"/>
                </a:lnTo>
                <a:lnTo>
                  <a:pt x="3228570" y="1145868"/>
                </a:lnTo>
                <a:lnTo>
                  <a:pt x="3272460" y="1123161"/>
                </a:lnTo>
                <a:lnTo>
                  <a:pt x="3307078" y="1088535"/>
                </a:lnTo>
                <a:lnTo>
                  <a:pt x="3329785" y="1044625"/>
                </a:lnTo>
                <a:lnTo>
                  <a:pt x="3337941" y="994067"/>
                </a:lnTo>
                <a:lnTo>
                  <a:pt x="3337941" y="160019"/>
                </a:lnTo>
                <a:lnTo>
                  <a:pt x="3329785" y="109435"/>
                </a:lnTo>
                <a:lnTo>
                  <a:pt x="3307078" y="65507"/>
                </a:lnTo>
                <a:lnTo>
                  <a:pt x="3272460" y="30870"/>
                </a:lnTo>
                <a:lnTo>
                  <a:pt x="3228570" y="8156"/>
                </a:lnTo>
                <a:lnTo>
                  <a:pt x="3178047" y="0"/>
                </a:lnTo>
                <a:close/>
              </a:path>
            </a:pathLst>
          </a:custGeom>
          <a:solidFill>
            <a:srgbClr val="DEEB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32459" y="5178262"/>
            <a:ext cx="3078480" cy="71247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05"/>
              </a:spcBef>
            </a:pPr>
            <a:r>
              <a:rPr dirty="0" sz="2000" spc="-25" b="1">
                <a:latin typeface="Microsoft JhengHei"/>
                <a:cs typeface="Microsoft JhengHei"/>
              </a:rPr>
              <a:t>方案二</a:t>
            </a:r>
            <a:endParaRPr sz="2000">
              <a:latin typeface="Microsoft JhengHei"/>
              <a:cs typeface="Microsoft JhengHei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dirty="0" sz="2000" spc="-10" b="1">
                <a:latin typeface="Microsoft JhengHei"/>
                <a:cs typeface="Microsoft JhengHei"/>
              </a:rPr>
              <a:t>使用單位洽第三方機構保管</a:t>
            </a:r>
            <a:endParaRPr sz="2000">
              <a:latin typeface="Microsoft JhengHei"/>
              <a:cs typeface="Microsoft JhengHe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75072" y="4857140"/>
            <a:ext cx="6819900" cy="167195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1800">
                <a:latin typeface="Microsoft JhengHei"/>
                <a:cs typeface="Microsoft JhengHei"/>
              </a:rPr>
              <a:t>第三方機構提供使用單位</a:t>
            </a:r>
            <a:r>
              <a:rPr dirty="0" sz="1800" spc="-10">
                <a:latin typeface="Microsoft JhengHei"/>
                <a:cs typeface="Microsoft JhengHei"/>
              </a:rPr>
              <a:t>(1)產製錢包之私鑰、公鑰與地址服務、</a:t>
            </a:r>
            <a:endParaRPr sz="1800">
              <a:latin typeface="Microsoft JhengHei"/>
              <a:cs typeface="Microsoft JhengHei"/>
            </a:endParaRPr>
          </a:p>
          <a:p>
            <a:pPr marL="355600">
              <a:lnSpc>
                <a:spcPct val="100000"/>
              </a:lnSpc>
              <a:spcBef>
                <a:spcPts val="1080"/>
              </a:spcBef>
            </a:pPr>
            <a:r>
              <a:rPr dirty="0" sz="1800" spc="-10">
                <a:latin typeface="Microsoft JhengHei"/>
                <a:cs typeface="Microsoft JhengHei"/>
              </a:rPr>
              <a:t>(2)代幣部位異動指示等交易私鑰簽章服務</a:t>
            </a:r>
            <a:endParaRPr sz="1800">
              <a:latin typeface="Microsoft JhengHei"/>
              <a:cs typeface="Microsoft JhengHei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1800" spc="-15">
                <a:latin typeface="Microsoft JhengHei"/>
                <a:cs typeface="Microsoft JhengHei"/>
              </a:rPr>
              <a:t>使用單位委託第三方託管機構保管私鑰之流程示意詳後</a:t>
            </a:r>
            <a:endParaRPr sz="1800">
              <a:latin typeface="Microsoft JhengHei"/>
              <a:cs typeface="Microsoft JhengHei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1800" spc="-5">
                <a:latin typeface="Microsoft JhengHei"/>
                <a:cs typeface="Microsoft JhengHei"/>
              </a:rPr>
              <a:t>作業流程示意、第三方機構資格條件詳後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50384" y="5283327"/>
            <a:ext cx="152400" cy="620395"/>
          </a:xfrm>
          <a:custGeom>
            <a:avLst/>
            <a:gdLst/>
            <a:ahLst/>
            <a:cxnLst/>
            <a:rect l="l" t="t" r="r" b="b"/>
            <a:pathLst>
              <a:path w="152400" h="620395">
                <a:moveTo>
                  <a:pt x="0" y="0"/>
                </a:moveTo>
                <a:lnTo>
                  <a:pt x="0" y="619785"/>
                </a:lnTo>
                <a:lnTo>
                  <a:pt x="152400" y="309905"/>
                </a:lnTo>
                <a:lnTo>
                  <a:pt x="0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7340" y="4634610"/>
            <a:ext cx="11572875" cy="0"/>
          </a:xfrm>
          <a:custGeom>
            <a:avLst/>
            <a:gdLst/>
            <a:ahLst/>
            <a:cxnLst/>
            <a:rect l="l" t="t" r="r" b="b"/>
            <a:pathLst>
              <a:path w="11572875" h="0">
                <a:moveTo>
                  <a:pt x="0" y="0"/>
                </a:moveTo>
                <a:lnTo>
                  <a:pt x="11572748" y="0"/>
                </a:lnTo>
              </a:path>
            </a:pathLst>
          </a:custGeom>
          <a:ln w="19050">
            <a:solidFill>
              <a:srgbClr val="A4A4A4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4538" y="63830"/>
            <a:ext cx="611949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三、使用單位自行保管私鑰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3740" y="985519"/>
            <a:ext cx="437832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200" spc="-35">
                <a:latin typeface="Microsoft JhengHei"/>
                <a:cs typeface="Microsoft JhengHei"/>
              </a:rPr>
              <a:t>情境一：以</a:t>
            </a:r>
            <a:r>
              <a:rPr dirty="0" sz="2200" spc="-20">
                <a:latin typeface="Microsoft JhengHei"/>
                <a:cs typeface="Microsoft JhengHei"/>
              </a:rPr>
              <a:t>API</a:t>
            </a:r>
            <a:r>
              <a:rPr dirty="0" sz="2200" spc="-35">
                <a:latin typeface="Microsoft JhengHei"/>
                <a:cs typeface="Microsoft JhengHei"/>
              </a:rPr>
              <a:t>提交交割指示為例</a:t>
            </a:r>
            <a:endParaRPr sz="2200">
              <a:latin typeface="Microsoft JhengHei"/>
              <a:cs typeface="Microsoft JhengHe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6814" y="4424184"/>
            <a:ext cx="809739" cy="85736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51025" y="5299328"/>
            <a:ext cx="15062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Microsoft JhengHei"/>
                <a:cs typeface="Microsoft JhengHei"/>
              </a:rPr>
              <a:t>私鑰保管設備(註</a:t>
            </a:r>
            <a:r>
              <a:rPr dirty="0" sz="1400" spc="-25" b="1">
                <a:latin typeface="Microsoft JhengHei"/>
                <a:cs typeface="Microsoft JhengHei"/>
              </a:rPr>
              <a:t>2)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1492" y="4141444"/>
            <a:ext cx="2864485" cy="1683385"/>
          </a:xfrm>
          <a:custGeom>
            <a:avLst/>
            <a:gdLst/>
            <a:ahLst/>
            <a:cxnLst/>
            <a:rect l="l" t="t" r="r" b="b"/>
            <a:pathLst>
              <a:path w="2864485" h="1683385">
                <a:moveTo>
                  <a:pt x="0" y="1683004"/>
                </a:moveTo>
                <a:lnTo>
                  <a:pt x="2864485" y="1683004"/>
                </a:lnTo>
                <a:lnTo>
                  <a:pt x="2864485" y="0"/>
                </a:lnTo>
                <a:lnTo>
                  <a:pt x="0" y="0"/>
                </a:lnTo>
                <a:lnTo>
                  <a:pt x="0" y="1683004"/>
                </a:lnTo>
                <a:close/>
              </a:path>
            </a:pathLst>
          </a:custGeom>
          <a:ln w="25399">
            <a:solidFill>
              <a:srgbClr val="EC7C3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59865" y="3681221"/>
            <a:ext cx="7391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5" b="1">
                <a:latin typeface="Microsoft JhengHei"/>
                <a:cs typeface="Microsoft JhengHei"/>
              </a:rPr>
              <a:t>簽章請求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36723" y="3546094"/>
            <a:ext cx="6311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543" sz="2700" spc="232" b="1">
                <a:solidFill>
                  <a:srgbClr val="FF0000"/>
                </a:solidFill>
                <a:latin typeface="Microsoft JhengHei"/>
                <a:cs typeface="Microsoft JhengHei"/>
              </a:rPr>
              <a:t>②</a:t>
            </a:r>
            <a:r>
              <a:rPr dirty="0" sz="1400" spc="-25" b="1">
                <a:latin typeface="Microsoft JhengHei"/>
                <a:cs typeface="Microsoft JhengHei"/>
              </a:rPr>
              <a:t>簽章</a:t>
            </a:r>
            <a:endParaRPr sz="1400">
              <a:latin typeface="Microsoft JhengHei"/>
              <a:cs typeface="Microsoft JhengHe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14717" y="3292475"/>
            <a:ext cx="1438275" cy="1047750"/>
            <a:chOff x="714717" y="3292475"/>
            <a:chExt cx="1438275" cy="1047750"/>
          </a:xfrm>
        </p:grpSpPr>
        <p:sp>
          <p:nvSpPr>
            <p:cNvPr id="10" name="object 10"/>
            <p:cNvSpPr/>
            <p:nvPr/>
          </p:nvSpPr>
          <p:spPr>
            <a:xfrm>
              <a:off x="1911858" y="3292474"/>
              <a:ext cx="241300" cy="1036955"/>
            </a:xfrm>
            <a:custGeom>
              <a:avLst/>
              <a:gdLst/>
              <a:ahLst/>
              <a:cxnLst/>
              <a:rect l="l" t="t" r="r" b="b"/>
              <a:pathLst>
                <a:path w="241300" h="1036954">
                  <a:moveTo>
                    <a:pt x="85725" y="950722"/>
                  </a:moveTo>
                  <a:lnTo>
                    <a:pt x="57150" y="950722"/>
                  </a:lnTo>
                  <a:lnTo>
                    <a:pt x="57150" y="30480"/>
                  </a:lnTo>
                  <a:lnTo>
                    <a:pt x="28575" y="30480"/>
                  </a:lnTo>
                  <a:lnTo>
                    <a:pt x="28575" y="950722"/>
                  </a:lnTo>
                  <a:lnTo>
                    <a:pt x="0" y="950722"/>
                  </a:lnTo>
                  <a:lnTo>
                    <a:pt x="42926" y="1036447"/>
                  </a:lnTo>
                  <a:lnTo>
                    <a:pt x="78613" y="964946"/>
                  </a:lnTo>
                  <a:lnTo>
                    <a:pt x="85725" y="950722"/>
                  </a:lnTo>
                  <a:close/>
                </a:path>
                <a:path w="241300" h="1036954">
                  <a:moveTo>
                    <a:pt x="241046" y="85725"/>
                  </a:moveTo>
                  <a:lnTo>
                    <a:pt x="233857" y="71374"/>
                  </a:lnTo>
                  <a:lnTo>
                    <a:pt x="198120" y="0"/>
                  </a:lnTo>
                  <a:lnTo>
                    <a:pt x="155321" y="85725"/>
                  </a:lnTo>
                  <a:lnTo>
                    <a:pt x="183896" y="85725"/>
                  </a:lnTo>
                  <a:lnTo>
                    <a:pt x="183896" y="1033399"/>
                  </a:lnTo>
                  <a:lnTo>
                    <a:pt x="212471" y="1033399"/>
                  </a:lnTo>
                  <a:lnTo>
                    <a:pt x="212471" y="85725"/>
                  </a:lnTo>
                  <a:lnTo>
                    <a:pt x="241046" y="85725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14717" y="3970769"/>
              <a:ext cx="1101090" cy="369570"/>
            </a:xfrm>
            <a:custGeom>
              <a:avLst/>
              <a:gdLst/>
              <a:ahLst/>
              <a:cxnLst/>
              <a:rect l="l" t="t" r="r" b="b"/>
              <a:pathLst>
                <a:path w="1101089" h="369570">
                  <a:moveTo>
                    <a:pt x="1100582" y="0"/>
                  </a:moveTo>
                  <a:lnTo>
                    <a:pt x="0" y="0"/>
                  </a:lnTo>
                  <a:lnTo>
                    <a:pt x="0" y="369328"/>
                  </a:lnTo>
                  <a:lnTo>
                    <a:pt x="1100582" y="369328"/>
                  </a:lnTo>
                  <a:lnTo>
                    <a:pt x="11005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793495" y="3998721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 b="1">
                <a:solidFill>
                  <a:srgbClr val="EC7C30"/>
                </a:solidFill>
                <a:latin typeface="Microsoft JhengHei"/>
                <a:cs typeface="Microsoft JhengHei"/>
              </a:rPr>
              <a:t>使用單位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0216" y="3417265"/>
            <a:ext cx="110426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9320" sz="2700" spc="165" b="1">
                <a:solidFill>
                  <a:srgbClr val="FF0000"/>
                </a:solidFill>
                <a:latin typeface="Microsoft JhengHei"/>
                <a:cs typeface="Microsoft JhengHei"/>
              </a:rPr>
              <a:t>① </a:t>
            </a:r>
            <a:r>
              <a:rPr dirty="0" sz="1400" spc="-15" b="1">
                <a:latin typeface="Microsoft JhengHei"/>
                <a:cs typeface="Microsoft JhengHei"/>
              </a:rPr>
              <a:t>交割指示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72810" y="4153661"/>
            <a:ext cx="5746115" cy="17322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Microsoft JhengHei"/>
                <a:cs typeface="Microsoft JhengHei"/>
              </a:rPr>
              <a:t>註1：</a:t>
            </a:r>
            <a:endParaRPr sz="1600">
              <a:latin typeface="Microsoft JhengHei"/>
              <a:cs typeface="Microsoft JhengHei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1600" spc="-30">
                <a:latin typeface="Microsoft JhengHei"/>
                <a:cs typeface="Microsoft JhengHei"/>
              </a:rPr>
              <a:t>使用單位呼叫內部金鑰保管設備，發送簽章請求。</a:t>
            </a:r>
            <a:endParaRPr sz="1600">
              <a:latin typeface="Microsoft JhengHei"/>
              <a:cs typeface="Microsoft JhengHei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1600" spc="-25">
                <a:latin typeface="Microsoft JhengHei"/>
                <a:cs typeface="Microsoft JhengHei"/>
              </a:rPr>
              <a:t>使用單位自行開發</a:t>
            </a:r>
            <a:r>
              <a:rPr dirty="0" sz="1600" spc="-20">
                <a:latin typeface="Microsoft JhengHei"/>
                <a:cs typeface="Microsoft JhengHei"/>
              </a:rPr>
              <a:t>API，</a:t>
            </a:r>
            <a:r>
              <a:rPr dirty="0" sz="1600">
                <a:latin typeface="Microsoft JhengHei"/>
                <a:cs typeface="Microsoft JhengHei"/>
              </a:rPr>
              <a:t>及以 API</a:t>
            </a:r>
            <a:r>
              <a:rPr dirty="0" sz="1600" spc="-20">
                <a:latin typeface="Microsoft JhengHei"/>
                <a:cs typeface="Microsoft JhengHei"/>
              </a:rPr>
              <a:t> 提交已簽署交易至 </a:t>
            </a:r>
            <a:r>
              <a:rPr dirty="0" sz="1600">
                <a:latin typeface="Microsoft JhengHei"/>
                <a:cs typeface="Microsoft JhengHei"/>
              </a:rPr>
              <a:t>RWA</a:t>
            </a:r>
            <a:r>
              <a:rPr dirty="0" sz="1600" spc="-20">
                <a:latin typeface="Microsoft JhengHei"/>
                <a:cs typeface="Microsoft JhengHei"/>
              </a:rPr>
              <a:t> 代</a:t>
            </a:r>
            <a:endParaRPr sz="1600">
              <a:latin typeface="Microsoft JhengHei"/>
              <a:cs typeface="Microsoft JhengHei"/>
            </a:endParaRPr>
          </a:p>
          <a:p>
            <a:pPr marL="355600">
              <a:lnSpc>
                <a:spcPct val="100000"/>
              </a:lnSpc>
            </a:pPr>
            <a:r>
              <a:rPr dirty="0" sz="1600" spc="-35">
                <a:latin typeface="Microsoft JhengHei"/>
                <a:cs typeface="Microsoft JhengHei"/>
              </a:rPr>
              <a:t>幣平台。</a:t>
            </a:r>
            <a:endParaRPr sz="16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dirty="0" sz="1600" spc="-25">
                <a:latin typeface="Microsoft JhengHei"/>
                <a:cs typeface="Microsoft JhengHei"/>
              </a:rPr>
              <a:t>註2：</a:t>
            </a:r>
            <a:endParaRPr sz="1600">
              <a:latin typeface="Microsoft JhengHei"/>
              <a:cs typeface="Microsoft JhengHei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1600" spc="-30">
                <a:latin typeface="Microsoft JhengHei"/>
                <a:cs typeface="Microsoft JhengHei"/>
              </a:rPr>
              <a:t>使用單位自行產製錢包之私鑰、公鑰與地址。</a:t>
            </a:r>
            <a:endParaRPr sz="1600">
              <a:latin typeface="Microsoft JhengHei"/>
              <a:cs typeface="Microsoft JhengHei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1600" spc="-30">
                <a:latin typeface="Microsoft JhengHei"/>
                <a:cs typeface="Microsoft JhengHei"/>
              </a:rPr>
              <a:t>就代幣部位異動指示等交易執行私鑰簽章。</a:t>
            </a:r>
            <a:endParaRPr sz="1600">
              <a:latin typeface="Microsoft JhengHei"/>
              <a:cs typeface="Microsoft JhengHe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38752" y="2036073"/>
            <a:ext cx="819260" cy="83831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691755" y="2934716"/>
            <a:ext cx="9169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Microsoft JhengHei"/>
                <a:cs typeface="Microsoft JhengHei"/>
              </a:rPr>
              <a:t>區塊鏈底層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059172" y="1998979"/>
            <a:ext cx="2577465" cy="847090"/>
          </a:xfrm>
          <a:custGeom>
            <a:avLst/>
            <a:gdLst/>
            <a:ahLst/>
            <a:cxnLst/>
            <a:rect l="l" t="t" r="r" b="b"/>
            <a:pathLst>
              <a:path w="2577465" h="847089">
                <a:moveTo>
                  <a:pt x="787146" y="131191"/>
                </a:moveTo>
                <a:lnTo>
                  <a:pt x="776833" y="80111"/>
                </a:lnTo>
                <a:lnTo>
                  <a:pt x="748741" y="38404"/>
                </a:lnTo>
                <a:lnTo>
                  <a:pt x="707034" y="10312"/>
                </a:lnTo>
                <a:lnTo>
                  <a:pt x="655955" y="0"/>
                </a:lnTo>
                <a:lnTo>
                  <a:pt x="131191" y="0"/>
                </a:lnTo>
                <a:lnTo>
                  <a:pt x="80149" y="10312"/>
                </a:lnTo>
                <a:lnTo>
                  <a:pt x="38442" y="38404"/>
                </a:lnTo>
                <a:lnTo>
                  <a:pt x="10312" y="80111"/>
                </a:lnTo>
                <a:lnTo>
                  <a:pt x="0" y="131191"/>
                </a:lnTo>
                <a:lnTo>
                  <a:pt x="0" y="715772"/>
                </a:lnTo>
                <a:lnTo>
                  <a:pt x="10312" y="766864"/>
                </a:lnTo>
                <a:lnTo>
                  <a:pt x="38442" y="808570"/>
                </a:lnTo>
                <a:lnTo>
                  <a:pt x="80149" y="836663"/>
                </a:lnTo>
                <a:lnTo>
                  <a:pt x="131191" y="846963"/>
                </a:lnTo>
                <a:lnTo>
                  <a:pt x="655955" y="846963"/>
                </a:lnTo>
                <a:lnTo>
                  <a:pt x="707034" y="836663"/>
                </a:lnTo>
                <a:lnTo>
                  <a:pt x="748741" y="808570"/>
                </a:lnTo>
                <a:lnTo>
                  <a:pt x="776833" y="766864"/>
                </a:lnTo>
                <a:lnTo>
                  <a:pt x="787146" y="715772"/>
                </a:lnTo>
                <a:lnTo>
                  <a:pt x="787146" y="131191"/>
                </a:lnTo>
                <a:close/>
              </a:path>
              <a:path w="2577465" h="847089">
                <a:moveTo>
                  <a:pt x="2577084" y="450596"/>
                </a:moveTo>
                <a:lnTo>
                  <a:pt x="2548991" y="436689"/>
                </a:lnTo>
                <a:lnTo>
                  <a:pt x="2491232" y="408051"/>
                </a:lnTo>
                <a:lnTo>
                  <a:pt x="2491308" y="436689"/>
                </a:lnTo>
                <a:lnTo>
                  <a:pt x="808863" y="442722"/>
                </a:lnTo>
                <a:lnTo>
                  <a:pt x="808990" y="471297"/>
                </a:lnTo>
                <a:lnTo>
                  <a:pt x="2491397" y="465264"/>
                </a:lnTo>
                <a:lnTo>
                  <a:pt x="2491486" y="493776"/>
                </a:lnTo>
                <a:lnTo>
                  <a:pt x="2548026" y="465264"/>
                </a:lnTo>
                <a:lnTo>
                  <a:pt x="2577084" y="45059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585707" y="2220595"/>
            <a:ext cx="17354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0000"/>
                </a:solidFill>
                <a:latin typeface="Microsoft JhengHei"/>
                <a:cs typeface="Microsoft JhengHei"/>
              </a:rPr>
              <a:t>⑤ </a:t>
            </a:r>
            <a:r>
              <a:rPr dirty="0" sz="1400" spc="-10" b="1">
                <a:latin typeface="Microsoft JhengHei"/>
                <a:cs typeface="Microsoft JhengHei"/>
              </a:rPr>
              <a:t>共識驗證記入帳本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83963" y="2930779"/>
            <a:ext cx="12084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Microsoft JhengHei"/>
                <a:cs typeface="Microsoft JhengHei"/>
              </a:rPr>
              <a:t>RWA</a:t>
            </a:r>
            <a:r>
              <a:rPr dirty="0" sz="1400" spc="-30" b="1">
                <a:latin typeface="Microsoft JhengHei"/>
                <a:cs typeface="Microsoft JhengHei"/>
              </a:rPr>
              <a:t> 代幣平台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07667" y="2908554"/>
            <a:ext cx="11918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50" b="1">
                <a:latin typeface="Microsoft JhengHei"/>
                <a:cs typeface="Microsoft JhengHei"/>
              </a:rPr>
              <a:t>使用單位(註</a:t>
            </a:r>
            <a:r>
              <a:rPr dirty="0" sz="1400" spc="-25" b="1">
                <a:latin typeface="Microsoft JhengHei"/>
                <a:cs typeface="Microsoft JhengHei"/>
              </a:rPr>
              <a:t>1)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478785" y="2403729"/>
            <a:ext cx="2400935" cy="85725"/>
          </a:xfrm>
          <a:custGeom>
            <a:avLst/>
            <a:gdLst/>
            <a:ahLst/>
            <a:cxnLst/>
            <a:rect l="l" t="t" r="r" b="b"/>
            <a:pathLst>
              <a:path w="2400935" h="85725">
                <a:moveTo>
                  <a:pt x="2372592" y="28448"/>
                </a:moveTo>
                <a:lnTo>
                  <a:pt x="2328926" y="28448"/>
                </a:lnTo>
                <a:lnTo>
                  <a:pt x="2329046" y="42037"/>
                </a:lnTo>
                <a:lnTo>
                  <a:pt x="2329128" y="51181"/>
                </a:lnTo>
                <a:lnTo>
                  <a:pt x="2329179" y="57023"/>
                </a:lnTo>
                <a:lnTo>
                  <a:pt x="2314829" y="57163"/>
                </a:lnTo>
                <a:lnTo>
                  <a:pt x="2315029" y="79756"/>
                </a:lnTo>
                <a:lnTo>
                  <a:pt x="2315083" y="85725"/>
                </a:lnTo>
                <a:lnTo>
                  <a:pt x="2400427" y="42037"/>
                </a:lnTo>
                <a:lnTo>
                  <a:pt x="2372592" y="28448"/>
                </a:lnTo>
                <a:close/>
              </a:path>
              <a:path w="2400935" h="85725">
                <a:moveTo>
                  <a:pt x="2314575" y="28588"/>
                </a:moveTo>
                <a:lnTo>
                  <a:pt x="0" y="51181"/>
                </a:lnTo>
                <a:lnTo>
                  <a:pt x="253" y="79756"/>
                </a:lnTo>
                <a:lnTo>
                  <a:pt x="2314829" y="57163"/>
                </a:lnTo>
                <a:lnTo>
                  <a:pt x="2314775" y="51181"/>
                </a:lnTo>
                <a:lnTo>
                  <a:pt x="2314694" y="42037"/>
                </a:lnTo>
                <a:lnTo>
                  <a:pt x="2314575" y="28588"/>
                </a:lnTo>
                <a:close/>
              </a:path>
              <a:path w="2400935" h="85725">
                <a:moveTo>
                  <a:pt x="2328926" y="28448"/>
                </a:moveTo>
                <a:lnTo>
                  <a:pt x="2314575" y="28588"/>
                </a:lnTo>
                <a:lnTo>
                  <a:pt x="2314694" y="42037"/>
                </a:lnTo>
                <a:lnTo>
                  <a:pt x="2314775" y="51181"/>
                </a:lnTo>
                <a:lnTo>
                  <a:pt x="2314829" y="57163"/>
                </a:lnTo>
                <a:lnTo>
                  <a:pt x="2329179" y="57023"/>
                </a:lnTo>
                <a:lnTo>
                  <a:pt x="2329128" y="51181"/>
                </a:lnTo>
                <a:lnTo>
                  <a:pt x="2329046" y="42037"/>
                </a:lnTo>
                <a:lnTo>
                  <a:pt x="2328926" y="28448"/>
                </a:lnTo>
                <a:close/>
              </a:path>
              <a:path w="2400935" h="85725">
                <a:moveTo>
                  <a:pt x="2314321" y="0"/>
                </a:moveTo>
                <a:lnTo>
                  <a:pt x="2314573" y="28448"/>
                </a:lnTo>
                <a:lnTo>
                  <a:pt x="2314575" y="28588"/>
                </a:lnTo>
                <a:lnTo>
                  <a:pt x="2372592" y="28448"/>
                </a:lnTo>
                <a:lnTo>
                  <a:pt x="231432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551938" y="2067814"/>
            <a:ext cx="23882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543" sz="2700" spc="7" b="1">
                <a:solidFill>
                  <a:srgbClr val="FF0000"/>
                </a:solidFill>
                <a:latin typeface="Microsoft JhengHei"/>
                <a:cs typeface="Microsoft JhengHei"/>
              </a:rPr>
              <a:t>③ </a:t>
            </a:r>
            <a:r>
              <a:rPr dirty="0" sz="1400" spc="-10" b="1">
                <a:latin typeface="Microsoft JhengHei"/>
                <a:cs typeface="Microsoft JhengHei"/>
              </a:rPr>
              <a:t>API</a:t>
            </a:r>
            <a:r>
              <a:rPr dirty="0" sz="1400" spc="-5" b="1">
                <a:latin typeface="Microsoft JhengHei"/>
                <a:cs typeface="Microsoft JhengHei"/>
              </a:rPr>
              <a:t>提交已簽署之交易指示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98109" y="2252294"/>
            <a:ext cx="4876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RWA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957061" y="2074290"/>
            <a:ext cx="15836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4629" sz="2700" spc="142" b="1">
                <a:solidFill>
                  <a:srgbClr val="FF0000"/>
                </a:solidFill>
                <a:latin typeface="Microsoft JhengHei"/>
                <a:cs typeface="Microsoft JhengHei"/>
              </a:rPr>
              <a:t>④ </a:t>
            </a:r>
            <a:r>
              <a:rPr dirty="0" sz="1400" spc="-10" b="1">
                <a:latin typeface="Microsoft JhengHei"/>
                <a:cs typeface="Microsoft JhengHei"/>
              </a:rPr>
              <a:t>提交已簽署交易</a:t>
            </a:r>
            <a:endParaRPr sz="1400">
              <a:latin typeface="Microsoft JhengHei"/>
              <a:cs typeface="Microsoft JhengHe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529590" y="2000383"/>
            <a:ext cx="829310" cy="848360"/>
            <a:chOff x="1529590" y="2000383"/>
            <a:chExt cx="829310" cy="848360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9590" y="2000383"/>
              <a:ext cx="828796" cy="847842"/>
            </a:xfrm>
            <a:prstGeom prst="rect">
              <a:avLst/>
            </a:prstGeom>
          </p:spPr>
        </p:pic>
        <p:pic>
          <p:nvPicPr>
            <p:cNvPr id="27" name="object 27" descr="一張含有 行 的圖片  AI 產生的內容可能不正確。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4941" y="2140978"/>
              <a:ext cx="502018" cy="502018"/>
            </a:xfrm>
            <a:prstGeom prst="rect">
              <a:avLst/>
            </a:prstGeom>
          </p:spPr>
        </p:pic>
      </p:grp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三、使用單位自行保管私鑰</a:t>
            </a:r>
            <a:r>
              <a:rPr dirty="0" baseline="-8385" sz="3975" spc="-30"/>
              <a:t>(續)</a:t>
            </a:r>
            <a:endParaRPr baseline="-8385" sz="3975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6814" y="4424184"/>
            <a:ext cx="809739" cy="8573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55241" y="5299328"/>
            <a:ext cx="10953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Microsoft JhengHei"/>
                <a:cs typeface="Microsoft JhengHei"/>
              </a:rPr>
              <a:t>私鑰保管設備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1492" y="4141444"/>
            <a:ext cx="2864485" cy="1683385"/>
          </a:xfrm>
          <a:custGeom>
            <a:avLst/>
            <a:gdLst/>
            <a:ahLst/>
            <a:cxnLst/>
            <a:rect l="l" t="t" r="r" b="b"/>
            <a:pathLst>
              <a:path w="2864485" h="1683385">
                <a:moveTo>
                  <a:pt x="0" y="1683004"/>
                </a:moveTo>
                <a:lnTo>
                  <a:pt x="2864485" y="1683004"/>
                </a:lnTo>
                <a:lnTo>
                  <a:pt x="2864485" y="0"/>
                </a:lnTo>
                <a:lnTo>
                  <a:pt x="0" y="0"/>
                </a:lnTo>
                <a:lnTo>
                  <a:pt x="0" y="1683004"/>
                </a:lnTo>
                <a:close/>
              </a:path>
            </a:pathLst>
          </a:custGeom>
          <a:ln w="25399">
            <a:solidFill>
              <a:srgbClr val="EC7C3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59865" y="3681221"/>
            <a:ext cx="7391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5" b="1">
                <a:latin typeface="Microsoft JhengHei"/>
                <a:cs typeface="Microsoft JhengHei"/>
              </a:rPr>
              <a:t>簽章請求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6723" y="3546094"/>
            <a:ext cx="6311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543" sz="2700" spc="232" b="1">
                <a:solidFill>
                  <a:srgbClr val="FF0000"/>
                </a:solidFill>
                <a:latin typeface="Microsoft JhengHei"/>
                <a:cs typeface="Microsoft JhengHei"/>
              </a:rPr>
              <a:t>④</a:t>
            </a:r>
            <a:r>
              <a:rPr dirty="0" sz="1400" spc="-25" b="1">
                <a:latin typeface="Microsoft JhengHei"/>
                <a:cs typeface="Microsoft JhengHei"/>
              </a:rPr>
              <a:t>簽章</a:t>
            </a:r>
            <a:endParaRPr sz="1400">
              <a:latin typeface="Microsoft JhengHei"/>
              <a:cs typeface="Microsoft JhengHe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14717" y="3292475"/>
            <a:ext cx="1438275" cy="1047750"/>
            <a:chOff x="714717" y="3292475"/>
            <a:chExt cx="1438275" cy="1047750"/>
          </a:xfrm>
        </p:grpSpPr>
        <p:sp>
          <p:nvSpPr>
            <p:cNvPr id="9" name="object 9"/>
            <p:cNvSpPr/>
            <p:nvPr/>
          </p:nvSpPr>
          <p:spPr>
            <a:xfrm>
              <a:off x="1911858" y="3292474"/>
              <a:ext cx="241300" cy="1036955"/>
            </a:xfrm>
            <a:custGeom>
              <a:avLst/>
              <a:gdLst/>
              <a:ahLst/>
              <a:cxnLst/>
              <a:rect l="l" t="t" r="r" b="b"/>
              <a:pathLst>
                <a:path w="241300" h="1036954">
                  <a:moveTo>
                    <a:pt x="85725" y="950722"/>
                  </a:moveTo>
                  <a:lnTo>
                    <a:pt x="57150" y="950722"/>
                  </a:lnTo>
                  <a:lnTo>
                    <a:pt x="57150" y="30480"/>
                  </a:lnTo>
                  <a:lnTo>
                    <a:pt x="28575" y="30480"/>
                  </a:lnTo>
                  <a:lnTo>
                    <a:pt x="28575" y="950722"/>
                  </a:lnTo>
                  <a:lnTo>
                    <a:pt x="0" y="950722"/>
                  </a:lnTo>
                  <a:lnTo>
                    <a:pt x="42926" y="1036447"/>
                  </a:lnTo>
                  <a:lnTo>
                    <a:pt x="78613" y="964946"/>
                  </a:lnTo>
                  <a:lnTo>
                    <a:pt x="85725" y="950722"/>
                  </a:lnTo>
                  <a:close/>
                </a:path>
                <a:path w="241300" h="1036954">
                  <a:moveTo>
                    <a:pt x="241046" y="85725"/>
                  </a:moveTo>
                  <a:lnTo>
                    <a:pt x="233857" y="71374"/>
                  </a:lnTo>
                  <a:lnTo>
                    <a:pt x="198120" y="0"/>
                  </a:lnTo>
                  <a:lnTo>
                    <a:pt x="155321" y="85725"/>
                  </a:lnTo>
                  <a:lnTo>
                    <a:pt x="183896" y="85725"/>
                  </a:lnTo>
                  <a:lnTo>
                    <a:pt x="183896" y="1033399"/>
                  </a:lnTo>
                  <a:lnTo>
                    <a:pt x="212471" y="1033399"/>
                  </a:lnTo>
                  <a:lnTo>
                    <a:pt x="212471" y="85725"/>
                  </a:lnTo>
                  <a:lnTo>
                    <a:pt x="241046" y="85725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14717" y="3970769"/>
              <a:ext cx="1101090" cy="369570"/>
            </a:xfrm>
            <a:custGeom>
              <a:avLst/>
              <a:gdLst/>
              <a:ahLst/>
              <a:cxnLst/>
              <a:rect l="l" t="t" r="r" b="b"/>
              <a:pathLst>
                <a:path w="1101089" h="369570">
                  <a:moveTo>
                    <a:pt x="1100582" y="0"/>
                  </a:moveTo>
                  <a:lnTo>
                    <a:pt x="0" y="0"/>
                  </a:lnTo>
                  <a:lnTo>
                    <a:pt x="0" y="369328"/>
                  </a:lnTo>
                  <a:lnTo>
                    <a:pt x="1100582" y="369328"/>
                  </a:lnTo>
                  <a:lnTo>
                    <a:pt x="11005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93495" y="3998721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 b="1">
                <a:solidFill>
                  <a:srgbClr val="EC7C30"/>
                </a:solidFill>
                <a:latin typeface="Microsoft JhengHei"/>
                <a:cs typeface="Microsoft JhengHei"/>
              </a:rPr>
              <a:t>使用單位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0216" y="3417265"/>
            <a:ext cx="110426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9320" sz="2700" spc="165" b="1">
                <a:solidFill>
                  <a:srgbClr val="FF0000"/>
                </a:solidFill>
                <a:latin typeface="Microsoft JhengHei"/>
                <a:cs typeface="Microsoft JhengHei"/>
              </a:rPr>
              <a:t>③ </a:t>
            </a:r>
            <a:r>
              <a:rPr dirty="0" sz="1400" spc="-15" b="1">
                <a:latin typeface="Microsoft JhengHei"/>
                <a:cs typeface="Microsoft JhengHei"/>
              </a:rPr>
              <a:t>交割指示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72810" y="4153661"/>
            <a:ext cx="5705475" cy="1000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>
                <a:latin typeface="Microsoft JhengHei"/>
                <a:cs typeface="Microsoft JhengHei"/>
              </a:rPr>
              <a:t>註：</a:t>
            </a:r>
            <a:endParaRPr sz="1600">
              <a:latin typeface="Microsoft JhengHei"/>
              <a:cs typeface="Microsoft JhengHei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1600" spc="-25">
                <a:latin typeface="Microsoft JhengHei"/>
                <a:cs typeface="Microsoft JhengHei"/>
              </a:rPr>
              <a:t>使用單位自</a:t>
            </a:r>
            <a:r>
              <a:rPr dirty="0" sz="1600" spc="-40">
                <a:latin typeface="Microsoft JhengHei"/>
                <a:cs typeface="Microsoft JhengHei"/>
              </a:rPr>
              <a:t>RWA</a:t>
            </a:r>
            <a:r>
              <a:rPr dirty="0" sz="1600" spc="-30">
                <a:latin typeface="Microsoft JhengHei"/>
                <a:cs typeface="Microsoft JhengHei"/>
              </a:rPr>
              <a:t>平台手動下載待簽章指示，再以自行開發之</a:t>
            </a:r>
            <a:endParaRPr sz="1600">
              <a:latin typeface="Microsoft JhengHei"/>
              <a:cs typeface="Microsoft JhengHei"/>
            </a:endParaRPr>
          </a:p>
          <a:p>
            <a:pPr marL="355600">
              <a:lnSpc>
                <a:spcPct val="100000"/>
              </a:lnSpc>
            </a:pPr>
            <a:r>
              <a:rPr dirty="0" sz="1600" spc="-20">
                <a:latin typeface="Microsoft JhengHei"/>
                <a:cs typeface="Microsoft JhengHei"/>
              </a:rPr>
              <a:t>API</a:t>
            </a:r>
            <a:r>
              <a:rPr dirty="0" sz="1600" spc="-25">
                <a:latin typeface="Microsoft JhengHei"/>
                <a:cs typeface="Microsoft JhengHei"/>
              </a:rPr>
              <a:t>或</a:t>
            </a:r>
            <a:r>
              <a:rPr dirty="0" sz="1600" spc="-20">
                <a:latin typeface="Microsoft JhengHei"/>
                <a:cs typeface="Microsoft JhengHei"/>
              </a:rPr>
              <a:t>WEB</a:t>
            </a:r>
            <a:r>
              <a:rPr dirty="0" sz="1600" spc="-30">
                <a:latin typeface="Microsoft JhengHei"/>
                <a:cs typeface="Microsoft JhengHei"/>
              </a:rPr>
              <a:t>介面呼叫內部金鑰保管設備，提交簽章請求。</a:t>
            </a:r>
            <a:endParaRPr sz="1600">
              <a:latin typeface="Microsoft JhengHei"/>
              <a:cs typeface="Microsoft JhengHei"/>
            </a:endParaRPr>
          </a:p>
          <a:p>
            <a:pPr marL="354965" indent="-342265">
              <a:lnSpc>
                <a:spcPct val="100000"/>
              </a:lnSpc>
              <a:buAutoNum type="arabicPeriod" startAt="2"/>
              <a:tabLst>
                <a:tab pos="354965" algn="l"/>
              </a:tabLst>
            </a:pPr>
            <a:r>
              <a:rPr dirty="0" sz="1600" spc="-25">
                <a:latin typeface="Microsoft JhengHei"/>
                <a:cs typeface="Microsoft JhengHei"/>
              </a:rPr>
              <a:t>使用單位將已簽署交易檔案，手動上傳至 </a:t>
            </a:r>
            <a:r>
              <a:rPr dirty="0" sz="1600">
                <a:latin typeface="Microsoft JhengHei"/>
                <a:cs typeface="Microsoft JhengHei"/>
              </a:rPr>
              <a:t>RWA</a:t>
            </a:r>
            <a:r>
              <a:rPr dirty="0" sz="1600" spc="-25">
                <a:latin typeface="Microsoft JhengHei"/>
                <a:cs typeface="Microsoft JhengHei"/>
              </a:rPr>
              <a:t> 代幣平台。</a:t>
            </a:r>
            <a:endParaRPr sz="1600">
              <a:latin typeface="Microsoft JhengHei"/>
              <a:cs typeface="Microsoft JhengHe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36440" y="2036073"/>
            <a:ext cx="819260" cy="83831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989189" y="2934716"/>
            <a:ext cx="9169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Microsoft JhengHei"/>
                <a:cs typeface="Microsoft JhengHei"/>
              </a:rPr>
              <a:t>區塊鏈底層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356987" y="1998979"/>
            <a:ext cx="2577465" cy="847090"/>
          </a:xfrm>
          <a:custGeom>
            <a:avLst/>
            <a:gdLst/>
            <a:ahLst/>
            <a:cxnLst/>
            <a:rect l="l" t="t" r="r" b="b"/>
            <a:pathLst>
              <a:path w="2577465" h="847089">
                <a:moveTo>
                  <a:pt x="787146" y="131191"/>
                </a:moveTo>
                <a:lnTo>
                  <a:pt x="776820" y="80111"/>
                </a:lnTo>
                <a:lnTo>
                  <a:pt x="748690" y="38404"/>
                </a:lnTo>
                <a:lnTo>
                  <a:pt x="706983" y="10312"/>
                </a:lnTo>
                <a:lnTo>
                  <a:pt x="655955" y="0"/>
                </a:lnTo>
                <a:lnTo>
                  <a:pt x="131191" y="0"/>
                </a:lnTo>
                <a:lnTo>
                  <a:pt x="80098" y="10312"/>
                </a:lnTo>
                <a:lnTo>
                  <a:pt x="38392" y="38404"/>
                </a:lnTo>
                <a:lnTo>
                  <a:pt x="10299" y="80111"/>
                </a:lnTo>
                <a:lnTo>
                  <a:pt x="0" y="131191"/>
                </a:lnTo>
                <a:lnTo>
                  <a:pt x="0" y="715772"/>
                </a:lnTo>
                <a:lnTo>
                  <a:pt x="10299" y="766864"/>
                </a:lnTo>
                <a:lnTo>
                  <a:pt x="38392" y="808570"/>
                </a:lnTo>
                <a:lnTo>
                  <a:pt x="80098" y="836663"/>
                </a:lnTo>
                <a:lnTo>
                  <a:pt x="131191" y="846963"/>
                </a:lnTo>
                <a:lnTo>
                  <a:pt x="655955" y="846963"/>
                </a:lnTo>
                <a:lnTo>
                  <a:pt x="706983" y="836663"/>
                </a:lnTo>
                <a:lnTo>
                  <a:pt x="748690" y="808570"/>
                </a:lnTo>
                <a:lnTo>
                  <a:pt x="776820" y="766864"/>
                </a:lnTo>
                <a:lnTo>
                  <a:pt x="787146" y="715772"/>
                </a:lnTo>
                <a:lnTo>
                  <a:pt x="787146" y="131191"/>
                </a:lnTo>
                <a:close/>
              </a:path>
              <a:path w="2577465" h="847089">
                <a:moveTo>
                  <a:pt x="2576957" y="450596"/>
                </a:moveTo>
                <a:lnTo>
                  <a:pt x="2548864" y="436689"/>
                </a:lnTo>
                <a:lnTo>
                  <a:pt x="2491105" y="408051"/>
                </a:lnTo>
                <a:lnTo>
                  <a:pt x="2491181" y="436689"/>
                </a:lnTo>
                <a:lnTo>
                  <a:pt x="808736" y="442722"/>
                </a:lnTo>
                <a:lnTo>
                  <a:pt x="808863" y="471297"/>
                </a:lnTo>
                <a:lnTo>
                  <a:pt x="2491270" y="465264"/>
                </a:lnTo>
                <a:lnTo>
                  <a:pt x="2491359" y="493776"/>
                </a:lnTo>
                <a:lnTo>
                  <a:pt x="2547899" y="465264"/>
                </a:lnTo>
                <a:lnTo>
                  <a:pt x="2576957" y="45059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883142" y="2220595"/>
            <a:ext cx="173608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0000"/>
                </a:solidFill>
                <a:latin typeface="Microsoft JhengHei"/>
                <a:cs typeface="Microsoft JhengHei"/>
              </a:rPr>
              <a:t>⑦ </a:t>
            </a:r>
            <a:r>
              <a:rPr dirty="0" sz="1400" spc="-10" b="1">
                <a:latin typeface="Microsoft JhengHei"/>
                <a:cs typeface="Microsoft JhengHei"/>
              </a:rPr>
              <a:t>共識驗證記入帳本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81778" y="2930779"/>
            <a:ext cx="12084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Microsoft JhengHei"/>
                <a:cs typeface="Microsoft JhengHei"/>
              </a:rPr>
              <a:t>RWA</a:t>
            </a:r>
            <a:r>
              <a:rPr dirty="0" sz="1400" spc="-30" b="1">
                <a:latin typeface="Microsoft JhengHei"/>
                <a:cs typeface="Microsoft JhengHei"/>
              </a:rPr>
              <a:t> 代幣平台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61642" y="2908554"/>
            <a:ext cx="108521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35" b="1">
                <a:latin typeface="Microsoft JhengHei"/>
                <a:cs typeface="Microsoft JhengHei"/>
              </a:rPr>
              <a:t>使用單位(註)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478785" y="2040508"/>
            <a:ext cx="2400935" cy="85725"/>
          </a:xfrm>
          <a:custGeom>
            <a:avLst/>
            <a:gdLst/>
            <a:ahLst/>
            <a:cxnLst/>
            <a:rect l="l" t="t" r="r" b="b"/>
            <a:pathLst>
              <a:path w="2400935" h="85725">
                <a:moveTo>
                  <a:pt x="2372592" y="28448"/>
                </a:moveTo>
                <a:lnTo>
                  <a:pt x="2328926" y="28448"/>
                </a:lnTo>
                <a:lnTo>
                  <a:pt x="2329046" y="42037"/>
                </a:lnTo>
                <a:lnTo>
                  <a:pt x="2329126" y="51053"/>
                </a:lnTo>
                <a:lnTo>
                  <a:pt x="2329179" y="57023"/>
                </a:lnTo>
                <a:lnTo>
                  <a:pt x="2314829" y="57162"/>
                </a:lnTo>
                <a:lnTo>
                  <a:pt x="2315028" y="79628"/>
                </a:lnTo>
                <a:lnTo>
                  <a:pt x="2315083" y="85725"/>
                </a:lnTo>
                <a:lnTo>
                  <a:pt x="2400427" y="42037"/>
                </a:lnTo>
                <a:lnTo>
                  <a:pt x="2372592" y="28448"/>
                </a:lnTo>
                <a:close/>
              </a:path>
              <a:path w="2400935" h="85725">
                <a:moveTo>
                  <a:pt x="2314575" y="28587"/>
                </a:moveTo>
                <a:lnTo>
                  <a:pt x="0" y="51053"/>
                </a:lnTo>
                <a:lnTo>
                  <a:pt x="253" y="79628"/>
                </a:lnTo>
                <a:lnTo>
                  <a:pt x="2314829" y="57162"/>
                </a:lnTo>
                <a:lnTo>
                  <a:pt x="2314774" y="51053"/>
                </a:lnTo>
                <a:lnTo>
                  <a:pt x="2314694" y="42037"/>
                </a:lnTo>
                <a:lnTo>
                  <a:pt x="2314575" y="28587"/>
                </a:lnTo>
                <a:close/>
              </a:path>
              <a:path w="2400935" h="85725">
                <a:moveTo>
                  <a:pt x="2328926" y="28448"/>
                </a:moveTo>
                <a:lnTo>
                  <a:pt x="2314575" y="28587"/>
                </a:lnTo>
                <a:lnTo>
                  <a:pt x="2314694" y="42037"/>
                </a:lnTo>
                <a:lnTo>
                  <a:pt x="2314774" y="51053"/>
                </a:lnTo>
                <a:lnTo>
                  <a:pt x="2314829" y="57162"/>
                </a:lnTo>
                <a:lnTo>
                  <a:pt x="2329179" y="57023"/>
                </a:lnTo>
                <a:lnTo>
                  <a:pt x="2329126" y="51053"/>
                </a:lnTo>
                <a:lnTo>
                  <a:pt x="2329046" y="42037"/>
                </a:lnTo>
                <a:lnTo>
                  <a:pt x="2328926" y="28448"/>
                </a:lnTo>
                <a:close/>
              </a:path>
              <a:path w="2400935" h="85725">
                <a:moveTo>
                  <a:pt x="2314321" y="0"/>
                </a:moveTo>
                <a:lnTo>
                  <a:pt x="2314573" y="28448"/>
                </a:lnTo>
                <a:lnTo>
                  <a:pt x="2314575" y="28587"/>
                </a:lnTo>
                <a:lnTo>
                  <a:pt x="2372592" y="28448"/>
                </a:lnTo>
                <a:lnTo>
                  <a:pt x="231432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495925" y="2252294"/>
            <a:ext cx="4876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RWA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75959" y="2074290"/>
            <a:ext cx="15627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4629" sz="2700" spc="15" b="1">
                <a:solidFill>
                  <a:srgbClr val="FF0000"/>
                </a:solidFill>
                <a:latin typeface="Microsoft JhengHei"/>
                <a:cs typeface="Microsoft JhengHei"/>
              </a:rPr>
              <a:t>⑥ </a:t>
            </a:r>
            <a:r>
              <a:rPr dirty="0" sz="1400" spc="-10" b="1">
                <a:latin typeface="Microsoft JhengHei"/>
                <a:cs typeface="Microsoft JhengHei"/>
              </a:rPr>
              <a:t>提交已簽署交易</a:t>
            </a:r>
            <a:endParaRPr sz="1400">
              <a:latin typeface="Microsoft JhengHei"/>
              <a:cs typeface="Microsoft JhengHe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529590" y="2000383"/>
            <a:ext cx="829310" cy="848360"/>
            <a:chOff x="1529590" y="2000383"/>
            <a:chExt cx="829310" cy="848360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9590" y="2000383"/>
              <a:ext cx="828796" cy="847842"/>
            </a:xfrm>
            <a:prstGeom prst="rect">
              <a:avLst/>
            </a:prstGeom>
          </p:spPr>
        </p:pic>
        <p:pic>
          <p:nvPicPr>
            <p:cNvPr id="25" name="object 25" descr="一張含有 行 的圖片  AI 產生的內容可能不正確。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4941" y="2140978"/>
              <a:ext cx="502018" cy="50201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313740" y="985519"/>
            <a:ext cx="6863715" cy="10191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200" spc="-35">
                <a:latin typeface="Microsoft JhengHei"/>
                <a:cs typeface="Microsoft JhengHei"/>
              </a:rPr>
              <a:t>情境二：以</a:t>
            </a:r>
            <a:r>
              <a:rPr dirty="0" sz="2200" spc="-50">
                <a:latin typeface="Microsoft JhengHei"/>
                <a:cs typeface="Microsoft JhengHei"/>
              </a:rPr>
              <a:t>RWA</a:t>
            </a:r>
            <a:r>
              <a:rPr dirty="0" sz="2200" spc="-30">
                <a:latin typeface="Microsoft JhengHei"/>
                <a:cs typeface="Microsoft JhengHei"/>
              </a:rPr>
              <a:t>代幣平台</a:t>
            </a:r>
            <a:r>
              <a:rPr dirty="0" sz="2200" spc="-35">
                <a:latin typeface="Microsoft JhengHei"/>
                <a:cs typeface="Microsoft JhengHei"/>
              </a:rPr>
              <a:t>Web介面輸入交割指示為例</a:t>
            </a:r>
            <a:endParaRPr sz="2200">
              <a:latin typeface="Microsoft JhengHei"/>
              <a:cs typeface="Microsoft JhengHei"/>
            </a:endParaRPr>
          </a:p>
          <a:p>
            <a:pPr algn="ctr" marR="564515">
              <a:lnSpc>
                <a:spcPct val="100000"/>
              </a:lnSpc>
              <a:spcBef>
                <a:spcPts val="3025"/>
              </a:spcBef>
            </a:pPr>
            <a:r>
              <a:rPr dirty="0" baseline="1543" sz="2700" spc="7" b="1">
                <a:solidFill>
                  <a:srgbClr val="FF0000"/>
                </a:solidFill>
                <a:latin typeface="Microsoft JhengHei"/>
                <a:cs typeface="Microsoft JhengHei"/>
              </a:rPr>
              <a:t>① </a:t>
            </a:r>
            <a:r>
              <a:rPr dirty="0" sz="1400" spc="-20" b="1">
                <a:latin typeface="Microsoft JhengHei"/>
                <a:cs typeface="Microsoft JhengHei"/>
              </a:rPr>
              <a:t>Web</a:t>
            </a:r>
            <a:r>
              <a:rPr dirty="0" sz="1400" spc="-15" b="1">
                <a:latin typeface="Microsoft JhengHei"/>
                <a:cs typeface="Microsoft JhengHei"/>
              </a:rPr>
              <a:t>介面輸入交割指示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496566" y="2370963"/>
            <a:ext cx="2402205" cy="85725"/>
          </a:xfrm>
          <a:custGeom>
            <a:avLst/>
            <a:gdLst/>
            <a:ahLst/>
            <a:cxnLst/>
            <a:rect l="l" t="t" r="r" b="b"/>
            <a:pathLst>
              <a:path w="2402204" h="85725">
                <a:moveTo>
                  <a:pt x="85470" y="0"/>
                </a:moveTo>
                <a:lnTo>
                  <a:pt x="0" y="43434"/>
                </a:lnTo>
                <a:lnTo>
                  <a:pt x="85978" y="85725"/>
                </a:lnTo>
                <a:lnTo>
                  <a:pt x="85809" y="57150"/>
                </a:lnTo>
                <a:lnTo>
                  <a:pt x="71500" y="57150"/>
                </a:lnTo>
                <a:lnTo>
                  <a:pt x="71430" y="41275"/>
                </a:lnTo>
                <a:lnTo>
                  <a:pt x="71373" y="28575"/>
                </a:lnTo>
                <a:lnTo>
                  <a:pt x="85640" y="28575"/>
                </a:lnTo>
                <a:lnTo>
                  <a:pt x="85546" y="12700"/>
                </a:lnTo>
                <a:lnTo>
                  <a:pt x="85470" y="0"/>
                </a:lnTo>
                <a:close/>
              </a:path>
              <a:path w="2402204" h="85725">
                <a:moveTo>
                  <a:pt x="2401570" y="12700"/>
                </a:moveTo>
                <a:lnTo>
                  <a:pt x="71373" y="28575"/>
                </a:lnTo>
                <a:lnTo>
                  <a:pt x="71430" y="41275"/>
                </a:lnTo>
                <a:lnTo>
                  <a:pt x="71500" y="57150"/>
                </a:lnTo>
                <a:lnTo>
                  <a:pt x="85809" y="57150"/>
                </a:lnTo>
                <a:lnTo>
                  <a:pt x="85715" y="41275"/>
                </a:lnTo>
                <a:lnTo>
                  <a:pt x="85640" y="28575"/>
                </a:lnTo>
                <a:lnTo>
                  <a:pt x="2401711" y="28575"/>
                </a:lnTo>
                <a:lnTo>
                  <a:pt x="2401570" y="12700"/>
                </a:lnTo>
                <a:close/>
              </a:path>
              <a:path w="2402204" h="85725">
                <a:moveTo>
                  <a:pt x="2401711" y="28575"/>
                </a:moveTo>
                <a:lnTo>
                  <a:pt x="85640" y="28575"/>
                </a:lnTo>
                <a:lnTo>
                  <a:pt x="85715" y="41275"/>
                </a:lnTo>
                <a:lnTo>
                  <a:pt x="85809" y="57150"/>
                </a:lnTo>
                <a:lnTo>
                  <a:pt x="71501" y="57150"/>
                </a:lnTo>
                <a:lnTo>
                  <a:pt x="2401823" y="41275"/>
                </a:lnTo>
                <a:lnTo>
                  <a:pt x="2401711" y="2857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518029" y="2723133"/>
            <a:ext cx="2400935" cy="85725"/>
          </a:xfrm>
          <a:custGeom>
            <a:avLst/>
            <a:gdLst/>
            <a:ahLst/>
            <a:cxnLst/>
            <a:rect l="l" t="t" r="r" b="b"/>
            <a:pathLst>
              <a:path w="2400935" h="85725">
                <a:moveTo>
                  <a:pt x="2372507" y="28320"/>
                </a:moveTo>
                <a:lnTo>
                  <a:pt x="2328925" y="28320"/>
                </a:lnTo>
                <a:lnTo>
                  <a:pt x="2329046" y="41910"/>
                </a:lnTo>
                <a:lnTo>
                  <a:pt x="2329128" y="51053"/>
                </a:lnTo>
                <a:lnTo>
                  <a:pt x="2329180" y="56895"/>
                </a:lnTo>
                <a:lnTo>
                  <a:pt x="2314828" y="57036"/>
                </a:lnTo>
                <a:lnTo>
                  <a:pt x="2315029" y="79628"/>
                </a:lnTo>
                <a:lnTo>
                  <a:pt x="2315083" y="85598"/>
                </a:lnTo>
                <a:lnTo>
                  <a:pt x="2400426" y="41910"/>
                </a:lnTo>
                <a:lnTo>
                  <a:pt x="2372507" y="28320"/>
                </a:lnTo>
                <a:close/>
              </a:path>
              <a:path w="2400935" h="85725">
                <a:moveTo>
                  <a:pt x="2314574" y="28461"/>
                </a:moveTo>
                <a:lnTo>
                  <a:pt x="0" y="51053"/>
                </a:lnTo>
                <a:lnTo>
                  <a:pt x="253" y="79628"/>
                </a:lnTo>
                <a:lnTo>
                  <a:pt x="2314828" y="57036"/>
                </a:lnTo>
                <a:lnTo>
                  <a:pt x="2314775" y="51053"/>
                </a:lnTo>
                <a:lnTo>
                  <a:pt x="2314694" y="41910"/>
                </a:lnTo>
                <a:lnTo>
                  <a:pt x="2314574" y="28461"/>
                </a:lnTo>
                <a:close/>
              </a:path>
              <a:path w="2400935" h="85725">
                <a:moveTo>
                  <a:pt x="2328925" y="28320"/>
                </a:moveTo>
                <a:lnTo>
                  <a:pt x="2314574" y="28461"/>
                </a:lnTo>
                <a:lnTo>
                  <a:pt x="2314694" y="41910"/>
                </a:lnTo>
                <a:lnTo>
                  <a:pt x="2314775" y="51053"/>
                </a:lnTo>
                <a:lnTo>
                  <a:pt x="2314828" y="57036"/>
                </a:lnTo>
                <a:lnTo>
                  <a:pt x="2329180" y="56895"/>
                </a:lnTo>
                <a:lnTo>
                  <a:pt x="2329128" y="51053"/>
                </a:lnTo>
                <a:lnTo>
                  <a:pt x="2329046" y="41910"/>
                </a:lnTo>
                <a:lnTo>
                  <a:pt x="2328925" y="28320"/>
                </a:lnTo>
                <a:close/>
              </a:path>
              <a:path w="2400935" h="85725">
                <a:moveTo>
                  <a:pt x="2314321" y="0"/>
                </a:moveTo>
                <a:lnTo>
                  <a:pt x="2314573" y="28320"/>
                </a:lnTo>
                <a:lnTo>
                  <a:pt x="2314574" y="28461"/>
                </a:lnTo>
                <a:lnTo>
                  <a:pt x="2372507" y="28320"/>
                </a:lnTo>
                <a:lnTo>
                  <a:pt x="231432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2410205" y="2040273"/>
            <a:ext cx="2806700" cy="71755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baseline="3086" sz="2700" b="1">
                <a:solidFill>
                  <a:srgbClr val="FF0000"/>
                </a:solidFill>
                <a:latin typeface="Microsoft JhengHei"/>
                <a:cs typeface="Microsoft JhengHei"/>
              </a:rPr>
              <a:t>② </a:t>
            </a:r>
            <a:r>
              <a:rPr dirty="0" sz="1400" spc="-10" b="1">
                <a:latin typeface="Microsoft JhengHei"/>
                <a:cs typeface="Microsoft JhengHei"/>
              </a:rPr>
              <a:t>下載待簽章檔案(手動)</a:t>
            </a:r>
            <a:endParaRPr sz="1400">
              <a:latin typeface="Microsoft JhengHei"/>
              <a:cs typeface="Microsoft JhengHei"/>
            </a:endParaRPr>
          </a:p>
          <a:p>
            <a:pPr marL="33655">
              <a:lnSpc>
                <a:spcPct val="100000"/>
              </a:lnSpc>
              <a:spcBef>
                <a:spcPts val="565"/>
              </a:spcBef>
            </a:pPr>
            <a:r>
              <a:rPr dirty="0" baseline="3086" sz="2700" spc="-7" b="1">
                <a:solidFill>
                  <a:srgbClr val="FF0000"/>
                </a:solidFill>
                <a:latin typeface="Microsoft JhengHei"/>
                <a:cs typeface="Microsoft JhengHei"/>
              </a:rPr>
              <a:t>⑤ </a:t>
            </a:r>
            <a:r>
              <a:rPr dirty="0" sz="1400" spc="-25" b="1">
                <a:latin typeface="Microsoft JhengHei"/>
                <a:cs typeface="Microsoft JhengHei"/>
              </a:rPr>
              <a:t>Web介面上傳已簽章指示(手動)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三、使用單位自行保管私鑰</a:t>
            </a:r>
            <a:r>
              <a:rPr dirty="0" baseline="-8385" sz="3975" spc="-30"/>
              <a:t>(續)</a:t>
            </a:r>
            <a:endParaRPr baseline="-8385" sz="3975"/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313740" y="827469"/>
            <a:ext cx="11464290" cy="5320665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844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200" spc="-35">
                <a:latin typeface="Microsoft JhengHei"/>
                <a:cs typeface="Microsoft JhengHei"/>
              </a:rPr>
              <a:t>自行保管原則</a:t>
            </a:r>
            <a:endParaRPr sz="2200">
              <a:latin typeface="Microsoft JhengHei"/>
              <a:cs typeface="Microsoft JhengHei"/>
            </a:endParaRPr>
          </a:p>
          <a:p>
            <a:pPr lvl="1" marL="812165" indent="-342265">
              <a:lnSpc>
                <a:spcPct val="100000"/>
              </a:lnSpc>
              <a:spcBef>
                <a:spcPts val="620"/>
              </a:spcBef>
              <a:buAutoNum type="arabicPeriod"/>
              <a:tabLst>
                <a:tab pos="812165" algn="l"/>
              </a:tabLst>
            </a:pPr>
            <a:r>
              <a:rPr dirty="0" sz="1800" b="1">
                <a:latin typeface="Microsoft JhengHei"/>
                <a:cs typeface="Microsoft JhengHei"/>
              </a:rPr>
              <a:t>禁止明文儲存</a:t>
            </a:r>
            <a:r>
              <a:rPr dirty="0" sz="1800" spc="-5">
                <a:latin typeface="Microsoft JhengHei"/>
                <a:cs typeface="Microsoft JhengHei"/>
              </a:rPr>
              <a:t>： 私鑰及恢復材料不得以明文儲存於一般伺服器、雲端硬碟、程式碼或通訊軟體。</a:t>
            </a:r>
            <a:endParaRPr sz="1800">
              <a:latin typeface="Microsoft JhengHei"/>
              <a:cs typeface="Microsoft JhengHei"/>
            </a:endParaRPr>
          </a:p>
          <a:p>
            <a:pPr lvl="1" marL="812165" indent="-34226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812165" algn="l"/>
              </a:tabLst>
            </a:pPr>
            <a:r>
              <a:rPr dirty="0" sz="1800" spc="-10" b="1">
                <a:latin typeface="Microsoft JhengHei"/>
                <a:cs typeface="Microsoft JhengHei"/>
              </a:rPr>
              <a:t>私鑰保管方案</a:t>
            </a:r>
            <a:r>
              <a:rPr dirty="0" sz="1800" spc="-50">
                <a:latin typeface="Microsoft JhengHei"/>
                <a:cs typeface="Microsoft JhengHei"/>
              </a:rPr>
              <a:t>：</a:t>
            </a:r>
            <a:endParaRPr sz="1800">
              <a:latin typeface="Microsoft JhengHei"/>
              <a:cs typeface="Microsoft JhengHei"/>
            </a:endParaRPr>
          </a:p>
          <a:p>
            <a:pPr marL="1269365" marR="5080" indent="-342900">
              <a:lnSpc>
                <a:spcPct val="100000"/>
              </a:lnSpc>
              <a:spcBef>
                <a:spcPts val="600"/>
              </a:spcBef>
              <a:tabLst>
                <a:tab pos="1269365" algn="l"/>
              </a:tabLst>
            </a:pPr>
            <a:r>
              <a:rPr dirty="0" sz="1800" spc="-50">
                <a:latin typeface="Wingdings"/>
                <a:cs typeface="Wingdings"/>
              </a:rPr>
              <a:t>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>
                <a:latin typeface="Microsoft JhengHei"/>
                <a:cs typeface="Microsoft JhengHei"/>
              </a:rPr>
              <a:t>使用單位依內控要求評估採用</a:t>
            </a:r>
            <a:r>
              <a:rPr dirty="0" u="sng" sz="1800" spc="-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JhengHei"/>
                <a:cs typeface="Microsoft JhengHei"/>
              </a:rPr>
              <a:t>伺服器加密保管、硬體錢包、</a:t>
            </a:r>
            <a:r>
              <a:rPr dirty="0" u="sng" sz="1800" spc="-2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JhengHei"/>
                <a:cs typeface="Microsoft JhengHei"/>
              </a:rPr>
              <a:t>MPC（</a:t>
            </a:r>
            <a:r>
              <a:rPr dirty="0" u="sng" sz="18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JhengHei"/>
                <a:cs typeface="Microsoft JhengHei"/>
              </a:rPr>
              <a:t>多方安全計算）、</a:t>
            </a:r>
            <a:r>
              <a:rPr dirty="0" u="sng" sz="1800" spc="-1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JhengHei"/>
                <a:cs typeface="Microsoft JhengHei"/>
              </a:rPr>
              <a:t>HSM（</a:t>
            </a:r>
            <a:r>
              <a:rPr dirty="0" u="sng" sz="1800" spc="-1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JhengHei"/>
                <a:cs typeface="Microsoft JhengHei"/>
              </a:rPr>
              <a:t>硬體安全</a:t>
            </a:r>
            <a:r>
              <a:rPr dirty="0" u="sng" sz="18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JhengHei"/>
                <a:cs typeface="Microsoft JhengHei"/>
              </a:rPr>
              <a:t>模組）</a:t>
            </a:r>
            <a:r>
              <a:rPr dirty="0" u="sng" sz="1800" spc="-1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JhengHei"/>
                <a:cs typeface="Microsoft JhengHei"/>
              </a:rPr>
              <a:t>或其他方案。</a:t>
            </a:r>
            <a:endParaRPr sz="1800">
              <a:latin typeface="Microsoft JhengHei"/>
              <a:cs typeface="Microsoft JhengHei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  <a:tabLst>
                <a:tab pos="1269365" algn="l"/>
              </a:tabLst>
            </a:pPr>
            <a:r>
              <a:rPr dirty="0" sz="1800" spc="-50">
                <a:latin typeface="Wingdings"/>
                <a:cs typeface="Wingdings"/>
              </a:rPr>
              <a:t>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Microsoft JhengHei"/>
                <a:cs typeface="Microsoft JhengHei"/>
              </a:rPr>
              <a:t>禁止明文匯出金鑰。</a:t>
            </a:r>
            <a:endParaRPr sz="1800">
              <a:latin typeface="Microsoft JhengHei"/>
              <a:cs typeface="Microsoft JhengHei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  <a:tabLst>
                <a:tab pos="1269365" algn="l"/>
              </a:tabLst>
            </a:pPr>
            <a:r>
              <a:rPr dirty="0" sz="1800" spc="-50">
                <a:latin typeface="Wingdings"/>
                <a:cs typeface="Wingdings"/>
              </a:rPr>
              <a:t>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5">
                <a:latin typeface="Microsoft JhengHei"/>
                <a:cs typeface="Microsoft JhengHei"/>
              </a:rPr>
              <a:t>搭配身分驗證、網路限制、白名單及異常監控等機制。</a:t>
            </a:r>
            <a:endParaRPr sz="1800">
              <a:latin typeface="Microsoft JhengHei"/>
              <a:cs typeface="Microsoft JhengHei"/>
            </a:endParaRPr>
          </a:p>
          <a:p>
            <a:pPr lvl="1" marL="812165" indent="-342265">
              <a:lnSpc>
                <a:spcPct val="100000"/>
              </a:lnSpc>
              <a:spcBef>
                <a:spcPts val="605"/>
              </a:spcBef>
              <a:buAutoNum type="arabicPeriod" startAt="3"/>
              <a:tabLst>
                <a:tab pos="812165" algn="l"/>
              </a:tabLst>
            </a:pPr>
            <a:r>
              <a:rPr dirty="0" sz="1800" b="1">
                <a:latin typeface="Microsoft JhengHei"/>
                <a:cs typeface="Microsoft JhengHei"/>
              </a:rPr>
              <a:t>特權帳號私鑰隔離</a:t>
            </a:r>
            <a:r>
              <a:rPr dirty="0" sz="1800" spc="-5">
                <a:latin typeface="Microsoft JhengHei"/>
                <a:cs typeface="Microsoft JhengHei"/>
              </a:rPr>
              <a:t>： 應採離線或嚴密控制環境，嚴禁與一般辦公、開發用途之設備共用。</a:t>
            </a:r>
            <a:endParaRPr sz="1800">
              <a:latin typeface="Microsoft JhengHei"/>
              <a:cs typeface="Microsoft JhengHei"/>
            </a:endParaRPr>
          </a:p>
          <a:p>
            <a:pPr lvl="1" marL="812165" indent="-342265">
              <a:lnSpc>
                <a:spcPct val="100000"/>
              </a:lnSpc>
              <a:spcBef>
                <a:spcPts val="600"/>
              </a:spcBef>
              <a:buAutoNum type="arabicPeriod" startAt="3"/>
              <a:tabLst>
                <a:tab pos="812165" algn="l"/>
              </a:tabLst>
            </a:pPr>
            <a:r>
              <a:rPr dirty="0" sz="1800" b="1">
                <a:latin typeface="Microsoft JhengHei"/>
                <a:cs typeface="Microsoft JhengHei"/>
              </a:rPr>
              <a:t>正式與測試分離</a:t>
            </a:r>
            <a:r>
              <a:rPr dirty="0" sz="1800" spc="-5">
                <a:latin typeface="Microsoft JhengHei"/>
                <a:cs typeface="Microsoft JhengHei"/>
              </a:rPr>
              <a:t>： 正式與測試環境嚴禁共用私鑰、助記詞、簽署憑證或管理帳號。</a:t>
            </a:r>
            <a:endParaRPr sz="1800">
              <a:latin typeface="Microsoft JhengHei"/>
              <a:cs typeface="Microsoft JhengHei"/>
            </a:endParaRPr>
          </a:p>
          <a:p>
            <a:pPr lvl="1" marL="812165" indent="-342265">
              <a:lnSpc>
                <a:spcPct val="100000"/>
              </a:lnSpc>
              <a:spcBef>
                <a:spcPts val="600"/>
              </a:spcBef>
              <a:buAutoNum type="arabicPeriod" startAt="3"/>
              <a:tabLst>
                <a:tab pos="812165" algn="l"/>
              </a:tabLst>
            </a:pPr>
            <a:r>
              <a:rPr dirty="0" sz="1800" b="1">
                <a:latin typeface="Microsoft JhengHei"/>
                <a:cs typeface="Microsoft JhengHei"/>
              </a:rPr>
              <a:t>導入監控與稽核</a:t>
            </a:r>
            <a:r>
              <a:rPr dirty="0" sz="1800" spc="-5">
                <a:latin typeface="Microsoft JhengHei"/>
                <a:cs typeface="Microsoft JhengHei"/>
              </a:rPr>
              <a:t>： 應具備存取管控、操作紀錄追蹤及異常告警等機制。</a:t>
            </a:r>
            <a:endParaRPr sz="1800">
              <a:latin typeface="Microsoft JhengHei"/>
              <a:cs typeface="Microsoft JhengHei"/>
            </a:endParaRPr>
          </a:p>
          <a:p>
            <a:pPr lvl="1" marL="812165" indent="-342265">
              <a:lnSpc>
                <a:spcPct val="100000"/>
              </a:lnSpc>
              <a:spcBef>
                <a:spcPts val="600"/>
              </a:spcBef>
              <a:buAutoNum type="arabicPeriod" startAt="3"/>
              <a:tabLst>
                <a:tab pos="812165" algn="l"/>
              </a:tabLst>
            </a:pPr>
            <a:r>
              <a:rPr dirty="0" sz="1800" spc="-10" b="1">
                <a:latin typeface="Microsoft JhengHei"/>
                <a:cs typeface="Microsoft JhengHei"/>
              </a:rPr>
              <a:t>落實分散管理</a:t>
            </a:r>
            <a:r>
              <a:rPr dirty="0" sz="1800" spc="-15">
                <a:latin typeface="Microsoft JhengHei"/>
                <a:cs typeface="Microsoft JhengHei"/>
              </a:rPr>
              <a:t>： 避免單點失效，主私鑰與備份材料不得集中於同一設備、地點，或由單人單獨控制。</a:t>
            </a:r>
            <a:endParaRPr sz="1800">
              <a:latin typeface="Microsoft JhengHei"/>
              <a:cs typeface="Microsoft JhengHei"/>
            </a:endParaRPr>
          </a:p>
          <a:p>
            <a:pPr lvl="1">
              <a:lnSpc>
                <a:spcPct val="100000"/>
              </a:lnSpc>
              <a:spcBef>
                <a:spcPts val="240"/>
              </a:spcBef>
              <a:buFont typeface="Microsoft JhengHei"/>
              <a:buAutoNum type="arabicPeriod" startAt="3"/>
            </a:pPr>
            <a:endParaRPr sz="18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z="2000" spc="-15">
                <a:latin typeface="Microsoft JhengHei"/>
                <a:cs typeface="Microsoft JhengHei"/>
              </a:rPr>
              <a:t>其他說明</a:t>
            </a:r>
            <a:endParaRPr sz="2000">
              <a:latin typeface="Microsoft JhengHei"/>
              <a:cs typeface="Microsoft JhengHei"/>
            </a:endParaRPr>
          </a:p>
          <a:p>
            <a:pPr lvl="1" marL="812165" indent="-342265">
              <a:lnSpc>
                <a:spcPct val="100000"/>
              </a:lnSpc>
              <a:spcBef>
                <a:spcPts val="610"/>
              </a:spcBef>
              <a:buAutoNum type="arabicPeriod"/>
              <a:tabLst>
                <a:tab pos="812165" algn="l"/>
              </a:tabLst>
            </a:pPr>
            <a:r>
              <a:rPr dirty="0" sz="1800" spc="-5" b="1">
                <a:latin typeface="Microsoft JhengHei"/>
                <a:cs typeface="Microsoft JhengHei"/>
              </a:rPr>
              <a:t>簽名機制</a:t>
            </a:r>
            <a:r>
              <a:rPr dirty="0" sz="1800" spc="-5">
                <a:latin typeface="Microsoft JhengHei"/>
                <a:cs typeface="Microsoft JhengHei"/>
              </a:rPr>
              <a:t>：採用 </a:t>
            </a:r>
            <a:r>
              <a:rPr dirty="0" sz="1800">
                <a:latin typeface="Microsoft JhengHei"/>
                <a:cs typeface="Microsoft JhengHei"/>
              </a:rPr>
              <a:t>ECDSA</a:t>
            </a:r>
            <a:r>
              <a:rPr dirty="0" sz="1800" spc="-10">
                <a:latin typeface="Microsoft JhengHei"/>
                <a:cs typeface="Microsoft JhengHei"/>
              </a:rPr>
              <a:t> 搭配 </a:t>
            </a:r>
            <a:r>
              <a:rPr dirty="0" sz="1800">
                <a:latin typeface="Microsoft JhengHei"/>
                <a:cs typeface="Microsoft JhengHei"/>
              </a:rPr>
              <a:t>secp256k1</a:t>
            </a:r>
            <a:r>
              <a:rPr dirty="0" sz="1800" spc="-20">
                <a:latin typeface="Microsoft JhengHei"/>
                <a:cs typeface="Microsoft JhengHei"/>
              </a:rPr>
              <a:t> 曲線之簽章演算法。</a:t>
            </a:r>
            <a:endParaRPr sz="1800">
              <a:latin typeface="Microsoft JhengHei"/>
              <a:cs typeface="Microsoft JhengHei"/>
            </a:endParaRPr>
          </a:p>
          <a:p>
            <a:pPr lvl="1" marL="812165" indent="-34226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812165" algn="l"/>
              </a:tabLst>
            </a:pPr>
            <a:r>
              <a:rPr dirty="0" sz="1800" spc="-10" b="1">
                <a:latin typeface="Microsoft JhengHei"/>
                <a:cs typeface="Microsoft JhengHei"/>
              </a:rPr>
              <a:t>金鑰產製：</a:t>
            </a:r>
            <a:r>
              <a:rPr dirty="0" sz="1800" spc="-15">
                <a:latin typeface="Microsoft JhengHei"/>
                <a:cs typeface="Microsoft JhengHei"/>
              </a:rPr>
              <a:t>金鑰產生、推導與簽名需使用經廣泛驗證之開源函式庫。</a:t>
            </a:r>
            <a:endParaRPr sz="1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4538" y="63830"/>
            <a:ext cx="814578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0"/>
              <a:t>四、使用單位洽第三方機構保管私鑰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3740" y="985519"/>
            <a:ext cx="437832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200" spc="-35">
                <a:latin typeface="Microsoft JhengHei"/>
                <a:cs typeface="Microsoft JhengHei"/>
              </a:rPr>
              <a:t>情境一：以</a:t>
            </a:r>
            <a:r>
              <a:rPr dirty="0" sz="2200" spc="-20">
                <a:latin typeface="Microsoft JhengHei"/>
                <a:cs typeface="Microsoft JhengHei"/>
              </a:rPr>
              <a:t>API</a:t>
            </a:r>
            <a:r>
              <a:rPr dirty="0" sz="2200" spc="-35">
                <a:latin typeface="Microsoft JhengHei"/>
                <a:cs typeface="Microsoft JhengHei"/>
              </a:rPr>
              <a:t>提交交割指示為例</a:t>
            </a:r>
            <a:endParaRPr sz="22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98066" y="3274694"/>
            <a:ext cx="1724660" cy="1726564"/>
          </a:xfrm>
          <a:custGeom>
            <a:avLst/>
            <a:gdLst/>
            <a:ahLst/>
            <a:cxnLst/>
            <a:rect l="l" t="t" r="r" b="b"/>
            <a:pathLst>
              <a:path w="1724660" h="1726564">
                <a:moveTo>
                  <a:pt x="1150747" y="1683131"/>
                </a:moveTo>
                <a:lnTo>
                  <a:pt x="1122248" y="1668907"/>
                </a:lnTo>
                <a:lnTo>
                  <a:pt x="1065022" y="1640332"/>
                </a:lnTo>
                <a:lnTo>
                  <a:pt x="1065022" y="1668907"/>
                </a:lnTo>
                <a:lnTo>
                  <a:pt x="0" y="1668907"/>
                </a:lnTo>
                <a:lnTo>
                  <a:pt x="0" y="1697482"/>
                </a:lnTo>
                <a:lnTo>
                  <a:pt x="1065022" y="1697482"/>
                </a:lnTo>
                <a:lnTo>
                  <a:pt x="1065022" y="1726057"/>
                </a:lnTo>
                <a:lnTo>
                  <a:pt x="1122083" y="1697482"/>
                </a:lnTo>
                <a:lnTo>
                  <a:pt x="1150747" y="1683131"/>
                </a:lnTo>
                <a:close/>
              </a:path>
              <a:path w="1724660" h="1726564">
                <a:moveTo>
                  <a:pt x="1150747" y="1507871"/>
                </a:moveTo>
                <a:lnTo>
                  <a:pt x="85725" y="1507871"/>
                </a:lnTo>
                <a:lnTo>
                  <a:pt x="85725" y="1479296"/>
                </a:lnTo>
                <a:lnTo>
                  <a:pt x="0" y="1522095"/>
                </a:lnTo>
                <a:lnTo>
                  <a:pt x="85725" y="1565021"/>
                </a:lnTo>
                <a:lnTo>
                  <a:pt x="85725" y="1536446"/>
                </a:lnTo>
                <a:lnTo>
                  <a:pt x="1150747" y="1536446"/>
                </a:lnTo>
                <a:lnTo>
                  <a:pt x="1150747" y="1507871"/>
                </a:lnTo>
                <a:close/>
              </a:path>
              <a:path w="1724660" h="1726564">
                <a:moveTo>
                  <a:pt x="1569339" y="950849"/>
                </a:moveTo>
                <a:lnTo>
                  <a:pt x="1540764" y="950849"/>
                </a:lnTo>
                <a:lnTo>
                  <a:pt x="1540764" y="30480"/>
                </a:lnTo>
                <a:lnTo>
                  <a:pt x="1512176" y="30480"/>
                </a:lnTo>
                <a:lnTo>
                  <a:pt x="1512176" y="950849"/>
                </a:lnTo>
                <a:lnTo>
                  <a:pt x="1483601" y="950849"/>
                </a:lnTo>
                <a:lnTo>
                  <a:pt x="1526400" y="1036574"/>
                </a:lnTo>
                <a:lnTo>
                  <a:pt x="1562214" y="965073"/>
                </a:lnTo>
                <a:lnTo>
                  <a:pt x="1569339" y="950849"/>
                </a:lnTo>
                <a:close/>
              </a:path>
              <a:path w="1724660" h="1726564">
                <a:moveTo>
                  <a:pt x="1724533" y="85725"/>
                </a:moveTo>
                <a:lnTo>
                  <a:pt x="1717421" y="71501"/>
                </a:lnTo>
                <a:lnTo>
                  <a:pt x="1681734" y="0"/>
                </a:lnTo>
                <a:lnTo>
                  <a:pt x="1638808" y="85725"/>
                </a:lnTo>
                <a:lnTo>
                  <a:pt x="1667383" y="85725"/>
                </a:lnTo>
                <a:lnTo>
                  <a:pt x="1667383" y="1033399"/>
                </a:lnTo>
                <a:lnTo>
                  <a:pt x="1695958" y="1033399"/>
                </a:lnTo>
                <a:lnTo>
                  <a:pt x="1695958" y="85725"/>
                </a:lnTo>
                <a:lnTo>
                  <a:pt x="1724533" y="857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23923" y="4393438"/>
            <a:ext cx="10312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9259" sz="2700" spc="150" b="1">
                <a:solidFill>
                  <a:srgbClr val="FF0000"/>
                </a:solidFill>
                <a:latin typeface="Microsoft JhengHei"/>
                <a:cs typeface="Microsoft JhengHei"/>
              </a:rPr>
              <a:t>②</a:t>
            </a:r>
            <a:r>
              <a:rPr dirty="0" sz="1400" spc="-15" b="1">
                <a:latin typeface="Microsoft JhengHei"/>
                <a:cs typeface="Microsoft JhengHei"/>
              </a:rPr>
              <a:t>簽章請求</a:t>
            </a:r>
            <a:endParaRPr sz="1400">
              <a:latin typeface="Microsoft JhengHei"/>
              <a:cs typeface="Microsoft JhengHe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7931" y="2018293"/>
            <a:ext cx="819260" cy="8383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251060" y="2917063"/>
            <a:ext cx="9169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Microsoft JhengHei"/>
                <a:cs typeface="Microsoft JhengHei"/>
              </a:rPr>
              <a:t>區塊鏈底層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80959" y="2390139"/>
            <a:ext cx="1555115" cy="85725"/>
          </a:xfrm>
          <a:custGeom>
            <a:avLst/>
            <a:gdLst/>
            <a:ahLst/>
            <a:cxnLst/>
            <a:rect l="l" t="t" r="r" b="b"/>
            <a:pathLst>
              <a:path w="1555115" h="85725">
                <a:moveTo>
                  <a:pt x="1527593" y="28448"/>
                </a:moveTo>
                <a:lnTo>
                  <a:pt x="1483487" y="28448"/>
                </a:lnTo>
                <a:lnTo>
                  <a:pt x="1483868" y="57023"/>
                </a:lnTo>
                <a:lnTo>
                  <a:pt x="1469559" y="57203"/>
                </a:lnTo>
                <a:lnTo>
                  <a:pt x="1469779" y="75692"/>
                </a:lnTo>
                <a:lnTo>
                  <a:pt x="1469898" y="85725"/>
                </a:lnTo>
                <a:lnTo>
                  <a:pt x="1555115" y="41783"/>
                </a:lnTo>
                <a:lnTo>
                  <a:pt x="1527593" y="28448"/>
                </a:lnTo>
                <a:close/>
              </a:path>
              <a:path w="1555115" h="85725">
                <a:moveTo>
                  <a:pt x="1469221" y="28627"/>
                </a:moveTo>
                <a:lnTo>
                  <a:pt x="0" y="47117"/>
                </a:lnTo>
                <a:lnTo>
                  <a:pt x="254" y="75692"/>
                </a:lnTo>
                <a:lnTo>
                  <a:pt x="1469559" y="57203"/>
                </a:lnTo>
                <a:lnTo>
                  <a:pt x="1469221" y="28627"/>
                </a:lnTo>
                <a:close/>
              </a:path>
              <a:path w="1555115" h="85725">
                <a:moveTo>
                  <a:pt x="1483487" y="28448"/>
                </a:moveTo>
                <a:lnTo>
                  <a:pt x="1469221" y="28627"/>
                </a:lnTo>
                <a:lnTo>
                  <a:pt x="1469377" y="41783"/>
                </a:lnTo>
                <a:lnTo>
                  <a:pt x="1469440" y="47117"/>
                </a:lnTo>
                <a:lnTo>
                  <a:pt x="1469559" y="57203"/>
                </a:lnTo>
                <a:lnTo>
                  <a:pt x="1483868" y="57023"/>
                </a:lnTo>
                <a:lnTo>
                  <a:pt x="1483489" y="28627"/>
                </a:lnTo>
                <a:lnTo>
                  <a:pt x="1483487" y="28448"/>
                </a:lnTo>
                <a:close/>
              </a:path>
              <a:path w="1555115" h="85725">
                <a:moveTo>
                  <a:pt x="1468882" y="0"/>
                </a:moveTo>
                <a:lnTo>
                  <a:pt x="1469219" y="28448"/>
                </a:lnTo>
                <a:lnTo>
                  <a:pt x="1469221" y="28627"/>
                </a:lnTo>
                <a:lnTo>
                  <a:pt x="1483487" y="28448"/>
                </a:lnTo>
                <a:lnTo>
                  <a:pt x="1527593" y="28448"/>
                </a:lnTo>
                <a:lnTo>
                  <a:pt x="1468882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172827" y="2201926"/>
            <a:ext cx="170751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10" b="1">
                <a:solidFill>
                  <a:srgbClr val="FF0000"/>
                </a:solidFill>
                <a:latin typeface="Microsoft JhengHei"/>
                <a:cs typeface="Microsoft JhengHei"/>
              </a:rPr>
              <a:t>⑥</a:t>
            </a:r>
            <a:r>
              <a:rPr dirty="0" sz="1400" spc="-10" b="1">
                <a:latin typeface="Microsoft JhengHei"/>
                <a:cs typeface="Microsoft JhengHei"/>
              </a:rPr>
              <a:t>共識驗證記入帳本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4741" y="2913126"/>
            <a:ext cx="12084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Microsoft JhengHei"/>
                <a:cs typeface="Microsoft JhengHei"/>
              </a:rPr>
              <a:t>RWA</a:t>
            </a:r>
            <a:r>
              <a:rPr dirty="0" sz="1400" spc="-30" b="1">
                <a:latin typeface="Microsoft JhengHei"/>
                <a:cs typeface="Microsoft JhengHei"/>
              </a:rPr>
              <a:t> 代幣平台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038091" y="2408682"/>
            <a:ext cx="2433955" cy="85725"/>
          </a:xfrm>
          <a:custGeom>
            <a:avLst/>
            <a:gdLst/>
            <a:ahLst/>
            <a:cxnLst/>
            <a:rect l="l" t="t" r="r" b="b"/>
            <a:pathLst>
              <a:path w="2433954" h="85725">
                <a:moveTo>
                  <a:pt x="2348103" y="0"/>
                </a:moveTo>
                <a:lnTo>
                  <a:pt x="2348103" y="85725"/>
                </a:lnTo>
                <a:lnTo>
                  <a:pt x="2405168" y="57150"/>
                </a:lnTo>
                <a:lnTo>
                  <a:pt x="2362454" y="57150"/>
                </a:lnTo>
                <a:lnTo>
                  <a:pt x="2362454" y="28575"/>
                </a:lnTo>
                <a:lnTo>
                  <a:pt x="2405337" y="28575"/>
                </a:lnTo>
                <a:lnTo>
                  <a:pt x="2348103" y="0"/>
                </a:lnTo>
                <a:close/>
              </a:path>
              <a:path w="2433954" h="85725">
                <a:moveTo>
                  <a:pt x="2348103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2348103" y="57150"/>
                </a:lnTo>
                <a:lnTo>
                  <a:pt x="2348103" y="28575"/>
                </a:lnTo>
                <a:close/>
              </a:path>
              <a:path w="2433954" h="85725">
                <a:moveTo>
                  <a:pt x="2405337" y="28575"/>
                </a:moveTo>
                <a:lnTo>
                  <a:pt x="2362454" y="28575"/>
                </a:lnTo>
                <a:lnTo>
                  <a:pt x="2362454" y="57150"/>
                </a:lnTo>
                <a:lnTo>
                  <a:pt x="2405168" y="57150"/>
                </a:lnTo>
                <a:lnTo>
                  <a:pt x="2433828" y="42798"/>
                </a:lnTo>
                <a:lnTo>
                  <a:pt x="2405337" y="2857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612506" y="2056638"/>
            <a:ext cx="15284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543" sz="2700" spc="300" b="1">
                <a:solidFill>
                  <a:srgbClr val="FF0000"/>
                </a:solidFill>
                <a:latin typeface="Microsoft JhengHei"/>
                <a:cs typeface="Microsoft JhengHei"/>
              </a:rPr>
              <a:t>⑤</a:t>
            </a:r>
            <a:r>
              <a:rPr dirty="0" sz="1400" spc="-10" b="1">
                <a:latin typeface="Microsoft JhengHei"/>
                <a:cs typeface="Microsoft JhengHei"/>
              </a:rPr>
              <a:t>提交已簽署指示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19951" y="1981326"/>
            <a:ext cx="787400" cy="847090"/>
          </a:xfrm>
          <a:custGeom>
            <a:avLst/>
            <a:gdLst/>
            <a:ahLst/>
            <a:cxnLst/>
            <a:rect l="l" t="t" r="r" b="b"/>
            <a:pathLst>
              <a:path w="787400" h="847089">
                <a:moveTo>
                  <a:pt x="655954" y="0"/>
                </a:moveTo>
                <a:lnTo>
                  <a:pt x="131191" y="0"/>
                </a:lnTo>
                <a:lnTo>
                  <a:pt x="80152" y="10300"/>
                </a:lnTo>
                <a:lnTo>
                  <a:pt x="38449" y="38401"/>
                </a:lnTo>
                <a:lnTo>
                  <a:pt x="10318" y="80099"/>
                </a:lnTo>
                <a:lnTo>
                  <a:pt x="0" y="131190"/>
                </a:lnTo>
                <a:lnTo>
                  <a:pt x="0" y="715772"/>
                </a:lnTo>
                <a:lnTo>
                  <a:pt x="10318" y="766810"/>
                </a:lnTo>
                <a:lnTo>
                  <a:pt x="38449" y="808513"/>
                </a:lnTo>
                <a:lnTo>
                  <a:pt x="80152" y="836644"/>
                </a:lnTo>
                <a:lnTo>
                  <a:pt x="131191" y="846963"/>
                </a:lnTo>
                <a:lnTo>
                  <a:pt x="655954" y="846963"/>
                </a:lnTo>
                <a:lnTo>
                  <a:pt x="707046" y="836644"/>
                </a:lnTo>
                <a:lnTo>
                  <a:pt x="748744" y="808513"/>
                </a:lnTo>
                <a:lnTo>
                  <a:pt x="776845" y="766810"/>
                </a:lnTo>
                <a:lnTo>
                  <a:pt x="787146" y="715772"/>
                </a:lnTo>
                <a:lnTo>
                  <a:pt x="787146" y="131190"/>
                </a:lnTo>
                <a:lnTo>
                  <a:pt x="776845" y="80099"/>
                </a:lnTo>
                <a:lnTo>
                  <a:pt x="748744" y="38401"/>
                </a:lnTo>
                <a:lnTo>
                  <a:pt x="707046" y="10300"/>
                </a:lnTo>
                <a:lnTo>
                  <a:pt x="655954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859269" y="2234641"/>
            <a:ext cx="4876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RWA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05173" y="2078863"/>
            <a:ext cx="28022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6172" sz="2700" b="1">
                <a:solidFill>
                  <a:srgbClr val="FF0000"/>
                </a:solidFill>
                <a:latin typeface="Microsoft JhengHei"/>
                <a:cs typeface="Microsoft JhengHei"/>
              </a:rPr>
              <a:t>④</a:t>
            </a:r>
            <a:r>
              <a:rPr dirty="0" sz="1400" b="1">
                <a:latin typeface="Microsoft JhengHei"/>
                <a:cs typeface="Microsoft JhengHei"/>
              </a:rPr>
              <a:t>API</a:t>
            </a:r>
            <a:r>
              <a:rPr dirty="0" sz="1400" spc="-10" b="1">
                <a:latin typeface="Microsoft JhengHei"/>
                <a:cs typeface="Microsoft JhengHei"/>
              </a:rPr>
              <a:t>提交已簽署之交割指示(註</a:t>
            </a:r>
            <a:r>
              <a:rPr dirty="0" sz="1400" spc="-25" b="1">
                <a:latin typeface="Microsoft JhengHei"/>
                <a:cs typeface="Microsoft JhengHei"/>
              </a:rPr>
              <a:t>2)</a:t>
            </a:r>
            <a:endParaRPr sz="1400">
              <a:latin typeface="Microsoft JhengHei"/>
              <a:cs typeface="Microsoft JhengHe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926209" y="1982603"/>
            <a:ext cx="829310" cy="848360"/>
            <a:chOff x="2926209" y="1982603"/>
            <a:chExt cx="829310" cy="84836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6209" y="1982603"/>
              <a:ext cx="828784" cy="847842"/>
            </a:xfrm>
            <a:prstGeom prst="rect">
              <a:avLst/>
            </a:prstGeom>
          </p:spPr>
        </p:pic>
        <p:pic>
          <p:nvPicPr>
            <p:cNvPr id="18" name="object 18" descr="一張含有 行 的圖片  AI 產生的內容可能不正確。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561" y="2123325"/>
              <a:ext cx="502018" cy="502018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2136" y="4496444"/>
            <a:ext cx="790680" cy="828787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747776" y="5345379"/>
            <a:ext cx="109537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b="1">
                <a:latin typeface="Microsoft JhengHei"/>
                <a:cs typeface="Microsoft JhengHei"/>
              </a:rPr>
              <a:t>金鑰保管設備</a:t>
            </a:r>
            <a:endParaRPr sz="1400">
              <a:latin typeface="Microsoft JhengHei"/>
              <a:cs typeface="Microsoft JhengHe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19247" y="4469269"/>
            <a:ext cx="809739" cy="85736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2737866" y="5374640"/>
            <a:ext cx="15360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Microsoft JhengHei"/>
                <a:cs typeface="Microsoft JhengHei"/>
              </a:rPr>
              <a:t>KMS</a:t>
            </a:r>
            <a:r>
              <a:rPr dirty="0" sz="1400" spc="-20" b="1">
                <a:latin typeface="Microsoft JhengHei"/>
                <a:cs typeface="Microsoft JhengHei"/>
              </a:rPr>
              <a:t> 金鑰管理服務</a:t>
            </a:r>
            <a:endParaRPr sz="1400">
              <a:latin typeface="Microsoft JhengHei"/>
              <a:cs typeface="Microsoft JhengHe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22173" y="3956418"/>
            <a:ext cx="4606925" cy="1899285"/>
            <a:chOff x="222173" y="3956418"/>
            <a:chExt cx="4606925" cy="1899285"/>
          </a:xfrm>
        </p:grpSpPr>
        <p:sp>
          <p:nvSpPr>
            <p:cNvPr id="24" name="object 24"/>
            <p:cNvSpPr/>
            <p:nvPr/>
          </p:nvSpPr>
          <p:spPr>
            <a:xfrm>
              <a:off x="234873" y="4159643"/>
              <a:ext cx="4581525" cy="1683385"/>
            </a:xfrm>
            <a:custGeom>
              <a:avLst/>
              <a:gdLst/>
              <a:ahLst/>
              <a:cxnLst/>
              <a:rect l="l" t="t" r="r" b="b"/>
              <a:pathLst>
                <a:path w="4581525" h="1683385">
                  <a:moveTo>
                    <a:pt x="0" y="1683003"/>
                  </a:moveTo>
                  <a:lnTo>
                    <a:pt x="4581016" y="1683003"/>
                  </a:lnTo>
                  <a:lnTo>
                    <a:pt x="4581016" y="0"/>
                  </a:lnTo>
                  <a:lnTo>
                    <a:pt x="0" y="0"/>
                  </a:lnTo>
                  <a:lnTo>
                    <a:pt x="0" y="1683003"/>
                  </a:lnTo>
                  <a:close/>
                </a:path>
              </a:pathLst>
            </a:custGeom>
            <a:ln w="25399">
              <a:solidFill>
                <a:srgbClr val="6FAC46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39826" y="3956418"/>
              <a:ext cx="1339215" cy="369570"/>
            </a:xfrm>
            <a:custGeom>
              <a:avLst/>
              <a:gdLst/>
              <a:ahLst/>
              <a:cxnLst/>
              <a:rect l="l" t="t" r="r" b="b"/>
              <a:pathLst>
                <a:path w="1339214" h="369570">
                  <a:moveTo>
                    <a:pt x="1338834" y="0"/>
                  </a:moveTo>
                  <a:lnTo>
                    <a:pt x="0" y="0"/>
                  </a:lnTo>
                  <a:lnTo>
                    <a:pt x="0" y="369328"/>
                  </a:lnTo>
                  <a:lnTo>
                    <a:pt x="1338834" y="369328"/>
                  </a:lnTo>
                  <a:lnTo>
                    <a:pt x="13388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418591" y="2890774"/>
            <a:ext cx="3818890" cy="1393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471805">
              <a:lnSpc>
                <a:spcPct val="100000"/>
              </a:lnSpc>
              <a:spcBef>
                <a:spcPts val="105"/>
              </a:spcBef>
            </a:pPr>
            <a:r>
              <a:rPr dirty="0" sz="1400" spc="-15" b="1">
                <a:latin typeface="Microsoft JhengHei"/>
                <a:cs typeface="Microsoft JhengHei"/>
              </a:rPr>
              <a:t>使用單位</a:t>
            </a:r>
            <a:endParaRPr sz="14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400">
              <a:latin typeface="Microsoft JhengHei"/>
              <a:cs typeface="Microsoft JhengHei"/>
            </a:endParaRPr>
          </a:p>
          <a:p>
            <a:pPr marL="358140">
              <a:lnSpc>
                <a:spcPct val="100000"/>
              </a:lnSpc>
              <a:tabLst>
                <a:tab pos="3198495" algn="l"/>
              </a:tabLst>
            </a:pPr>
            <a:r>
              <a:rPr dirty="0" sz="1800" b="1">
                <a:solidFill>
                  <a:srgbClr val="FF0000"/>
                </a:solidFill>
                <a:latin typeface="Microsoft JhengHei"/>
                <a:cs typeface="Microsoft JhengHei"/>
              </a:rPr>
              <a:t>①</a:t>
            </a:r>
            <a:r>
              <a:rPr dirty="0" sz="1800" spc="250" b="1">
                <a:solidFill>
                  <a:srgbClr val="FF0000"/>
                </a:solidFill>
                <a:latin typeface="Microsoft JhengHei"/>
                <a:cs typeface="Microsoft JhengHei"/>
              </a:rPr>
              <a:t> </a:t>
            </a:r>
            <a:r>
              <a:rPr dirty="0" baseline="1984" sz="2100" spc="-15" b="1">
                <a:latin typeface="Microsoft JhengHei"/>
                <a:cs typeface="Microsoft JhengHei"/>
              </a:rPr>
              <a:t>API</a:t>
            </a:r>
            <a:r>
              <a:rPr dirty="0" baseline="1984" sz="2100" b="1">
                <a:latin typeface="Microsoft JhengHei"/>
                <a:cs typeface="Microsoft JhengHei"/>
              </a:rPr>
              <a:t>傳輸交割指示內容</a:t>
            </a:r>
            <a:r>
              <a:rPr dirty="0" baseline="1984" sz="2100" spc="-15" b="1">
                <a:latin typeface="Microsoft JhengHei"/>
                <a:cs typeface="Microsoft JhengHei"/>
              </a:rPr>
              <a:t>(</a:t>
            </a:r>
            <a:r>
              <a:rPr dirty="0" baseline="1984" sz="2100" spc="-22" b="1">
                <a:latin typeface="Microsoft JhengHei"/>
                <a:cs typeface="Microsoft JhengHei"/>
              </a:rPr>
              <a:t>註</a:t>
            </a:r>
            <a:r>
              <a:rPr dirty="0" baseline="1984" sz="2100" spc="-37" b="1">
                <a:latin typeface="Microsoft JhengHei"/>
                <a:cs typeface="Microsoft JhengHei"/>
              </a:rPr>
              <a:t>1)</a:t>
            </a:r>
            <a:r>
              <a:rPr dirty="0" baseline="1984" sz="2100" b="1">
                <a:latin typeface="Microsoft JhengHei"/>
                <a:cs typeface="Microsoft JhengHei"/>
              </a:rPr>
              <a:t>	</a:t>
            </a:r>
            <a:r>
              <a:rPr dirty="0" sz="1800" spc="170" b="1">
                <a:solidFill>
                  <a:srgbClr val="FF0000"/>
                </a:solidFill>
                <a:latin typeface="Microsoft JhengHei"/>
                <a:cs typeface="Microsoft JhengHei"/>
              </a:rPr>
              <a:t>③</a:t>
            </a:r>
            <a:r>
              <a:rPr dirty="0" baseline="3968" sz="2100" b="1">
                <a:latin typeface="Microsoft JhengHei"/>
                <a:cs typeface="Microsoft JhengHei"/>
              </a:rPr>
              <a:t>簽</a:t>
            </a:r>
            <a:r>
              <a:rPr dirty="0" baseline="3968" sz="2100" spc="-75" b="1">
                <a:latin typeface="Microsoft JhengHei"/>
                <a:cs typeface="Microsoft JhengHei"/>
              </a:rPr>
              <a:t>章</a:t>
            </a:r>
            <a:endParaRPr baseline="3968" sz="21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050"/>
              </a:spcBef>
            </a:pPr>
            <a:r>
              <a:rPr dirty="0" sz="1800" spc="-10" b="1">
                <a:solidFill>
                  <a:srgbClr val="6FAC46"/>
                </a:solidFill>
                <a:latin typeface="Microsoft JhengHei"/>
                <a:cs typeface="Microsoft JhengHei"/>
              </a:rPr>
              <a:t>第三方機構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7" name="object 27"/>
          <p:cNvSpPr txBox="1"/>
          <p:nvPr/>
        </p:nvSpPr>
        <p:spPr>
          <a:xfrm>
            <a:off x="5136896" y="4618075"/>
            <a:ext cx="6875145" cy="66548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400">
                <a:latin typeface="Microsoft JhengHei"/>
                <a:cs typeface="Microsoft JhengHei"/>
              </a:rPr>
              <a:t>註1</a:t>
            </a:r>
            <a:r>
              <a:rPr dirty="0" sz="1400" spc="-5">
                <a:latin typeface="Microsoft JhengHei"/>
                <a:cs typeface="Microsoft JhengHei"/>
              </a:rPr>
              <a:t>：使用單位自行開發</a:t>
            </a:r>
            <a:r>
              <a:rPr dirty="0" sz="1400" spc="-10">
                <a:latin typeface="Microsoft JhengHei"/>
                <a:cs typeface="Microsoft JhengHei"/>
              </a:rPr>
              <a:t>API</a:t>
            </a:r>
            <a:r>
              <a:rPr dirty="0" sz="1400" spc="-25">
                <a:latin typeface="Microsoft JhengHei"/>
                <a:cs typeface="Microsoft JhengHei"/>
              </a:rPr>
              <a:t>，發送 </a:t>
            </a:r>
            <a:r>
              <a:rPr dirty="0" sz="1400">
                <a:latin typeface="Microsoft JhengHei"/>
                <a:cs typeface="Microsoft JhengHei"/>
              </a:rPr>
              <a:t>RWA</a:t>
            </a:r>
            <a:r>
              <a:rPr dirty="0" sz="1400" spc="-20">
                <a:latin typeface="Microsoft JhengHei"/>
                <a:cs typeface="Microsoft JhengHei"/>
              </a:rPr>
              <a:t> 代幣交割指示予第三方機構請求簽章。</a:t>
            </a:r>
            <a:endParaRPr sz="14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400">
                <a:latin typeface="Microsoft JhengHei"/>
                <a:cs typeface="Microsoft JhengHei"/>
              </a:rPr>
              <a:t>註2</a:t>
            </a:r>
            <a:r>
              <a:rPr dirty="0" sz="1400" spc="-10">
                <a:latin typeface="Microsoft JhengHei"/>
                <a:cs typeface="Microsoft JhengHei"/>
              </a:rPr>
              <a:t>：使用單位依</a:t>
            </a:r>
            <a:r>
              <a:rPr dirty="0" sz="1400" spc="-40">
                <a:latin typeface="Microsoft JhengHei"/>
                <a:cs typeface="Microsoft JhengHei"/>
              </a:rPr>
              <a:t>RWA</a:t>
            </a:r>
            <a:r>
              <a:rPr dirty="0" sz="1400" spc="-10">
                <a:latin typeface="Microsoft JhengHei"/>
                <a:cs typeface="Microsoft JhengHei"/>
              </a:rPr>
              <a:t>代幣平台公告之規格，以</a:t>
            </a:r>
            <a:r>
              <a:rPr dirty="0" sz="1400">
                <a:latin typeface="Microsoft JhengHei"/>
                <a:cs typeface="Microsoft JhengHei"/>
              </a:rPr>
              <a:t>API</a:t>
            </a:r>
            <a:r>
              <a:rPr dirty="0" sz="1400" spc="-20">
                <a:latin typeface="Microsoft JhengHei"/>
                <a:cs typeface="Microsoft JhengHei"/>
              </a:rPr>
              <a:t> 提交已簽署交易至 </a:t>
            </a:r>
            <a:r>
              <a:rPr dirty="0" sz="1400">
                <a:latin typeface="Microsoft JhengHei"/>
                <a:cs typeface="Microsoft JhengHei"/>
              </a:rPr>
              <a:t>RWA</a:t>
            </a:r>
            <a:r>
              <a:rPr dirty="0" sz="1400" spc="-25">
                <a:latin typeface="Microsoft JhengHei"/>
                <a:cs typeface="Microsoft JhengHei"/>
              </a:rPr>
              <a:t> 代幣平台。</a:t>
            </a:r>
            <a:endParaRPr sz="14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四、使用單位洽第三方機構保管私鑰</a:t>
            </a:r>
            <a:r>
              <a:rPr dirty="0" baseline="-8385" sz="3975" spc="-30"/>
              <a:t>(續)</a:t>
            </a:r>
            <a:endParaRPr baseline="-8385" sz="3975"/>
          </a:p>
        </p:txBody>
      </p:sp>
      <p:sp>
        <p:nvSpPr>
          <p:cNvPr id="3" name="object 3"/>
          <p:cNvSpPr txBox="1"/>
          <p:nvPr/>
        </p:nvSpPr>
        <p:spPr>
          <a:xfrm>
            <a:off x="313740" y="985519"/>
            <a:ext cx="686371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200" spc="-35">
                <a:latin typeface="Microsoft JhengHei"/>
                <a:cs typeface="Microsoft JhengHei"/>
              </a:rPr>
              <a:t>情境二：以</a:t>
            </a:r>
            <a:r>
              <a:rPr dirty="0" sz="2200" spc="-50">
                <a:latin typeface="Microsoft JhengHei"/>
                <a:cs typeface="Microsoft JhengHei"/>
              </a:rPr>
              <a:t>RWA</a:t>
            </a:r>
            <a:r>
              <a:rPr dirty="0" sz="2200" spc="-30">
                <a:latin typeface="Microsoft JhengHei"/>
                <a:cs typeface="Microsoft JhengHei"/>
              </a:rPr>
              <a:t>代幣平台</a:t>
            </a:r>
            <a:r>
              <a:rPr dirty="0" sz="2200" spc="-35">
                <a:latin typeface="Microsoft JhengHei"/>
                <a:cs typeface="Microsoft JhengHei"/>
              </a:rPr>
              <a:t>Web介面輸入交割指示為例</a:t>
            </a:r>
            <a:endParaRPr sz="2200">
              <a:latin typeface="Microsoft JhengHei"/>
              <a:cs typeface="Microsoft JhengHe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5451" y="2183012"/>
            <a:ext cx="819260" cy="8383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188200" y="3081908"/>
            <a:ext cx="9169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Microsoft JhengHei"/>
                <a:cs typeface="Microsoft JhengHei"/>
              </a:rPr>
              <a:t>區塊鏈底層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64734" y="2554097"/>
            <a:ext cx="1768475" cy="85725"/>
          </a:xfrm>
          <a:custGeom>
            <a:avLst/>
            <a:gdLst/>
            <a:ahLst/>
            <a:cxnLst/>
            <a:rect l="l" t="t" r="r" b="b"/>
            <a:pathLst>
              <a:path w="1768475" h="85725">
                <a:moveTo>
                  <a:pt x="1682241" y="0"/>
                </a:moveTo>
                <a:lnTo>
                  <a:pt x="1682368" y="28499"/>
                </a:lnTo>
                <a:lnTo>
                  <a:pt x="1682431" y="42544"/>
                </a:lnTo>
                <a:lnTo>
                  <a:pt x="1682522" y="63118"/>
                </a:lnTo>
                <a:lnTo>
                  <a:pt x="1682622" y="85725"/>
                </a:lnTo>
                <a:lnTo>
                  <a:pt x="1739334" y="57074"/>
                </a:lnTo>
                <a:lnTo>
                  <a:pt x="1696719" y="57074"/>
                </a:lnTo>
                <a:lnTo>
                  <a:pt x="1696719" y="28499"/>
                </a:lnTo>
                <a:lnTo>
                  <a:pt x="1739751" y="28499"/>
                </a:lnTo>
                <a:lnTo>
                  <a:pt x="1682241" y="0"/>
                </a:lnTo>
                <a:close/>
              </a:path>
              <a:path w="1768475" h="85725">
                <a:moveTo>
                  <a:pt x="1682368" y="28499"/>
                </a:moveTo>
                <a:lnTo>
                  <a:pt x="0" y="34543"/>
                </a:lnTo>
                <a:lnTo>
                  <a:pt x="0" y="63118"/>
                </a:lnTo>
                <a:lnTo>
                  <a:pt x="1682495" y="57074"/>
                </a:lnTo>
                <a:lnTo>
                  <a:pt x="1682368" y="28499"/>
                </a:lnTo>
                <a:close/>
              </a:path>
              <a:path w="1768475" h="85725">
                <a:moveTo>
                  <a:pt x="1739751" y="28499"/>
                </a:moveTo>
                <a:lnTo>
                  <a:pt x="1696719" y="28499"/>
                </a:lnTo>
                <a:lnTo>
                  <a:pt x="1696719" y="57074"/>
                </a:lnTo>
                <a:lnTo>
                  <a:pt x="1739334" y="57074"/>
                </a:lnTo>
                <a:lnTo>
                  <a:pt x="1768093" y="42544"/>
                </a:lnTo>
                <a:lnTo>
                  <a:pt x="1739751" y="2849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109966" y="2366517"/>
            <a:ext cx="17081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0" b="1">
                <a:solidFill>
                  <a:srgbClr val="FF0000"/>
                </a:solidFill>
                <a:latin typeface="Microsoft JhengHei"/>
                <a:cs typeface="Microsoft JhengHei"/>
              </a:rPr>
              <a:t>⑥ </a:t>
            </a:r>
            <a:r>
              <a:rPr dirty="0" sz="1400" spc="-20" b="1">
                <a:latin typeface="Microsoft JhengHei"/>
                <a:cs typeface="Microsoft JhengHei"/>
              </a:rPr>
              <a:t>共識驗證記入帳本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8963" y="3055366"/>
            <a:ext cx="7391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5" b="1">
                <a:latin typeface="Microsoft JhengHei"/>
                <a:cs typeface="Microsoft JhengHei"/>
              </a:rPr>
              <a:t>使用單位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75357" y="2550795"/>
            <a:ext cx="2400935" cy="85725"/>
          </a:xfrm>
          <a:custGeom>
            <a:avLst/>
            <a:gdLst/>
            <a:ahLst/>
            <a:cxnLst/>
            <a:rect l="l" t="t" r="r" b="b"/>
            <a:pathLst>
              <a:path w="2400935" h="85725">
                <a:moveTo>
                  <a:pt x="2372719" y="28447"/>
                </a:moveTo>
                <a:lnTo>
                  <a:pt x="2328926" y="28447"/>
                </a:lnTo>
                <a:lnTo>
                  <a:pt x="2329046" y="42037"/>
                </a:lnTo>
                <a:lnTo>
                  <a:pt x="2329126" y="51053"/>
                </a:lnTo>
                <a:lnTo>
                  <a:pt x="2329180" y="57022"/>
                </a:lnTo>
                <a:lnTo>
                  <a:pt x="2314956" y="57161"/>
                </a:lnTo>
                <a:lnTo>
                  <a:pt x="2315155" y="79628"/>
                </a:lnTo>
                <a:lnTo>
                  <a:pt x="2315210" y="85725"/>
                </a:lnTo>
                <a:lnTo>
                  <a:pt x="2400554" y="42037"/>
                </a:lnTo>
                <a:lnTo>
                  <a:pt x="2372719" y="28447"/>
                </a:lnTo>
                <a:close/>
              </a:path>
              <a:path w="2400935" h="85725">
                <a:moveTo>
                  <a:pt x="2314702" y="28586"/>
                </a:moveTo>
                <a:lnTo>
                  <a:pt x="0" y="51053"/>
                </a:lnTo>
                <a:lnTo>
                  <a:pt x="381" y="79628"/>
                </a:lnTo>
                <a:lnTo>
                  <a:pt x="2314956" y="57161"/>
                </a:lnTo>
                <a:lnTo>
                  <a:pt x="2314901" y="51053"/>
                </a:lnTo>
                <a:lnTo>
                  <a:pt x="2314821" y="42037"/>
                </a:lnTo>
                <a:lnTo>
                  <a:pt x="2314702" y="28586"/>
                </a:lnTo>
                <a:close/>
              </a:path>
              <a:path w="2400935" h="85725">
                <a:moveTo>
                  <a:pt x="2328926" y="28447"/>
                </a:moveTo>
                <a:lnTo>
                  <a:pt x="2314702" y="28586"/>
                </a:lnTo>
                <a:lnTo>
                  <a:pt x="2314821" y="42037"/>
                </a:lnTo>
                <a:lnTo>
                  <a:pt x="2314901" y="51053"/>
                </a:lnTo>
                <a:lnTo>
                  <a:pt x="2314956" y="57161"/>
                </a:lnTo>
                <a:lnTo>
                  <a:pt x="2329180" y="57022"/>
                </a:lnTo>
                <a:lnTo>
                  <a:pt x="2329126" y="51053"/>
                </a:lnTo>
                <a:lnTo>
                  <a:pt x="2329046" y="42037"/>
                </a:lnTo>
                <a:lnTo>
                  <a:pt x="2328926" y="28447"/>
                </a:lnTo>
                <a:close/>
              </a:path>
              <a:path w="2400935" h="85725">
                <a:moveTo>
                  <a:pt x="2314447" y="0"/>
                </a:moveTo>
                <a:lnTo>
                  <a:pt x="2314700" y="28447"/>
                </a:lnTo>
                <a:lnTo>
                  <a:pt x="2314702" y="28586"/>
                </a:lnTo>
                <a:lnTo>
                  <a:pt x="2372719" y="28447"/>
                </a:lnTo>
                <a:lnTo>
                  <a:pt x="2314447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509005" y="2221229"/>
            <a:ext cx="15284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543" sz="2700" spc="300" b="1">
                <a:solidFill>
                  <a:srgbClr val="FF0000"/>
                </a:solidFill>
                <a:latin typeface="Microsoft JhengHei"/>
                <a:cs typeface="Microsoft JhengHei"/>
              </a:rPr>
              <a:t>⑤</a:t>
            </a:r>
            <a:r>
              <a:rPr dirty="0" sz="1400" spc="-10" b="1">
                <a:latin typeface="Microsoft JhengHei"/>
                <a:cs typeface="Microsoft JhengHei"/>
              </a:rPr>
              <a:t>提交已簽署交易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55871" y="2145919"/>
            <a:ext cx="787400" cy="847090"/>
          </a:xfrm>
          <a:custGeom>
            <a:avLst/>
            <a:gdLst/>
            <a:ahLst/>
            <a:cxnLst/>
            <a:rect l="l" t="t" r="r" b="b"/>
            <a:pathLst>
              <a:path w="787400" h="847089">
                <a:moveTo>
                  <a:pt x="655954" y="0"/>
                </a:moveTo>
                <a:lnTo>
                  <a:pt x="131190" y="0"/>
                </a:lnTo>
                <a:lnTo>
                  <a:pt x="80152" y="10320"/>
                </a:lnTo>
                <a:lnTo>
                  <a:pt x="38449" y="38465"/>
                </a:lnTo>
                <a:lnTo>
                  <a:pt x="10318" y="80206"/>
                </a:lnTo>
                <a:lnTo>
                  <a:pt x="0" y="131317"/>
                </a:lnTo>
                <a:lnTo>
                  <a:pt x="0" y="715898"/>
                </a:lnTo>
                <a:lnTo>
                  <a:pt x="10318" y="766937"/>
                </a:lnTo>
                <a:lnTo>
                  <a:pt x="38449" y="808640"/>
                </a:lnTo>
                <a:lnTo>
                  <a:pt x="80152" y="836771"/>
                </a:lnTo>
                <a:lnTo>
                  <a:pt x="131190" y="847089"/>
                </a:lnTo>
                <a:lnTo>
                  <a:pt x="655954" y="847089"/>
                </a:lnTo>
                <a:lnTo>
                  <a:pt x="707046" y="836771"/>
                </a:lnTo>
                <a:lnTo>
                  <a:pt x="748744" y="808640"/>
                </a:lnTo>
                <a:lnTo>
                  <a:pt x="776845" y="766937"/>
                </a:lnTo>
                <a:lnTo>
                  <a:pt x="787145" y="715898"/>
                </a:lnTo>
                <a:lnTo>
                  <a:pt x="787145" y="131317"/>
                </a:lnTo>
                <a:lnTo>
                  <a:pt x="776845" y="80206"/>
                </a:lnTo>
                <a:lnTo>
                  <a:pt x="748744" y="38465"/>
                </a:lnTo>
                <a:lnTo>
                  <a:pt x="707046" y="10320"/>
                </a:lnTo>
                <a:lnTo>
                  <a:pt x="655954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694935" y="2399791"/>
            <a:ext cx="4870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RWA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93392" y="2214448"/>
            <a:ext cx="22148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6172" sz="2700" spc="179" b="1">
                <a:solidFill>
                  <a:srgbClr val="FF0000"/>
                </a:solidFill>
                <a:latin typeface="Microsoft JhengHei"/>
                <a:cs typeface="Microsoft JhengHei"/>
              </a:rPr>
              <a:t>① </a:t>
            </a:r>
            <a:r>
              <a:rPr dirty="0" sz="1400" spc="-20" b="1">
                <a:latin typeface="Microsoft JhengHei"/>
                <a:cs typeface="Microsoft JhengHei"/>
              </a:rPr>
              <a:t>Web</a:t>
            </a:r>
            <a:r>
              <a:rPr dirty="0" sz="1400" spc="-15" b="1">
                <a:latin typeface="Microsoft JhengHei"/>
                <a:cs typeface="Microsoft JhengHei"/>
              </a:rPr>
              <a:t>介面輸入交割指示</a:t>
            </a:r>
            <a:endParaRPr sz="1400">
              <a:latin typeface="Microsoft JhengHei"/>
              <a:cs typeface="Microsoft JhengHe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26213" y="2147322"/>
            <a:ext cx="829310" cy="848360"/>
            <a:chOff x="1026213" y="2147322"/>
            <a:chExt cx="829310" cy="84836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6213" y="2147322"/>
              <a:ext cx="828796" cy="847842"/>
            </a:xfrm>
            <a:prstGeom prst="rect">
              <a:avLst/>
            </a:prstGeom>
          </p:spPr>
        </p:pic>
        <p:pic>
          <p:nvPicPr>
            <p:cNvPr id="16" name="object 16" descr="一張含有 行 的圖片  AI 產生的內容可能不正確。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1615" y="2288044"/>
              <a:ext cx="502018" cy="502018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2344806" y="4661163"/>
            <a:ext cx="2279650" cy="829310"/>
            <a:chOff x="2344806" y="4661163"/>
            <a:chExt cx="2279650" cy="829310"/>
          </a:xfrm>
        </p:grpSpPr>
        <p:sp>
          <p:nvSpPr>
            <p:cNvPr id="18" name="object 18"/>
            <p:cNvSpPr/>
            <p:nvPr/>
          </p:nvSpPr>
          <p:spPr>
            <a:xfrm>
              <a:off x="3240786" y="4918709"/>
              <a:ext cx="1383665" cy="247015"/>
            </a:xfrm>
            <a:custGeom>
              <a:avLst/>
              <a:gdLst/>
              <a:ahLst/>
              <a:cxnLst/>
              <a:rect l="l" t="t" r="r" b="b"/>
              <a:pathLst>
                <a:path w="1383664" h="247014">
                  <a:moveTo>
                    <a:pt x="1383538" y="203835"/>
                  </a:moveTo>
                  <a:lnTo>
                    <a:pt x="1354874" y="189484"/>
                  </a:lnTo>
                  <a:lnTo>
                    <a:pt x="1297813" y="160909"/>
                  </a:lnTo>
                  <a:lnTo>
                    <a:pt x="1297813" y="189484"/>
                  </a:lnTo>
                  <a:lnTo>
                    <a:pt x="0" y="189484"/>
                  </a:lnTo>
                  <a:lnTo>
                    <a:pt x="0" y="218059"/>
                  </a:lnTo>
                  <a:lnTo>
                    <a:pt x="1297813" y="218059"/>
                  </a:lnTo>
                  <a:lnTo>
                    <a:pt x="1297813" y="246634"/>
                  </a:lnTo>
                  <a:lnTo>
                    <a:pt x="1355039" y="218059"/>
                  </a:lnTo>
                  <a:lnTo>
                    <a:pt x="1383538" y="203835"/>
                  </a:lnTo>
                  <a:close/>
                </a:path>
                <a:path w="1383664" h="247014">
                  <a:moveTo>
                    <a:pt x="1383538" y="28575"/>
                  </a:moveTo>
                  <a:lnTo>
                    <a:pt x="85725" y="28575"/>
                  </a:lnTo>
                  <a:lnTo>
                    <a:pt x="85725" y="0"/>
                  </a:lnTo>
                  <a:lnTo>
                    <a:pt x="0" y="42799"/>
                  </a:lnTo>
                  <a:lnTo>
                    <a:pt x="85725" y="85725"/>
                  </a:lnTo>
                  <a:lnTo>
                    <a:pt x="85725" y="57150"/>
                  </a:lnTo>
                  <a:lnTo>
                    <a:pt x="1383538" y="57150"/>
                  </a:lnTo>
                  <a:lnTo>
                    <a:pt x="1383538" y="28575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44806" y="4661163"/>
              <a:ext cx="790680" cy="828787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190750" y="5510580"/>
            <a:ext cx="10953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Microsoft JhengHei"/>
                <a:cs typeface="Microsoft JhengHei"/>
              </a:rPr>
              <a:t>金鑰保管設備</a:t>
            </a:r>
            <a:endParaRPr sz="1400">
              <a:latin typeface="Microsoft JhengHei"/>
              <a:cs typeface="Microsoft JhengHe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24527" y="4633988"/>
            <a:ext cx="809739" cy="85736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4343146" y="5539232"/>
            <a:ext cx="15360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Microsoft JhengHei"/>
                <a:cs typeface="Microsoft JhengHei"/>
              </a:rPr>
              <a:t>KMS</a:t>
            </a:r>
            <a:r>
              <a:rPr dirty="0" sz="1400" spc="-20" b="1">
                <a:latin typeface="Microsoft JhengHei"/>
                <a:cs typeface="Microsoft JhengHei"/>
              </a:rPr>
              <a:t> 金鑰管理服務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677542" y="4324337"/>
            <a:ext cx="4859655" cy="1683385"/>
          </a:xfrm>
          <a:custGeom>
            <a:avLst/>
            <a:gdLst/>
            <a:ahLst/>
            <a:cxnLst/>
            <a:rect l="l" t="t" r="r" b="b"/>
            <a:pathLst>
              <a:path w="4859655" h="1683385">
                <a:moveTo>
                  <a:pt x="0" y="1683003"/>
                </a:moveTo>
                <a:lnTo>
                  <a:pt x="4859274" y="1683003"/>
                </a:lnTo>
                <a:lnTo>
                  <a:pt x="4859274" y="0"/>
                </a:lnTo>
                <a:lnTo>
                  <a:pt x="0" y="0"/>
                </a:lnTo>
                <a:lnTo>
                  <a:pt x="0" y="1683003"/>
                </a:lnTo>
                <a:close/>
              </a:path>
            </a:pathLst>
          </a:custGeom>
          <a:ln w="25400">
            <a:solidFill>
              <a:srgbClr val="6FAC46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273678" y="4558410"/>
            <a:ext cx="10991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2745" algn="l"/>
              </a:tabLst>
            </a:pPr>
            <a:r>
              <a:rPr dirty="0" baseline="3086" sz="2700" spc="-75" b="1">
                <a:solidFill>
                  <a:srgbClr val="FF0000"/>
                </a:solidFill>
                <a:latin typeface="Microsoft JhengHei"/>
                <a:cs typeface="Microsoft JhengHei"/>
              </a:rPr>
              <a:t>③</a:t>
            </a:r>
            <a:r>
              <a:rPr dirty="0" baseline="3086" sz="2700" b="1">
                <a:solidFill>
                  <a:srgbClr val="FF0000"/>
                </a:solidFill>
                <a:latin typeface="Microsoft JhengHei"/>
                <a:cs typeface="Microsoft JhengHei"/>
              </a:rPr>
              <a:t>	</a:t>
            </a:r>
            <a:r>
              <a:rPr dirty="0" sz="1400" spc="-15" b="1">
                <a:latin typeface="Microsoft JhengHei"/>
                <a:cs typeface="Microsoft JhengHei"/>
              </a:rPr>
              <a:t>簽章請求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782445" y="4121137"/>
            <a:ext cx="1675764" cy="369570"/>
          </a:xfrm>
          <a:custGeom>
            <a:avLst/>
            <a:gdLst/>
            <a:ahLst/>
            <a:cxnLst/>
            <a:rect l="l" t="t" r="r" b="b"/>
            <a:pathLst>
              <a:path w="1675764" h="369570">
                <a:moveTo>
                  <a:pt x="1675510" y="0"/>
                </a:moveTo>
                <a:lnTo>
                  <a:pt x="0" y="0"/>
                </a:lnTo>
                <a:lnTo>
                  <a:pt x="0" y="369328"/>
                </a:lnTo>
                <a:lnTo>
                  <a:pt x="1675510" y="369328"/>
                </a:lnTo>
                <a:lnTo>
                  <a:pt x="16755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861566" y="3077413"/>
            <a:ext cx="4070985" cy="13716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31415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Microsoft JhengHei"/>
                <a:cs typeface="Microsoft JhengHei"/>
              </a:rPr>
              <a:t>RWA</a:t>
            </a:r>
            <a:r>
              <a:rPr dirty="0" sz="1400" spc="-30" b="1">
                <a:latin typeface="Microsoft JhengHei"/>
                <a:cs typeface="Microsoft JhengHei"/>
              </a:rPr>
              <a:t> 代幣平台</a:t>
            </a:r>
            <a:endParaRPr sz="14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400">
              <a:latin typeface="Microsoft JhengHei"/>
              <a:cs typeface="Microsoft JhengHei"/>
            </a:endParaRPr>
          </a:p>
          <a:p>
            <a:pPr marL="1264920">
              <a:lnSpc>
                <a:spcPct val="100000"/>
              </a:lnSpc>
              <a:spcBef>
                <a:spcPts val="5"/>
              </a:spcBef>
              <a:tabLst>
                <a:tab pos="3353435" algn="l"/>
              </a:tabLst>
            </a:pPr>
            <a:r>
              <a:rPr dirty="0" baseline="4629" sz="2700" b="1">
                <a:solidFill>
                  <a:srgbClr val="FF0000"/>
                </a:solidFill>
                <a:latin typeface="Microsoft JhengHei"/>
                <a:cs typeface="Microsoft JhengHei"/>
              </a:rPr>
              <a:t>②</a:t>
            </a:r>
            <a:r>
              <a:rPr dirty="0" baseline="4629" sz="2700" spc="52" b="1">
                <a:solidFill>
                  <a:srgbClr val="FF0000"/>
                </a:solidFill>
                <a:latin typeface="Microsoft JhengHei"/>
                <a:cs typeface="Microsoft JhengHei"/>
              </a:rPr>
              <a:t> </a:t>
            </a:r>
            <a:r>
              <a:rPr dirty="0" sz="1400" spc="-10" b="1">
                <a:latin typeface="Microsoft JhengHei"/>
                <a:cs typeface="Microsoft JhengHei"/>
              </a:rPr>
              <a:t>API</a:t>
            </a:r>
            <a:r>
              <a:rPr dirty="0" sz="1400" b="1">
                <a:latin typeface="Microsoft JhengHei"/>
                <a:cs typeface="Microsoft JhengHei"/>
              </a:rPr>
              <a:t>傳輸簽章內</a:t>
            </a:r>
            <a:r>
              <a:rPr dirty="0" sz="1400" spc="-50" b="1">
                <a:latin typeface="Microsoft JhengHei"/>
                <a:cs typeface="Microsoft JhengHei"/>
              </a:rPr>
              <a:t>容</a:t>
            </a:r>
            <a:r>
              <a:rPr dirty="0" sz="1400" b="1">
                <a:latin typeface="Microsoft JhengHei"/>
                <a:cs typeface="Microsoft JhengHei"/>
              </a:rPr>
              <a:t>	</a:t>
            </a:r>
            <a:r>
              <a:rPr dirty="0" baseline="3086" sz="2700" b="1">
                <a:solidFill>
                  <a:srgbClr val="FF0000"/>
                </a:solidFill>
                <a:latin typeface="Microsoft JhengHei"/>
                <a:cs typeface="Microsoft JhengHei"/>
              </a:rPr>
              <a:t>④</a:t>
            </a:r>
            <a:r>
              <a:rPr dirty="0" baseline="3086" sz="2700" spc="719" b="1">
                <a:solidFill>
                  <a:srgbClr val="FF0000"/>
                </a:solidFill>
                <a:latin typeface="Microsoft JhengHei"/>
                <a:cs typeface="Microsoft JhengHei"/>
              </a:rPr>
              <a:t> </a:t>
            </a:r>
            <a:r>
              <a:rPr dirty="0" baseline="1984" sz="2100" spc="-15" b="1">
                <a:latin typeface="Microsoft JhengHei"/>
                <a:cs typeface="Microsoft JhengHei"/>
              </a:rPr>
              <a:t>簽</a:t>
            </a:r>
            <a:r>
              <a:rPr dirty="0" baseline="1984" sz="2100" spc="-75" b="1">
                <a:latin typeface="Microsoft JhengHei"/>
                <a:cs typeface="Microsoft JhengHei"/>
              </a:rPr>
              <a:t>章</a:t>
            </a:r>
            <a:endParaRPr baseline="1984" sz="21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085"/>
              </a:spcBef>
            </a:pPr>
            <a:r>
              <a:rPr dirty="0" sz="1800" b="1">
                <a:solidFill>
                  <a:srgbClr val="6FAC46"/>
                </a:solidFill>
                <a:latin typeface="Microsoft JhengHei"/>
                <a:cs typeface="Microsoft JhengHei"/>
              </a:rPr>
              <a:t>第三方機構</a:t>
            </a:r>
            <a:r>
              <a:rPr dirty="0" sz="1600" spc="-30">
                <a:solidFill>
                  <a:srgbClr val="6FAC46"/>
                </a:solidFill>
                <a:latin typeface="Microsoft JhengHei"/>
                <a:cs typeface="Microsoft JhengHei"/>
              </a:rPr>
              <a:t>(註)</a:t>
            </a:r>
            <a:endParaRPr sz="1600">
              <a:latin typeface="Microsoft JhengHei"/>
              <a:cs typeface="Microsoft JhengHe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922647" y="3296030"/>
            <a:ext cx="241300" cy="1036955"/>
          </a:xfrm>
          <a:custGeom>
            <a:avLst/>
            <a:gdLst/>
            <a:ahLst/>
            <a:cxnLst/>
            <a:rect l="l" t="t" r="r" b="b"/>
            <a:pathLst>
              <a:path w="241300" h="1036954">
                <a:moveTo>
                  <a:pt x="85725" y="950722"/>
                </a:moveTo>
                <a:lnTo>
                  <a:pt x="57150" y="950722"/>
                </a:lnTo>
                <a:lnTo>
                  <a:pt x="57150" y="30480"/>
                </a:lnTo>
                <a:lnTo>
                  <a:pt x="28575" y="30480"/>
                </a:lnTo>
                <a:lnTo>
                  <a:pt x="28575" y="950722"/>
                </a:lnTo>
                <a:lnTo>
                  <a:pt x="0" y="950722"/>
                </a:lnTo>
                <a:lnTo>
                  <a:pt x="42926" y="1036447"/>
                </a:lnTo>
                <a:lnTo>
                  <a:pt x="78549" y="965073"/>
                </a:lnTo>
                <a:lnTo>
                  <a:pt x="85725" y="950722"/>
                </a:lnTo>
                <a:close/>
              </a:path>
              <a:path w="241300" h="1036954">
                <a:moveTo>
                  <a:pt x="241046" y="85725"/>
                </a:moveTo>
                <a:lnTo>
                  <a:pt x="233870" y="71374"/>
                </a:lnTo>
                <a:lnTo>
                  <a:pt x="198247" y="0"/>
                </a:lnTo>
                <a:lnTo>
                  <a:pt x="155321" y="85725"/>
                </a:lnTo>
                <a:lnTo>
                  <a:pt x="183896" y="85725"/>
                </a:lnTo>
                <a:lnTo>
                  <a:pt x="183896" y="1033399"/>
                </a:lnTo>
                <a:lnTo>
                  <a:pt x="212471" y="1033399"/>
                </a:lnTo>
                <a:lnTo>
                  <a:pt x="212471" y="85725"/>
                </a:lnTo>
                <a:lnTo>
                  <a:pt x="241046" y="857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955281" y="5466689"/>
            <a:ext cx="470725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400" spc="-5">
                <a:latin typeface="Microsoft JhengHei"/>
                <a:cs typeface="Microsoft JhengHei"/>
              </a:rPr>
              <a:t>註：第三方保管機構依</a:t>
            </a:r>
            <a:r>
              <a:rPr dirty="0" sz="1400" spc="-35">
                <a:latin typeface="Microsoft JhengHei"/>
                <a:cs typeface="Microsoft JhengHei"/>
              </a:rPr>
              <a:t>RWA</a:t>
            </a:r>
            <a:r>
              <a:rPr dirty="0" sz="1400" spc="-20">
                <a:latin typeface="Microsoft JhengHei"/>
                <a:cs typeface="Microsoft JhengHei"/>
              </a:rPr>
              <a:t>代幣平台公告之規格開發傳輸簽</a:t>
            </a:r>
            <a:r>
              <a:rPr dirty="0" sz="1400">
                <a:latin typeface="Microsoft JhengHei"/>
                <a:cs typeface="Microsoft JhengHei"/>
              </a:rPr>
              <a:t>章等</a:t>
            </a:r>
            <a:r>
              <a:rPr dirty="0" sz="1400" spc="-10">
                <a:latin typeface="Microsoft JhengHei"/>
                <a:cs typeface="Microsoft JhengHei"/>
              </a:rPr>
              <a:t>API</a:t>
            </a:r>
            <a:r>
              <a:rPr dirty="0" sz="1400" spc="-50">
                <a:latin typeface="Microsoft JhengHei"/>
                <a:cs typeface="Microsoft JhengHei"/>
              </a:rPr>
              <a:t>。</a:t>
            </a:r>
            <a:endParaRPr sz="1400">
              <a:latin typeface="Microsoft JhengHei"/>
              <a:cs typeface="Microsoft JhengHe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四、使用單位洽第三方機構保管私鑰</a:t>
            </a:r>
            <a:r>
              <a:rPr dirty="0" baseline="-8385" sz="3975" spc="-30"/>
              <a:t>(續)</a:t>
            </a:r>
            <a:endParaRPr baseline="-8385" sz="3975"/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313740" y="1206556"/>
            <a:ext cx="11416665" cy="3227705"/>
          </a:xfrm>
          <a:prstGeom prst="rect">
            <a:avLst/>
          </a:prstGeom>
        </p:spPr>
        <p:txBody>
          <a:bodyPr wrap="square" lIns="0" tIns="16573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30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000" spc="-20">
                <a:latin typeface="Microsoft JhengHei"/>
                <a:cs typeface="Microsoft JhengHei"/>
              </a:rPr>
              <a:t>第三方保管機構應採用符合國際安全標準之私鑰保護機制，包含</a:t>
            </a:r>
            <a:r>
              <a:rPr dirty="0" sz="2000" spc="-10">
                <a:solidFill>
                  <a:srgbClr val="FF0000"/>
                </a:solidFill>
                <a:latin typeface="Microsoft JhengHei"/>
                <a:cs typeface="Microsoft JhengHei"/>
              </a:rPr>
              <a:t>符合 </a:t>
            </a:r>
            <a:r>
              <a:rPr dirty="0" sz="2000">
                <a:solidFill>
                  <a:srgbClr val="FF0000"/>
                </a:solidFill>
                <a:latin typeface="Microsoft JhengHei"/>
                <a:cs typeface="Microsoft JhengHei"/>
              </a:rPr>
              <a:t>FIPS</a:t>
            </a:r>
            <a:r>
              <a:rPr dirty="0" sz="2000" spc="-20">
                <a:solidFill>
                  <a:srgbClr val="FF0000"/>
                </a:solidFill>
                <a:latin typeface="Microsoft JhengHei"/>
                <a:cs typeface="Microsoft JhengHei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Microsoft JhengHei"/>
                <a:cs typeface="Microsoft JhengHei"/>
              </a:rPr>
              <a:t>140-</a:t>
            </a:r>
            <a:r>
              <a:rPr dirty="0" sz="2000">
                <a:solidFill>
                  <a:srgbClr val="FF0000"/>
                </a:solidFill>
                <a:latin typeface="Microsoft JhengHei"/>
                <a:cs typeface="Microsoft JhengHei"/>
              </a:rPr>
              <a:t>2 Level</a:t>
            </a:r>
            <a:r>
              <a:rPr dirty="0" sz="2000" spc="-20">
                <a:solidFill>
                  <a:srgbClr val="FF0000"/>
                </a:solidFill>
                <a:latin typeface="Microsoft JhengHei"/>
                <a:cs typeface="Microsoft JhengHei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Microsoft JhengHei"/>
                <a:cs typeface="Microsoft JhengHei"/>
              </a:rPr>
              <a:t>3（或以上</a:t>
            </a:r>
            <a:r>
              <a:rPr dirty="0" sz="2000" spc="-50">
                <a:solidFill>
                  <a:srgbClr val="FF0000"/>
                </a:solidFill>
                <a:latin typeface="Microsoft JhengHei"/>
                <a:cs typeface="Microsoft JhengHei"/>
              </a:rPr>
              <a:t>）</a:t>
            </a:r>
            <a:endParaRPr sz="2000">
              <a:latin typeface="Microsoft JhengHei"/>
              <a:cs typeface="Microsoft JhengHei"/>
            </a:endParaRPr>
          </a:p>
          <a:p>
            <a:pPr marL="299085">
              <a:lnSpc>
                <a:spcPct val="100000"/>
              </a:lnSpc>
              <a:spcBef>
                <a:spcPts val="1200"/>
              </a:spcBef>
            </a:pPr>
            <a:r>
              <a:rPr dirty="0" sz="2000" spc="-10">
                <a:solidFill>
                  <a:srgbClr val="FF0000"/>
                </a:solidFill>
                <a:latin typeface="Microsoft JhengHei"/>
                <a:cs typeface="Microsoft JhengHei"/>
              </a:rPr>
              <a:t>之硬體安全模組（HSM）、多方安全計算（MPC）</a:t>
            </a:r>
            <a:r>
              <a:rPr dirty="0" sz="2000" spc="-20">
                <a:latin typeface="Microsoft JhengHei"/>
                <a:cs typeface="Microsoft JhengHei"/>
              </a:rPr>
              <a:t>，或其他經驗證具同等安全性之金鑰保護機制。</a:t>
            </a:r>
            <a:endParaRPr sz="20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2000">
              <a:latin typeface="Microsoft JhengHei"/>
              <a:cs typeface="Microsoft JhengHei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z="2000" spc="-20">
                <a:latin typeface="Microsoft JhengHei"/>
                <a:cs typeface="Microsoft JhengHei"/>
              </a:rPr>
              <a:t>擬真階段可洽以下機構提供保管服務</a:t>
            </a:r>
            <a:endParaRPr sz="2000">
              <a:latin typeface="Microsoft JhengHei"/>
              <a:cs typeface="Microsoft JhengHei"/>
            </a:endParaRPr>
          </a:p>
          <a:p>
            <a:pPr lvl="1" marL="641350" indent="-2660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641350" algn="l"/>
              </a:tabLst>
            </a:pPr>
            <a:r>
              <a:rPr dirty="0" sz="2000" spc="-15">
                <a:latin typeface="Microsoft JhengHei"/>
                <a:cs typeface="Microsoft JhengHei"/>
              </a:rPr>
              <a:t>試辦虛擬資產保管商業務之金融機構</a:t>
            </a:r>
            <a:endParaRPr sz="2000">
              <a:latin typeface="Microsoft JhengHei"/>
              <a:cs typeface="Microsoft JhengHei"/>
            </a:endParaRPr>
          </a:p>
          <a:p>
            <a:pPr lvl="1" marL="641350" indent="-2660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641350" algn="l"/>
              </a:tabLst>
            </a:pPr>
            <a:r>
              <a:rPr dirty="0" sz="2000" spc="-15">
                <a:latin typeface="Microsoft JhengHei"/>
                <a:cs typeface="Microsoft JhengHei"/>
              </a:rPr>
              <a:t>國內電子簽章法許可之憑證發行機構</a:t>
            </a:r>
            <a:endParaRPr sz="2000">
              <a:latin typeface="Microsoft JhengHei"/>
              <a:cs typeface="Microsoft JhengHei"/>
            </a:endParaRPr>
          </a:p>
          <a:p>
            <a:pPr lvl="1" marL="641350" indent="-2660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641350" algn="l"/>
              </a:tabLst>
            </a:pPr>
            <a:r>
              <a:rPr dirty="0" sz="2000" spc="-20">
                <a:latin typeface="Microsoft JhengHei"/>
                <a:cs typeface="Microsoft JhengHei"/>
              </a:rPr>
              <a:t>其他符合國際安全標準私鑰保護機制之國內金融機構</a:t>
            </a:r>
            <a:endParaRPr sz="20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4538" y="63830"/>
            <a:ext cx="307276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五、預定時程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878" y="1339372"/>
            <a:ext cx="376570" cy="4454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88694" y="1235323"/>
            <a:ext cx="9779635" cy="52444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675"/>
              </a:spcBef>
            </a:pPr>
            <a:r>
              <a:rPr dirty="0" sz="2400" spc="-10" b="1">
                <a:latin typeface="Microsoft JhengHei"/>
                <a:cs typeface="Microsoft JhengHei"/>
              </a:rPr>
              <a:t>115</a:t>
            </a:r>
            <a:r>
              <a:rPr dirty="0" sz="2400" b="1">
                <a:latin typeface="Microsoft JhengHei"/>
                <a:cs typeface="Microsoft JhengHei"/>
              </a:rPr>
              <a:t>年</a:t>
            </a:r>
            <a:r>
              <a:rPr dirty="0" sz="2400" spc="-10" b="1">
                <a:latin typeface="Microsoft JhengHei"/>
                <a:cs typeface="Microsoft JhengHei"/>
              </a:rPr>
              <a:t>9</a:t>
            </a:r>
            <a:r>
              <a:rPr dirty="0" sz="2400" spc="-20" b="1">
                <a:latin typeface="Microsoft JhengHei"/>
                <a:cs typeface="Microsoft JhengHei"/>
              </a:rPr>
              <a:t>月初：</a:t>
            </a:r>
            <a:endParaRPr sz="2400">
              <a:latin typeface="Microsoft JhengHei"/>
              <a:cs typeface="Microsoft JhengHei"/>
            </a:endParaRPr>
          </a:p>
          <a:p>
            <a:pPr marL="30480" marR="5080">
              <a:lnSpc>
                <a:spcPts val="3190"/>
              </a:lnSpc>
              <a:spcBef>
                <a:spcPts val="175"/>
              </a:spcBef>
            </a:pPr>
            <a:r>
              <a:rPr dirty="0" sz="2200" spc="-50">
                <a:latin typeface="Microsoft JhengHei"/>
                <a:cs typeface="Microsoft JhengHei"/>
              </a:rPr>
              <a:t>RWA</a:t>
            </a:r>
            <a:r>
              <a:rPr dirty="0" sz="2200" spc="-30">
                <a:latin typeface="Microsoft JhengHei"/>
                <a:cs typeface="Microsoft JhengHei"/>
              </a:rPr>
              <a:t>代幣平台公告本案</a:t>
            </a:r>
            <a:r>
              <a:rPr dirty="0" sz="2200" spc="-20">
                <a:latin typeface="Microsoft JhengHei"/>
                <a:cs typeface="Microsoft JhengHei"/>
              </a:rPr>
              <a:t>API</a:t>
            </a:r>
            <a:r>
              <a:rPr dirty="0" sz="2200" spc="-35">
                <a:latin typeface="Microsoft JhengHei"/>
                <a:cs typeface="Microsoft JhengHei"/>
              </a:rPr>
              <a:t>等規格，請使用單位內部相關系統配合專案需求及時程進行開發。</a:t>
            </a:r>
            <a:endParaRPr sz="22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065"/>
              </a:spcBef>
            </a:pPr>
            <a:r>
              <a:rPr dirty="0" sz="2400" spc="-10" b="1">
                <a:latin typeface="Microsoft JhengHei"/>
                <a:cs typeface="Microsoft JhengHei"/>
              </a:rPr>
              <a:t>115年10</a:t>
            </a:r>
            <a:r>
              <a:rPr dirty="0" sz="2400" spc="-25" b="1">
                <a:latin typeface="Microsoft JhengHei"/>
                <a:cs typeface="Microsoft JhengHei"/>
              </a:rPr>
              <a:t>月起：</a:t>
            </a:r>
            <a:endParaRPr sz="2400">
              <a:latin typeface="Microsoft JhengHei"/>
              <a:cs typeface="Microsoft JhengHei"/>
            </a:endParaRPr>
          </a:p>
          <a:p>
            <a:pPr marL="12700" marR="121285">
              <a:lnSpc>
                <a:spcPts val="3190"/>
              </a:lnSpc>
              <a:spcBef>
                <a:spcPts val="175"/>
              </a:spcBef>
            </a:pPr>
            <a:r>
              <a:rPr dirty="0" sz="2200" spc="-50">
                <a:latin typeface="Microsoft JhengHei"/>
                <a:cs typeface="Microsoft JhengHei"/>
              </a:rPr>
              <a:t>RWA</a:t>
            </a:r>
            <a:r>
              <a:rPr dirty="0" sz="2200" spc="-30">
                <a:latin typeface="Microsoft JhengHei"/>
                <a:cs typeface="Microsoft JhengHei"/>
              </a:rPr>
              <a:t>代幣平台受理使用單位申請</a:t>
            </a:r>
            <a:r>
              <a:rPr dirty="0" sz="2200" spc="-25">
                <a:latin typeface="Microsoft JhengHei"/>
                <a:cs typeface="Microsoft JhengHei"/>
              </a:rPr>
              <a:t>115</a:t>
            </a:r>
            <a:r>
              <a:rPr dirty="0" sz="2200" spc="-30">
                <a:latin typeface="Microsoft JhengHei"/>
                <a:cs typeface="Microsoft JhengHei"/>
              </a:rPr>
              <a:t>年</a:t>
            </a:r>
            <a:r>
              <a:rPr dirty="0" sz="2200" spc="-20">
                <a:latin typeface="Microsoft JhengHei"/>
                <a:cs typeface="Microsoft JhengHei"/>
              </a:rPr>
              <a:t>11</a:t>
            </a:r>
            <a:r>
              <a:rPr dirty="0" sz="2200" spc="-30">
                <a:latin typeface="Microsoft JhengHei"/>
                <a:cs typeface="Microsoft JhengHei"/>
              </a:rPr>
              <a:t>月辦理黃金代幣連通測試、</a:t>
            </a:r>
            <a:r>
              <a:rPr dirty="0" sz="2200" spc="-20">
                <a:latin typeface="Microsoft JhengHei"/>
                <a:cs typeface="Microsoft JhengHei"/>
              </a:rPr>
              <a:t>116</a:t>
            </a:r>
            <a:r>
              <a:rPr dirty="0" sz="2200" spc="-30">
                <a:latin typeface="Microsoft JhengHei"/>
                <a:cs typeface="Microsoft JhengHei"/>
              </a:rPr>
              <a:t>年</a:t>
            </a:r>
            <a:r>
              <a:rPr dirty="0" sz="2200" spc="-25">
                <a:latin typeface="Microsoft JhengHei"/>
                <a:cs typeface="Microsoft JhengHei"/>
              </a:rPr>
              <a:t>2</a:t>
            </a:r>
            <a:r>
              <a:rPr dirty="0" sz="2200" spc="-50">
                <a:latin typeface="Microsoft JhengHei"/>
                <a:cs typeface="Microsoft JhengHei"/>
              </a:rPr>
              <a:t>月</a:t>
            </a:r>
            <a:r>
              <a:rPr dirty="0" sz="2200" spc="-35">
                <a:latin typeface="Microsoft JhengHei"/>
                <a:cs typeface="Microsoft JhengHei"/>
              </a:rPr>
              <a:t>辦理債券代幣連通測試。</a:t>
            </a:r>
            <a:endParaRPr sz="2200">
              <a:latin typeface="Microsoft JhengHei"/>
              <a:cs typeface="Microsoft JhengHei"/>
            </a:endParaRPr>
          </a:p>
          <a:p>
            <a:pPr marL="30480">
              <a:lnSpc>
                <a:spcPct val="100000"/>
              </a:lnSpc>
              <a:spcBef>
                <a:spcPts val="3140"/>
              </a:spcBef>
            </a:pPr>
            <a:r>
              <a:rPr dirty="0" sz="2400" spc="-10" b="1">
                <a:latin typeface="Microsoft JhengHei"/>
                <a:cs typeface="Microsoft JhengHei"/>
              </a:rPr>
              <a:t>115</a:t>
            </a:r>
            <a:r>
              <a:rPr dirty="0" sz="2400" b="1">
                <a:latin typeface="Microsoft JhengHei"/>
                <a:cs typeface="Microsoft JhengHei"/>
              </a:rPr>
              <a:t>年</a:t>
            </a:r>
            <a:r>
              <a:rPr dirty="0" sz="2400" spc="-10" b="1">
                <a:latin typeface="Microsoft JhengHei"/>
                <a:cs typeface="Microsoft JhengHei"/>
              </a:rPr>
              <a:t>12</a:t>
            </a:r>
            <a:r>
              <a:rPr dirty="0" sz="2400" b="1">
                <a:latin typeface="Microsoft JhengHei"/>
                <a:cs typeface="Microsoft JhengHei"/>
              </a:rPr>
              <a:t>月</a:t>
            </a:r>
            <a:r>
              <a:rPr dirty="0" sz="2400" spc="-10" b="1">
                <a:latin typeface="Microsoft JhengHei"/>
                <a:cs typeface="Microsoft JhengHei"/>
              </a:rPr>
              <a:t>15</a:t>
            </a:r>
            <a:r>
              <a:rPr dirty="0" sz="2400" b="1">
                <a:latin typeface="Microsoft JhengHei"/>
                <a:cs typeface="Microsoft JhengHei"/>
              </a:rPr>
              <a:t>日至</a:t>
            </a:r>
            <a:r>
              <a:rPr dirty="0" sz="2400" spc="-10" b="1">
                <a:latin typeface="Microsoft JhengHei"/>
                <a:cs typeface="Microsoft JhengHei"/>
              </a:rPr>
              <a:t>12</a:t>
            </a:r>
            <a:r>
              <a:rPr dirty="0" sz="2400" b="1">
                <a:latin typeface="Microsoft JhengHei"/>
                <a:cs typeface="Microsoft JhengHei"/>
              </a:rPr>
              <a:t>月</a:t>
            </a:r>
            <a:r>
              <a:rPr dirty="0" sz="2400" spc="-10" b="1">
                <a:latin typeface="Microsoft JhengHei"/>
                <a:cs typeface="Microsoft JhengHei"/>
              </a:rPr>
              <a:t>21</a:t>
            </a:r>
            <a:r>
              <a:rPr dirty="0" sz="2400" spc="-25" b="1">
                <a:latin typeface="Microsoft JhengHei"/>
                <a:cs typeface="Microsoft JhengHei"/>
              </a:rPr>
              <a:t>日：</a:t>
            </a:r>
            <a:endParaRPr sz="2400">
              <a:latin typeface="Microsoft JhengHei"/>
              <a:cs typeface="Microsoft JhengHei"/>
            </a:endParaRPr>
          </a:p>
          <a:p>
            <a:pPr marL="30480">
              <a:lnSpc>
                <a:spcPct val="100000"/>
              </a:lnSpc>
              <a:spcBef>
                <a:spcPts val="520"/>
              </a:spcBef>
            </a:pPr>
            <a:r>
              <a:rPr dirty="0" sz="2200" spc="-30">
                <a:latin typeface="Microsoft JhengHei"/>
                <a:cs typeface="Microsoft JhengHei"/>
              </a:rPr>
              <a:t>使用單位辦理</a:t>
            </a:r>
            <a:r>
              <a:rPr dirty="0" u="sng" sz="2200" spc="-30">
                <a:uFill>
                  <a:solidFill>
                    <a:srgbClr val="000000"/>
                  </a:solidFill>
                </a:uFill>
                <a:latin typeface="Microsoft JhengHei"/>
                <a:cs typeface="Microsoft JhengHei"/>
              </a:rPr>
              <a:t>黃金</a:t>
            </a:r>
            <a:r>
              <a:rPr dirty="0" u="none" sz="2200" spc="-35">
                <a:latin typeface="Microsoft JhengHei"/>
                <a:cs typeface="Microsoft JhengHei"/>
              </a:rPr>
              <a:t>相關功能測試。</a:t>
            </a:r>
            <a:endParaRPr sz="22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2200">
              <a:latin typeface="Microsoft JhengHei"/>
              <a:cs typeface="Microsoft JhengHei"/>
            </a:endParaRPr>
          </a:p>
          <a:p>
            <a:pPr marL="30480">
              <a:lnSpc>
                <a:spcPct val="100000"/>
              </a:lnSpc>
            </a:pPr>
            <a:r>
              <a:rPr dirty="0" sz="2400" spc="-10" b="1">
                <a:latin typeface="Microsoft JhengHei"/>
                <a:cs typeface="Microsoft JhengHei"/>
              </a:rPr>
              <a:t>116</a:t>
            </a:r>
            <a:r>
              <a:rPr dirty="0" sz="2400" b="1">
                <a:latin typeface="Microsoft JhengHei"/>
                <a:cs typeface="Microsoft JhengHei"/>
              </a:rPr>
              <a:t>年</a:t>
            </a:r>
            <a:r>
              <a:rPr dirty="0" sz="2400" spc="-10" b="1">
                <a:latin typeface="Microsoft JhengHei"/>
                <a:cs typeface="Microsoft JhengHei"/>
              </a:rPr>
              <a:t>3</a:t>
            </a:r>
            <a:r>
              <a:rPr dirty="0" sz="2400" b="1">
                <a:latin typeface="Microsoft JhengHei"/>
                <a:cs typeface="Microsoft JhengHei"/>
              </a:rPr>
              <a:t>月</a:t>
            </a:r>
            <a:r>
              <a:rPr dirty="0" sz="2400" spc="-10" b="1">
                <a:latin typeface="Microsoft JhengHei"/>
                <a:cs typeface="Microsoft JhengHei"/>
              </a:rPr>
              <a:t>16</a:t>
            </a:r>
            <a:r>
              <a:rPr dirty="0" sz="2400" b="1">
                <a:latin typeface="Microsoft JhengHei"/>
                <a:cs typeface="Microsoft JhengHei"/>
              </a:rPr>
              <a:t>日至</a:t>
            </a:r>
            <a:r>
              <a:rPr dirty="0" sz="2400" spc="-10" b="1">
                <a:latin typeface="Microsoft JhengHei"/>
                <a:cs typeface="Microsoft JhengHei"/>
              </a:rPr>
              <a:t>3</a:t>
            </a:r>
            <a:r>
              <a:rPr dirty="0" sz="2400" b="1">
                <a:latin typeface="Microsoft JhengHei"/>
                <a:cs typeface="Microsoft JhengHei"/>
              </a:rPr>
              <a:t>月</a:t>
            </a:r>
            <a:r>
              <a:rPr dirty="0" sz="2400" spc="-10" b="1">
                <a:latin typeface="Microsoft JhengHei"/>
                <a:cs typeface="Microsoft JhengHei"/>
              </a:rPr>
              <a:t>22</a:t>
            </a:r>
            <a:r>
              <a:rPr dirty="0" sz="2400" spc="-25" b="1">
                <a:latin typeface="Microsoft JhengHei"/>
                <a:cs typeface="Microsoft JhengHei"/>
              </a:rPr>
              <a:t>日：</a:t>
            </a:r>
            <a:endParaRPr sz="2400">
              <a:latin typeface="Microsoft JhengHei"/>
              <a:cs typeface="Microsoft JhengHei"/>
            </a:endParaRPr>
          </a:p>
          <a:p>
            <a:pPr marL="30480">
              <a:lnSpc>
                <a:spcPct val="100000"/>
              </a:lnSpc>
              <a:spcBef>
                <a:spcPts val="525"/>
              </a:spcBef>
            </a:pPr>
            <a:r>
              <a:rPr dirty="0" sz="2200" spc="-30">
                <a:latin typeface="Microsoft JhengHei"/>
                <a:cs typeface="Microsoft JhengHei"/>
              </a:rPr>
              <a:t>使用單位辦理</a:t>
            </a:r>
            <a:r>
              <a:rPr dirty="0" u="sng" sz="2200" spc="-30">
                <a:uFill>
                  <a:solidFill>
                    <a:srgbClr val="000000"/>
                  </a:solidFill>
                </a:uFill>
                <a:latin typeface="Microsoft JhengHei"/>
                <a:cs typeface="Microsoft JhengHei"/>
              </a:rPr>
              <a:t>債券</a:t>
            </a:r>
            <a:r>
              <a:rPr dirty="0" u="none" sz="2200" spc="-35">
                <a:latin typeface="Microsoft JhengHei"/>
                <a:cs typeface="Microsoft JhengHei"/>
              </a:rPr>
              <a:t>相關功能測試。</a:t>
            </a:r>
            <a:endParaRPr sz="2200">
              <a:latin typeface="Microsoft JhengHei"/>
              <a:cs typeface="Microsoft JhengHe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878" y="4395881"/>
            <a:ext cx="376570" cy="44545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878" y="5716592"/>
            <a:ext cx="376570" cy="44545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149" y="2799618"/>
            <a:ext cx="376570" cy="4454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066267"/>
            <a:ext cx="12192000" cy="79172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080766" y="3163951"/>
            <a:ext cx="602742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70885" algn="l"/>
              </a:tabLst>
            </a:pPr>
            <a:r>
              <a:rPr dirty="0" sz="5400">
                <a:latin typeface="Microsoft JhengHei"/>
                <a:cs typeface="Microsoft JhengHei"/>
              </a:rPr>
              <a:t>簡報結</a:t>
            </a:r>
            <a:r>
              <a:rPr dirty="0" sz="5400" spc="-50">
                <a:latin typeface="Microsoft JhengHei"/>
                <a:cs typeface="Microsoft JhengHei"/>
              </a:rPr>
              <a:t>束</a:t>
            </a:r>
            <a:r>
              <a:rPr dirty="0" sz="5400">
                <a:latin typeface="Microsoft JhengHei"/>
                <a:cs typeface="Microsoft JhengHei"/>
              </a:rPr>
              <a:t>	敬請指</a:t>
            </a:r>
            <a:r>
              <a:rPr dirty="0" sz="5400" spc="-50">
                <a:latin typeface="Microsoft JhengHei"/>
                <a:cs typeface="Microsoft JhengHei"/>
              </a:rPr>
              <a:t>教</a:t>
            </a:r>
            <a:endParaRPr sz="54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50847" y="6314033"/>
            <a:ext cx="2570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FFFFFF"/>
                </a:solidFill>
                <a:latin typeface="Microsoft JhengHei"/>
                <a:cs typeface="Microsoft JhengHei"/>
              </a:rPr>
              <a:t>完善金融資產集保平台</a:t>
            </a:r>
            <a:endParaRPr sz="2000">
              <a:latin typeface="Microsoft JhengHei"/>
              <a:cs typeface="Microsoft Jheng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08601" y="6314033"/>
            <a:ext cx="25704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FFFFFF"/>
                </a:solidFill>
                <a:latin typeface="Microsoft JhengHei"/>
                <a:cs typeface="Microsoft JhengHei"/>
              </a:rPr>
              <a:t>引領金融服務數位創新</a:t>
            </a:r>
            <a:endParaRPr sz="200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66481" y="6314033"/>
            <a:ext cx="25736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FFFFFF"/>
                </a:solidFill>
                <a:latin typeface="Microsoft JhengHei"/>
                <a:cs typeface="Microsoft JhengHei"/>
              </a:rPr>
              <a:t>共推金融市場永續發展</a:t>
            </a:r>
            <a:endParaRPr sz="2000">
              <a:latin typeface="Microsoft JhengHei"/>
              <a:cs typeface="Microsoft JhengHe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908296" y="1785950"/>
            <a:ext cx="2192020" cy="11233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200" spc="-25" b="0">
                <a:solidFill>
                  <a:srgbClr val="000000"/>
                </a:solidFill>
                <a:latin typeface="Microsoft JhengHei"/>
                <a:cs typeface="Microsoft JhengHei"/>
              </a:rPr>
              <a:t>Q&amp;A</a:t>
            </a:r>
            <a:endParaRPr sz="72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許重勝</dc:creator>
  <dc:title>PowerPoint 簡報</dc:title>
  <dcterms:created xsi:type="dcterms:W3CDTF">2026-08-26T08:29:31Z</dcterms:created>
  <dcterms:modified xsi:type="dcterms:W3CDTF">2026-08-26T08:29:31Z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2026-08-07T00:00:00Z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2026-08-26T00:00:00Z</vt:filetime>
  </property>
  <property fmtid="{D5CDD505-2E9C-101B-9397-08002B2CF9AE}" pid="5" name="Producer">
    <vt:lpwstr>Microsoft® PowerPoint® LTSC</vt:lpwstr>
  </property>
</Properties>
</file>