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(一般內外部使用)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60A8F5F-83B1-BC42-302A-BEBBDE3575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195" y="3722655"/>
            <a:ext cx="8618046" cy="792089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subtitle here</a:t>
            </a:r>
            <a:r>
              <a:rPr lang="en-US" altLang="zh-TW" dirty="0"/>
              <a:t>/</a:t>
            </a:r>
            <a:r>
              <a:rPr lang="zh-TW" altLang="en-US" dirty="0"/>
              <a:t>副標題</a:t>
            </a:r>
            <a:endParaRPr lang="en-GB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5E29903C-3A77-04D4-EB8D-620930D43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1195" y="1809825"/>
            <a:ext cx="8618046" cy="1836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16339BFE-A765-8F29-853A-156DD08A01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1084" y="5643096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798FD-4237-3530-57E2-BF152C1FB444}"/>
              </a:ext>
            </a:extLst>
          </p:cNvPr>
          <p:cNvSpPr/>
          <p:nvPr/>
        </p:nvSpPr>
        <p:spPr bwMode="auto">
          <a:xfrm>
            <a:off x="1616149" y="1360967"/>
            <a:ext cx="8952614" cy="489097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200" b="1" i="0" u="none" strike="noStrike" cap="none" normalizeH="0" baseline="0" dirty="0" err="1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58110868-E592-43CE-C4AB-DD61449BC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1194" y="4586751"/>
            <a:ext cx="8618046" cy="97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</a:p>
          <a:p>
            <a:pPr lvl="0"/>
            <a:r>
              <a:rPr lang="en-US" dirty="0"/>
              <a:t>Name / Presenter</a:t>
            </a:r>
            <a:br>
              <a:rPr lang="en-US" dirty="0"/>
            </a:br>
            <a:r>
              <a:rPr lang="en-US" dirty="0"/>
              <a:t>Company Name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7986CD2-F276-6498-491B-323EEFD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7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對外使用）封面_高階主管/公司介紹使用_藍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戶外, 高層建築物, 天空, 大都會區 的圖片&#10;&#10;AI 產生的內容可能不正確。">
            <a:extLst>
              <a:ext uri="{FF2B5EF4-FFF2-40B4-BE49-F238E27FC236}">
                <a16:creationId xmlns:a16="http://schemas.microsoft.com/office/drawing/2014/main" id="{DF5989F6-64B7-FE34-C5CF-1D81725B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4959" r="15051" b="19693"/>
          <a:stretch/>
        </p:blipFill>
        <p:spPr>
          <a:xfrm>
            <a:off x="-1" y="0"/>
            <a:ext cx="12192000" cy="3169920"/>
          </a:xfrm>
          <a:prstGeom prst="rect">
            <a:avLst/>
          </a:prstGeom>
        </p:spPr>
      </p:pic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3B1259DF-3F56-1023-6F8B-5567F7CE3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6000" y="4971319"/>
            <a:ext cx="9360000" cy="66821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  <a:br>
              <a:rPr lang="en-US" dirty="0"/>
            </a:br>
            <a:r>
              <a:rPr lang="en-US" altLang="zh-TW" dirty="0"/>
              <a:t>Company Name</a:t>
            </a:r>
            <a:endParaRPr lang="en-GB" dirty="0"/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F9C7FD12-AEFC-2930-499D-9C95070DA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001" y="3489523"/>
            <a:ext cx="9360000" cy="14409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2B94C9C1-7667-DE81-6681-05C779E47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46867" y="5680361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076D68A-CB22-5CD8-834C-1C410D47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499"/>
          <a:stretch/>
        </p:blipFill>
        <p:spPr>
          <a:xfrm>
            <a:off x="0" y="0"/>
            <a:ext cx="12192000" cy="446646"/>
          </a:xfrm>
          <a:prstGeom prst="rect">
            <a:avLst/>
          </a:prstGeom>
        </p:spPr>
      </p:pic>
      <p:pic>
        <p:nvPicPr>
          <p:cNvPr id="5" name="圖片 4" descr="一張含有 文字, 字型, 標誌, 圖形 的圖片&#10;&#10;AI 產生的內容可能不正確。">
            <a:extLst>
              <a:ext uri="{FF2B5EF4-FFF2-40B4-BE49-F238E27FC236}">
                <a16:creationId xmlns:a16="http://schemas.microsoft.com/office/drawing/2014/main" id="{28F8E197-46D8-FD2A-0828-AB646691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" y="366462"/>
            <a:ext cx="3919927" cy="90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C1BCC7A-9476-882C-ED32-34B76EEDC21A}"/>
              </a:ext>
            </a:extLst>
          </p:cNvPr>
          <p:cNvCxnSpPr/>
          <p:nvPr/>
        </p:nvCxnSpPr>
        <p:spPr>
          <a:xfrm>
            <a:off x="2245360" y="772160"/>
            <a:ext cx="0" cy="482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70787CD-36F0-3EFD-89D4-CDAB8A2B0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170" y="792480"/>
            <a:ext cx="8618046" cy="4826000"/>
          </a:xfrm>
          <a:prstGeom prst="rect">
            <a:avLst/>
          </a:prstGeom>
        </p:spPr>
        <p:txBody>
          <a:bodyPr lIns="0" tIns="72000" rIns="0" bIns="0" anchor="t" anchorCtr="0"/>
          <a:lstStyle>
            <a:lvl1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4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GB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17D7-B634-BF20-FD9D-FBBA8FDB4C9D}"/>
              </a:ext>
            </a:extLst>
          </p:cNvPr>
          <p:cNvSpPr txBox="1"/>
          <p:nvPr/>
        </p:nvSpPr>
        <p:spPr>
          <a:xfrm>
            <a:off x="610784" y="2600385"/>
            <a:ext cx="124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kern="1200" baseline="0" dirty="0">
                <a:solidFill>
                  <a:schemeClr val="tx2"/>
                </a:solidFill>
                <a:latin typeface="+mj-lt"/>
                <a:ea typeface="+mj-ea"/>
                <a:cs typeface="+mn-cs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24975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過場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D791A4D-5205-4352-88AE-97FD7C1F3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997" y="2313647"/>
            <a:ext cx="886153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section here</a:t>
            </a:r>
            <a:r>
              <a:rPr lang="en-US" altLang="zh-TW" dirty="0"/>
              <a:t>/</a:t>
            </a:r>
            <a:r>
              <a:rPr lang="zh-TW" altLang="en-US" dirty="0"/>
              <a:t>過場頁</a:t>
            </a:r>
            <a:endParaRPr lang="en-GB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F2F9EF8-0189-40EB-A178-BB8B489D7B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9997" y="3751989"/>
            <a:ext cx="8861538" cy="507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subsection here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7F589AA-59B8-1AA5-5269-AE950DF4C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689" y="5236250"/>
            <a:ext cx="205617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40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GB" dirty="0"/>
              <a:t>01</a:t>
            </a:r>
            <a:r>
              <a:rPr lang="en-US" altLang="zh-TW" dirty="0"/>
              <a:t>/</a:t>
            </a:r>
            <a:r>
              <a:rPr lang="zh-TW" altLang="en-US" dirty="0"/>
              <a:t>章節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70425691-2F5D-1B38-622A-C698AAA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感謝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B2AC565-B4AC-412F-B16F-DC5E237291CB}"/>
              </a:ext>
            </a:extLst>
          </p:cNvPr>
          <p:cNvSpPr txBox="1"/>
          <p:nvPr/>
        </p:nvSpPr>
        <p:spPr>
          <a:xfrm>
            <a:off x="3911600" y="2875002"/>
            <a:ext cx="436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600" b="1" dirty="0">
                <a:solidFill>
                  <a:schemeClr val="tx2"/>
                </a:solidFill>
              </a:rPr>
              <a:t>THANK YOU</a:t>
            </a:r>
            <a:endParaRPr kumimoji="1" lang="zh-TW" altLang="en-US" sz="6600" b="1" dirty="0">
              <a:solidFill>
                <a:schemeClr val="tx2"/>
              </a:solidFill>
            </a:endParaRPr>
          </a:p>
        </p:txBody>
      </p:sp>
      <p:pic>
        <p:nvPicPr>
          <p:cNvPr id="4" name="圖片 3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3BF6A9C3-3AD0-FB3E-14AA-5427C2BF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1203650"/>
            <a:ext cx="11323328" cy="514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2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75">
          <p15:clr>
            <a:srgbClr val="FBAE40"/>
          </p15:clr>
        </p15:guide>
        <p15:guide id="3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970D2F-BD06-470D-9E52-3C26FE963F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28775"/>
            <a:ext cx="11323328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7401">
          <p15:clr>
            <a:srgbClr val="FBAE40"/>
          </p15:clr>
        </p15:guide>
        <p15:guide id="3" pos="9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2024064"/>
            <a:ext cx="11332509" cy="432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7988" y="1586507"/>
            <a:ext cx="11332509" cy="359941"/>
          </a:xfrm>
          <a:prstGeom prst="callout1">
            <a:avLst>
              <a:gd name="adj1" fmla="val 100536"/>
              <a:gd name="adj2" fmla="val 100112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8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983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257">
          <p15:clr>
            <a:srgbClr val="FBAE40"/>
          </p15:clr>
        </p15:guide>
        <p15:guide id="4" orient="horz" pos="12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F641177-0307-4560-B9E4-B0B53B756C2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07988" y="4221163"/>
            <a:ext cx="11332509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1A0AB36-A5D0-42CC-9CAC-1F9062CB67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3799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tabLst>
                <a:tab pos="11303000" algn="l"/>
              </a:tabLst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441594-DCE9-48B3-AC8B-4B1A05646A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12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0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005263"/>
            <a:ext cx="11332509" cy="23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32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60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3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184649"/>
            <a:ext cx="11332509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740933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00759"/>
            <a:ext cx="11332509" cy="214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48466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7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9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400550"/>
            <a:ext cx="11332509" cy="19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971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2024065"/>
            <a:ext cx="11332509" cy="19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581227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123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6BC5F27-E9F6-40C0-A26F-CF6C4705AD9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5"/>
            <a:ext cx="562707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9FBBDF0-3048-45E6-BC86-D9360370AE6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1628775"/>
            <a:ext cx="561681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1592263"/>
            <a:ext cx="5627077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56177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2024062"/>
            <a:ext cx="374427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623524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7532308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3524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1592263"/>
            <a:ext cx="374427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200808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592263"/>
            <a:ext cx="753230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200808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8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2017392"/>
            <a:ext cx="7532308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624881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17392"/>
            <a:ext cx="3744276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81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0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1592264"/>
            <a:ext cx="7532308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192833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4"/>
            <a:ext cx="3744276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3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7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170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86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6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41CB5B44-019E-4F14-97DD-AF23159E78D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221162"/>
            <a:ext cx="5627077" cy="212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D70E5A9-41E4-4D45-AD38-1F3CEF9393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3800111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A5CDEB7-0FA8-4B31-8E06-F3541629D6D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221162"/>
            <a:ext cx="5627077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5E03F30-C1F6-4313-B163-2883AE1B5C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3800115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43FAD0A-B607-4163-B361-C1F3CB5A511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36325"/>
            <a:ext cx="11342769" cy="213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22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320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096000" y="2033519"/>
            <a:ext cx="5645745" cy="193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2784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373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97728" y="4376274"/>
            <a:ext cx="5627077" cy="19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97728" y="4006402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21771"/>
            <a:ext cx="5635485" cy="193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97728" y="1614575"/>
            <a:ext cx="56457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398355"/>
            <a:ext cx="5627077" cy="19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1009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05337" y="2035318"/>
            <a:ext cx="5627077" cy="19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896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2035317"/>
            <a:ext cx="5616817" cy="430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A679F0-7236-4334-90D5-8BD873976C2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7728" y="1618969"/>
            <a:ext cx="562707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1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2030014"/>
            <a:ext cx="5627077" cy="435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B0E1-6B8A-4A0D-9ADA-953E16F053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13420" y="1614908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07926" y="4400549"/>
            <a:ext cx="5616880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926" y="4001007"/>
            <a:ext cx="561688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30014"/>
            <a:ext cx="5635486" cy="193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926" y="1613663"/>
            <a:ext cx="563554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2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3DAD6F2-9CD2-419A-AADB-9C6F463BAC5D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D0F3B5-4CA9-457E-97EA-106D2B4E2E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A6D3C757-C209-4BD9-B547-0247D170CC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F65459-E369-4A5E-B52E-535D7846BEC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72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50EBC26-A16E-4E46-83E1-7CE9406AAD3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080BE1-CC31-4005-A203-224583BF00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7426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D1C4159-E098-4623-9DD4-1F6C7473E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5E0CF8A-F0A4-41A0-BB36-42D8B25C52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4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9867DA-A293-4509-815E-5276F56F595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C200E8F-3A6F-48C1-BC18-5705222CCE4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2FFE41-070C-4FFF-B242-8193FF7A09B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7413EB-5A05-4C6F-A883-B11BF169F77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2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7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635956E-268B-43D9-BF45-7B785C33D71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11466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EB1493D-D832-4EC9-AA51-C637D57BB44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772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AB6F57-8C3A-4EB7-B362-4FFF671A710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5436DE-00A6-470B-B2AB-75773A761CA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2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72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408BB9B-AC52-40F8-A854-65380A49C106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618" y="4400550"/>
            <a:ext cx="753187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BEC4BC6-0E90-46D6-86FC-2BDFF9109B3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618" y="4003126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805E85D-264E-48A1-93C9-ACE8F51FF69B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EF9368-91D5-4441-B93F-09783401AF5C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97728" y="400312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620703C-EB94-423A-A6A7-15C06D712A5D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208618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CD21B2C-2AE5-4943-882A-2DA016D2D1E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208618" y="162747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30F5FE-B230-470A-B748-5461DCC6221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8325A8B-C2C0-4387-B5D1-078AB50B732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747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3186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1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3B85F03-C5E0-4B8A-9D2F-DC06BCCB1019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8018651" y="4400549"/>
            <a:ext cx="3721846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998954B-6896-4EF9-87DA-6227FC4DDDC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018651" y="400101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C6BC5E7-EA23-48EF-9E8C-308BB821D9C1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07411" y="4400549"/>
            <a:ext cx="7531879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724201-757E-4FC4-BF08-BB2F5D5D17C0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07411" y="400101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DB2BECD-8AB9-489A-BF6B-18DF68B9003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FE39BF9-6EAA-4D70-9413-9DA2803EFB8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018651" y="1627473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3DD2393-3438-449F-AB3B-CF90969CC048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07411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B9AF990-4A38-42A1-91E6-A8CA4D9F2FCF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411" y="1627473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6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28775"/>
            <a:ext cx="11342769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8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8765"/>
            <a:ext cx="3721846" cy="193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38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15847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2094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1967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9A0-C1B8-3176-077A-18C833F7E9C8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124484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6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392335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63F31F-F1FF-3779-154C-C8D08EB68E99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096000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47DD-3FA6-8DAB-3DA5-21EEC2F86367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096000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27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4400550"/>
            <a:ext cx="560673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4010342"/>
            <a:ext cx="560673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407988" y="2024063"/>
            <a:ext cx="371158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988" y="1630278"/>
            <a:ext cx="371158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7B991D-9D36-0347-226D-8E4655C48B2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114324" y="4400550"/>
            <a:ext cx="561699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CBCF4A-E12E-7C78-0A84-11F7744BEAC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14324" y="4010342"/>
            <a:ext cx="561699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8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orient="horz" pos="754">
          <p15:clr>
            <a:srgbClr val="FBAE40"/>
          </p15:clr>
        </p15:guide>
        <p15:guide id="8" pos="2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9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5243BAB5-2683-FC27-0840-90042774B97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4235077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99ACCF4-C618-5EE9-15B6-9671CECEAFE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235077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6A54C7B4-B66F-E24F-6455-7202C8C5C0B7}"/>
              </a:ext>
            </a:extLst>
          </p:cNvPr>
          <p:cNvSpPr>
            <a:spLocks noGrp="1"/>
          </p:cNvSpPr>
          <p:nvPr>
            <p:ph sz="half" idx="55" hasCustomPrompt="1"/>
          </p:nvPr>
        </p:nvSpPr>
        <p:spPr>
          <a:xfrm>
            <a:off x="8018651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0B09CA03-8042-D719-0152-371B18C662F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018651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6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  <p15:guide id="8" orient="horz" pos="75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98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D010357D-4661-5BCD-578C-B51C051A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3198" y="6377755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1ED8FB1-F04A-E202-F3FB-6344E36C1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1143003"/>
            <a:ext cx="11431385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BE3D5AD-E6C4-1426-1947-D7C5C1D6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1846" y="5997333"/>
            <a:ext cx="310154" cy="233670"/>
          </a:xfrm>
          <a:prstGeom prst="rect">
            <a:avLst/>
          </a:prstGeom>
          <a:solidFill>
            <a:srgbClr val="D9F1FF"/>
          </a:solidFill>
          <a:ln>
            <a:noFill/>
          </a:ln>
        </p:spPr>
        <p:txBody>
          <a:bodyPr lIns="54000" tIns="0" rIns="0" bIns="0"/>
          <a:lstStyle>
            <a:lvl1pPr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1pPr>
            <a:lvl2pPr marL="742950" indent="-28575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2pPr>
            <a:lvl3pPr marL="11430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3pPr>
            <a:lvl4pPr marL="16002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4pPr>
            <a:lvl5pPr marL="20574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9pPr>
          </a:lstStyle>
          <a:p>
            <a:pPr algn="just" eaLnBrk="1" hangingPunct="1">
              <a:defRPr/>
            </a:pPr>
            <a:fld id="{3A06688C-8A71-4C26-9DF0-BC8547FBA8DD}" type="slidenum">
              <a:rPr lang="en-US" altLang="zh-TW" sz="16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just" eaLnBrk="1" hangingPunct="1">
                <a:defRPr/>
              </a:pPr>
              <a:t>‹#›</a:t>
            </a:fld>
            <a:endParaRPr lang="en-US" altLang="zh-TW" sz="1600" baseline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A7D5925-9BBE-FE6F-FD7D-CB86CCD53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6415350"/>
            <a:ext cx="11431383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D6D4E521-F499-AF68-FF7D-3A638C99B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1191" y="7872817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9" y="6437589"/>
            <a:ext cx="9230378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2" name="圖片 1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142C6C8-979F-2A51-F159-6CC12369D20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50" r:id="rId2"/>
    <p:sldLayoutId id="2147483703" r:id="rId3"/>
    <p:sldLayoutId id="2147483660" r:id="rId4"/>
    <p:sldLayoutId id="2147483696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Recap: </a:t>
            </a:r>
            <a:r>
              <a:rPr lang="zh-TW" altLang="en-US" dirty="0"/>
              <a:t>主管機關</a:t>
            </a:r>
            <a:r>
              <a:rPr lang="en-US" altLang="zh-TW" dirty="0"/>
              <a:t>RWA</a:t>
            </a:r>
            <a:r>
              <a:rPr lang="zh-TW" altLang="en-US" dirty="0"/>
              <a:t>代幣平台規劃與擬真測試時程已出台</a:t>
            </a:r>
            <a:br>
              <a:rPr lang="en-US" altLang="zh-TW" dirty="0"/>
            </a:br>
            <a:r>
              <a:rPr lang="zh-TW" altLang="en-US" dirty="0"/>
              <a:t>優先以</a:t>
            </a:r>
            <a:r>
              <a:rPr lang="zh-TW" altLang="en-US" dirty="0">
                <a:solidFill>
                  <a:schemeClr val="accent1"/>
                </a:solidFill>
              </a:rPr>
              <a:t>「黃金」定期定額</a:t>
            </a:r>
            <a:r>
              <a:rPr lang="en-US" altLang="zh-TW" dirty="0">
                <a:solidFill>
                  <a:schemeClr val="accent1"/>
                </a:solidFill>
              </a:rPr>
              <a:t>RWA</a:t>
            </a:r>
            <a:r>
              <a:rPr lang="zh-TW" altLang="en-US" dirty="0"/>
              <a:t>以及</a:t>
            </a:r>
            <a:r>
              <a:rPr lang="zh-TW" altLang="en-US" dirty="0">
                <a:solidFill>
                  <a:schemeClr val="accent1"/>
                </a:solidFill>
              </a:rPr>
              <a:t>「台幣債」 </a:t>
            </a:r>
            <a:r>
              <a:rPr lang="en-US" altLang="zh-TW" dirty="0">
                <a:solidFill>
                  <a:schemeClr val="accent1"/>
                </a:solidFill>
              </a:rPr>
              <a:t>RWA</a:t>
            </a:r>
            <a:r>
              <a:rPr lang="zh-TW" altLang="en-US" dirty="0">
                <a:solidFill>
                  <a:schemeClr val="accent1"/>
                </a:solidFill>
              </a:rPr>
              <a:t>為推動目標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r="2990" b="55197"/>
          <a:stretch/>
        </p:blipFill>
        <p:spPr>
          <a:xfrm>
            <a:off x="54318" y="1294472"/>
            <a:ext cx="11700000" cy="3200181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2914725" y="4833538"/>
            <a:ext cx="681083" cy="691611"/>
            <a:chOff x="3104845" y="4308448"/>
            <a:chExt cx="362425" cy="368027"/>
          </a:xfrm>
        </p:grpSpPr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C5F34343-6328-0639-95D3-8F8F3DD266B1}"/>
                </a:ext>
              </a:extLst>
            </p:cNvPr>
            <p:cNvSpPr/>
            <p:nvPr/>
          </p:nvSpPr>
          <p:spPr>
            <a:xfrm rot="10800000">
              <a:off x="3186639" y="4505066"/>
              <a:ext cx="198835" cy="17140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rgbClr val="0070C0"/>
                </a:solidFill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D43C0CE-44F0-A4F8-F634-97EE75129321}"/>
                </a:ext>
              </a:extLst>
            </p:cNvPr>
            <p:cNvSpPr txBox="1"/>
            <p:nvPr/>
          </p:nvSpPr>
          <p:spPr>
            <a:xfrm>
              <a:off x="3104845" y="4308448"/>
              <a:ext cx="362425" cy="2129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0070C0"/>
                  </a:solidFill>
                </a:rPr>
                <a:t>Now</a:t>
              </a:r>
              <a:endParaRPr lang="zh-TW" altLang="en-US" sz="20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799111" y="5531589"/>
            <a:ext cx="494851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b="1" dirty="0"/>
              <a:t>目標成為首批參與國內金融聯盟鏈券商，搶先建立國內</a:t>
            </a:r>
            <a:r>
              <a:rPr lang="en-US" altLang="zh-TW" b="1" dirty="0"/>
              <a:t>RWA</a:t>
            </a:r>
            <a:r>
              <a:rPr lang="zh-TW" altLang="en-US" b="1" dirty="0"/>
              <a:t>銷售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、交易、系統串接</a:t>
            </a:r>
            <a:endParaRPr lang="en-US" altLang="zh-TW" b="1" dirty="0"/>
          </a:p>
        </p:txBody>
      </p:sp>
      <p:grpSp>
        <p:nvGrpSpPr>
          <p:cNvPr id="10" name="群組 9"/>
          <p:cNvGrpSpPr/>
          <p:nvPr/>
        </p:nvGrpSpPr>
        <p:grpSpPr>
          <a:xfrm>
            <a:off x="440626" y="2683166"/>
            <a:ext cx="5479200" cy="2160000"/>
            <a:chOff x="440626" y="2656007"/>
            <a:chExt cx="5445586" cy="2136008"/>
          </a:xfrm>
        </p:grpSpPr>
        <p:sp>
          <p:nvSpPr>
            <p:cNvPr id="2" name="矩形 1"/>
            <p:cNvSpPr/>
            <p:nvPr/>
          </p:nvSpPr>
          <p:spPr>
            <a:xfrm>
              <a:off x="440626" y="2673486"/>
              <a:ext cx="5445586" cy="211852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1200"/>
                </a:spcAft>
              </a:pP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試辦一：發行美元計價短期公司債</a:t>
              </a:r>
            </a:p>
            <a:p>
              <a:pPr>
                <a:spcAft>
                  <a:spcPts val="400"/>
                </a:spcAft>
              </a:pP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主要合作夥伴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：集保 </a:t>
              </a:r>
              <a:r>
                <a:rPr lang="en-US" altLang="zh-TW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(RWA 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代幣平台專案小組</a:t>
              </a:r>
              <a:r>
                <a:rPr lang="en-US" altLang="zh-TW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)</a:t>
              </a:r>
            </a:p>
            <a:p>
              <a:pPr>
                <a:spcAft>
                  <a:spcPts val="400"/>
                </a:spcAft>
              </a:pP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目標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：台灣首批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發行 </a:t>
              </a:r>
              <a:r>
                <a:rPr lang="en-US" altLang="zh-TW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RWA 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的金融機構</a:t>
              </a:r>
            </a:p>
            <a:p>
              <a:pPr>
                <a:spcAft>
                  <a:spcPts val="400"/>
                </a:spcAft>
              </a:pP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變數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：主管機關傾向先推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台幣計價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、債券及黃金商品</a:t>
              </a:r>
            </a:p>
            <a:p>
              <a:pPr>
                <a:spcAft>
                  <a:spcPts val="400"/>
                </a:spcAft>
              </a:pP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節奏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配合主管機關時程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</a:t>
              </a:r>
              <a:r>
                <a:rPr lang="en-US" altLang="zh-TW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KGIB/KGIS 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需接入主管機關系統、集保有 </a:t>
              </a:r>
              <a:endParaRPr lang="en-US" altLang="zh-TW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Aft>
                  <a:spcPts val="400"/>
                </a:spcAft>
              </a:pPr>
              <a:r>
                <a:rPr lang="en-US" altLang="zh-TW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         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委外銀行保管之可能性 </a:t>
              </a:r>
            </a:p>
            <a:p>
              <a:pPr>
                <a:spcBef>
                  <a:spcPts val="600"/>
                </a:spcBef>
              </a:pPr>
              <a:r>
                <a:rPr lang="zh-TW" altLang="en-US" sz="1200" b="1" u="sng" dirty="0">
                  <a:solidFill>
                    <a:schemeClr val="accent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集保規格書已經出台，預計</a:t>
              </a:r>
              <a:r>
                <a:rPr lang="en-US" altLang="zh-TW" sz="1200" b="1" u="sng" dirty="0">
                  <a:solidFill>
                    <a:schemeClr val="accent5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8</a:t>
              </a:r>
              <a:r>
                <a:rPr lang="zh-TW" altLang="en-US" sz="1200" b="1" u="sng" dirty="0">
                  <a:solidFill>
                    <a:schemeClr val="accent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月份集團與集保進行進一步討論，以評估推動策略</a:t>
              </a:r>
              <a:endParaRPr lang="zh-TW" altLang="en-US" sz="1200" b="1" u="sng" dirty="0">
                <a:solidFill>
                  <a:schemeClr val="accent5"/>
                </a:solidFill>
              </a:endParaRPr>
            </a:p>
          </p:txBody>
        </p:sp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8424" y="2656007"/>
              <a:ext cx="1409897" cy="323895"/>
            </a:xfrm>
            <a:prstGeom prst="rect">
              <a:avLst/>
            </a:prstGeom>
          </p:spPr>
        </p:pic>
      </p:grpSp>
      <p:grpSp>
        <p:nvGrpSpPr>
          <p:cNvPr id="13" name="群組 12"/>
          <p:cNvGrpSpPr/>
          <p:nvPr/>
        </p:nvGrpSpPr>
        <p:grpSpPr>
          <a:xfrm>
            <a:off x="6206937" y="2668405"/>
            <a:ext cx="5482800" cy="2160000"/>
            <a:chOff x="6404992" y="5306135"/>
            <a:chExt cx="5550992" cy="1607376"/>
          </a:xfrm>
        </p:grpSpPr>
        <p:sp>
          <p:nvSpPr>
            <p:cNvPr id="11" name="矩形 10"/>
            <p:cNvSpPr/>
            <p:nvPr/>
          </p:nvSpPr>
          <p:spPr>
            <a:xfrm>
              <a:off x="6404992" y="5343502"/>
              <a:ext cx="5550992" cy="1570009"/>
            </a:xfrm>
            <a:prstGeom prst="rect">
              <a:avLst/>
            </a:prstGeom>
            <a:gradFill flip="none" rotWithShape="1">
              <a:gsLst>
                <a:gs pos="0">
                  <a:srgbClr val="0065B2">
                    <a:shade val="30000"/>
                    <a:satMod val="115000"/>
                  </a:srgbClr>
                </a:gs>
                <a:gs pos="50000">
                  <a:srgbClr val="0065B2">
                    <a:shade val="67500"/>
                    <a:satMod val="115000"/>
                  </a:srgbClr>
                </a:gs>
                <a:gs pos="100000">
                  <a:srgbClr val="0065B2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試辦二：上架日本</a:t>
              </a:r>
              <a:r>
                <a:rPr lang="en-US" altLang="zh-TW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微軟正黑體" panose="020B0604030504040204" pitchFamily="34" charset="-120"/>
                </a:rPr>
                <a:t>/</a:t>
              </a: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新加坡商品</a:t>
              </a:r>
            </a:p>
            <a:p>
              <a:pPr>
                <a:spcAft>
                  <a:spcPts val="400"/>
                </a:spcAft>
              </a:pP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主要合作夥伴：</a:t>
              </a:r>
              <a:r>
                <a:rPr lang="en-US" altLang="zh-TW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SBI (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先限定專投、高資產、機構</a:t>
              </a:r>
              <a:r>
                <a:rPr lang="en-US" altLang="zh-TW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)</a:t>
              </a:r>
            </a:p>
            <a:p>
              <a:pPr>
                <a:spcAft>
                  <a:spcPts val="400"/>
                </a:spcAft>
              </a:pP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目標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：台灣首家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跨境銷售 </a:t>
              </a:r>
              <a:r>
                <a:rPr lang="en-US" altLang="zh-TW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RWA 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的金融機構</a:t>
              </a:r>
            </a:p>
            <a:p>
              <a:pPr>
                <a:spcAft>
                  <a:spcPts val="400"/>
                </a:spcAft>
              </a:pP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政策契機：</a:t>
              </a:r>
              <a:r>
                <a:rPr lang="en-US" altLang="zh-TW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ride on 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資產管理</a:t>
              </a:r>
              <a:r>
                <a:rPr lang="zh-TW" altLang="en-US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*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」新專法與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亞資中心</a:t>
              </a:r>
              <a:endPara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Aft>
                  <a:spcPts val="400"/>
                </a:spcAft>
              </a:pP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節奏</a:t>
              </a:r>
              <a:r>
                <a:rPr lang="zh-TW" altLang="en-US" sz="14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：主動向主管機關 </a:t>
              </a:r>
              <a:r>
                <a:rPr lang="en-US" altLang="zh-TW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lobby</a:t>
              </a:r>
              <a:endParaRPr lang="zh-TW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  <a:p>
              <a:pPr>
                <a:spcBef>
                  <a:spcPts val="1200"/>
                </a:spcBef>
              </a:pPr>
              <a:r>
                <a:rPr lang="en-US" altLang="zh-TW" sz="11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※</a:t>
              </a:r>
              <a:r>
                <a:rPr lang="zh-TW" altLang="en-US" sz="11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資產管理專法預計</a:t>
              </a:r>
              <a:r>
                <a:rPr lang="en-US" altLang="zh-TW" sz="11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7</a:t>
              </a:r>
              <a:r>
                <a:rPr lang="zh-TW" altLang="en-US" sz="11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月底提出雛形，未來一張「資產管理執照」可跨業經營、管理各項資產產品，類似全委概念</a:t>
              </a:r>
              <a:endParaRPr lang="zh-TW" alt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圖片 11"/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108" y="5306135"/>
              <a:ext cx="1312119" cy="294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375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C2A902D-E931-5D9F-822F-FF09CDB1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sz="2400" dirty="0"/>
              <a:t>RWA </a:t>
            </a:r>
            <a:r>
              <a:rPr lang="en-US" altLang="zh-TW" sz="2400" dirty="0" err="1"/>
              <a:t>雙軌推進</a:t>
            </a:r>
            <a:r>
              <a:rPr lang="en-US" altLang="zh-TW" sz="2400" dirty="0"/>
              <a:t>：</a:t>
            </a:r>
            <a:r>
              <a:rPr lang="zh-TW" altLang="en-US" sz="2400" dirty="0"/>
              <a:t>國內</a:t>
            </a:r>
            <a:r>
              <a:rPr lang="en-US" altLang="zh-TW" sz="2400" dirty="0" err="1"/>
              <a:t>路線年底進入擬真測試</a:t>
            </a:r>
            <a:r>
              <a:rPr lang="en-US" altLang="zh-TW" sz="2400" b="0" dirty="0"/>
              <a:t>​</a:t>
            </a:r>
            <a:r>
              <a:rPr lang="zh-TW" altLang="en-US" sz="2400" b="0" dirty="0"/>
              <a:t>、</a:t>
            </a:r>
            <a:r>
              <a:rPr lang="en-US" altLang="zh-TW" sz="2400" dirty="0"/>
              <a:t>SBI 跨境試辦則待商品與 MOU </a:t>
            </a:r>
            <a:r>
              <a:rPr lang="en-US" altLang="zh-TW" sz="2400" dirty="0" err="1"/>
              <a:t>收斂</a:t>
            </a:r>
            <a:r>
              <a:rPr lang="en-US" altLang="zh-TW" sz="2400" b="0" dirty="0"/>
              <a:t>​</a:t>
            </a:r>
            <a:endParaRPr lang="zh-TW" altLang="en-US" sz="2400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006C7A1-DAA1-89FF-0726-125C47F5E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0209B86-A2E8-2CE6-9337-AA504ED1F5E2}"/>
              </a:ext>
            </a:extLst>
          </p:cNvPr>
          <p:cNvSpPr/>
          <p:nvPr/>
        </p:nvSpPr>
        <p:spPr>
          <a:xfrm>
            <a:off x="1427314" y="1294529"/>
            <a:ext cx="6912864" cy="27432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軌道一｜配合主管機關（國內市場）</a:t>
            </a:r>
            <a:endParaRPr lang="en-US" sz="12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F92FD825-CA62-237C-830F-BF88740B32C7}"/>
              </a:ext>
            </a:extLst>
          </p:cNvPr>
          <p:cNvSpPr/>
          <p:nvPr/>
        </p:nvSpPr>
        <p:spPr>
          <a:xfrm>
            <a:off x="8413330" y="1294529"/>
            <a:ext cx="3419856" cy="27432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軌道二｜自主爭取（跨境銷售）</a:t>
            </a:r>
            <a:endParaRPr lang="en-US" sz="12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11D10B71-CDD3-0606-B2F2-D3A866124160}"/>
              </a:ext>
            </a:extLst>
          </p:cNvPr>
          <p:cNvSpPr/>
          <p:nvPr/>
        </p:nvSpPr>
        <p:spPr>
          <a:xfrm>
            <a:off x="1518754" y="1605425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 RWA</a:t>
            </a:r>
            <a:r>
              <a:rPr lang="en-US" sz="10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定期定額與碎片化交易</a:t>
            </a:r>
            <a:endParaRPr lang="en-US" sz="13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3E96D125-18D9-848E-2914-27F4366033BA}"/>
              </a:ext>
            </a:extLst>
          </p:cNvPr>
          <p:cNvSpPr/>
          <p:nvPr/>
        </p:nvSpPr>
        <p:spPr>
          <a:xfrm>
            <a:off x="5011762" y="1605425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台幣債 RWA</a:t>
            </a:r>
            <a:r>
              <a:rPr lang="en-US" sz="10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公司債與金融債原生發行</a:t>
            </a:r>
            <a:endParaRPr lang="en-US" sz="135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344931C0-2E15-9FBD-B8F1-95946F55F2F7}"/>
              </a:ext>
            </a:extLst>
          </p:cNvPr>
          <p:cNvSpPr/>
          <p:nvPr/>
        </p:nvSpPr>
        <p:spPr>
          <a:xfrm>
            <a:off x="8504770" y="1605425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SBI 跨境試辦</a:t>
            </a:r>
            <a:r>
              <a:rPr lang="en-US" sz="10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引進國際合規 RWA 商品</a:t>
            </a:r>
            <a:endParaRPr lang="en-US" sz="135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C21F930F-56FC-53CE-01F0-A04CFD03948C}"/>
              </a:ext>
            </a:extLst>
          </p:cNvPr>
          <p:cNvSpPr/>
          <p:nvPr/>
        </p:nvSpPr>
        <p:spPr>
          <a:xfrm>
            <a:off x="394042" y="2044337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5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298B4094-EFAE-D25D-5F76-EAA258AB32DB}"/>
              </a:ext>
            </a:extLst>
          </p:cNvPr>
          <p:cNvSpPr/>
          <p:nvPr/>
        </p:nvSpPr>
        <p:spPr>
          <a:xfrm>
            <a:off x="1518754" y="2044337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國內首批上線券商，搶政策首發露出</a:t>
            </a:r>
            <a:endParaRPr lang="en-US" sz="105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9575C9FC-0A88-5413-439E-31821538F679}"/>
              </a:ext>
            </a:extLst>
          </p:cNvPr>
          <p:cNvSpPr/>
          <p:nvPr/>
        </p:nvSpPr>
        <p:spPr>
          <a:xfrm>
            <a:off x="5011762" y="2044337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集團全角色參與首批擬真交易</a:t>
            </a:r>
            <a:endParaRPr lang="en-US" sz="105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414383B-C0A3-1F6C-1027-DB4CD5A44CA1}"/>
              </a:ext>
            </a:extLst>
          </p:cNvPr>
          <p:cNvSpPr/>
          <p:nvPr/>
        </p:nvSpPr>
        <p:spPr>
          <a:xfrm>
            <a:off x="8504770" y="2044337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台灣首家跨境銷售 RWA 之金融機構</a:t>
            </a:r>
            <a:endParaRPr lang="en-US" sz="105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23F1CBC2-2C3B-B904-09CF-F3EB6FF04400}"/>
              </a:ext>
            </a:extLst>
          </p:cNvPr>
          <p:cNvSpPr/>
          <p:nvPr/>
        </p:nvSpPr>
        <p:spPr>
          <a:xfrm>
            <a:off x="394042" y="2446673"/>
            <a:ext cx="11439144" cy="0"/>
          </a:xfrm>
          <a:prstGeom prst="line">
            <a:avLst/>
          </a:prstGeom>
          <a:noFill/>
          <a:ln w="9525">
            <a:solidFill>
              <a:srgbClr val="BFC9D9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C1E917C3-25A7-8EE4-EA2B-78B6AE51A494}"/>
              </a:ext>
            </a:extLst>
          </p:cNvPr>
          <p:cNvSpPr/>
          <p:nvPr/>
        </p:nvSpPr>
        <p:spPr>
          <a:xfrm>
            <a:off x="394042" y="2474105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</a:t>
            </a:r>
            <a:endParaRPr lang="en-US" sz="1150" dirty="0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8AE20C9B-9A6A-F57A-C9C9-752D30D9245F}"/>
              </a:ext>
            </a:extLst>
          </p:cNvPr>
          <p:cNvSpPr/>
          <p:nvPr/>
        </p:nvSpPr>
        <p:spPr>
          <a:xfrm>
            <a:off x="1518754" y="2474105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11月 </a:t>
            </a: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連通測試　</a:t>
            </a:r>
            <a:r>
              <a:rPr lang="en-US" sz="10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12/15-21 </a:t>
            </a: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功能測試　</a:t>
            </a:r>
            <a:r>
              <a:rPr lang="en-US" sz="10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12/31 前 </a:t>
            </a: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擬真上線</a:t>
            </a:r>
            <a:endParaRPr lang="en-US" sz="1050" dirty="0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A3AC3F1D-D467-2780-0499-6FCDA4A20939}"/>
              </a:ext>
            </a:extLst>
          </p:cNvPr>
          <p:cNvSpPr/>
          <p:nvPr/>
        </p:nvSpPr>
        <p:spPr>
          <a:xfrm>
            <a:off x="5011762" y="2474105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2027/2 </a:t>
            </a: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連通測試　</a:t>
            </a:r>
            <a:r>
              <a:rPr lang="en-US" sz="10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3/16-22 </a:t>
            </a: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功能測試　</a:t>
            </a:r>
            <a:r>
              <a:rPr lang="en-US" sz="10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3/31 前 </a:t>
            </a: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擬真上線</a:t>
            </a:r>
            <a:endParaRPr lang="en-US" sz="1050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E8E99EEF-778D-DAA9-31B7-D11083783096}"/>
              </a:ext>
            </a:extLst>
          </p:cNvPr>
          <p:cNvSpPr/>
          <p:nvPr/>
        </p:nvSpPr>
        <p:spPr>
          <a:xfrm>
            <a:off x="8504770" y="2474105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8月底 </a:t>
            </a: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監理門診文件初版完成　</a:t>
            </a:r>
            <a:r>
              <a:rPr lang="en-US" sz="10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10月中 </a:t>
            </a: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SBI 定案商品（預估）</a:t>
            </a:r>
            <a:endParaRPr lang="en-US" sz="1050" dirty="0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FB026B50-7E43-2751-41AF-EDD0CE2DB1EB}"/>
              </a:ext>
            </a:extLst>
          </p:cNvPr>
          <p:cNvSpPr/>
          <p:nvPr/>
        </p:nvSpPr>
        <p:spPr>
          <a:xfrm>
            <a:off x="394042" y="2949593"/>
            <a:ext cx="11439144" cy="0"/>
          </a:xfrm>
          <a:prstGeom prst="line">
            <a:avLst/>
          </a:prstGeom>
          <a:noFill/>
          <a:ln w="9525">
            <a:solidFill>
              <a:srgbClr val="BFC9D9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89C152AD-7E02-81B1-B66F-F23411A142C7}"/>
              </a:ext>
            </a:extLst>
          </p:cNvPr>
          <p:cNvSpPr/>
          <p:nvPr/>
        </p:nvSpPr>
        <p:spPr>
          <a:xfrm>
            <a:off x="394042" y="2977025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最新進度</a:t>
            </a:r>
            <a:endParaRPr lang="en-US" sz="1150" dirty="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E757C9B4-4779-EFC8-3CC7-1BBB68D3CCCD}"/>
              </a:ext>
            </a:extLst>
          </p:cNvPr>
          <p:cNvSpPr/>
          <p:nvPr/>
        </p:nvSpPr>
        <p:spPr>
          <a:xfrm>
            <a:off x="1518754" y="2977025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9/15 IPS 黃金 kick-off 完成，集保 API 與錢包規格已公告，進入系統開發</a:t>
            </a:r>
            <a:endParaRPr lang="en-US" sz="1050" dirty="0"/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BFC2C857-E827-A326-8B53-96AF81B3CF54}"/>
              </a:ext>
            </a:extLst>
          </p:cNvPr>
          <p:cNvSpPr/>
          <p:nvPr/>
        </p:nvSpPr>
        <p:spPr>
          <a:xfrm>
            <a:off x="5011762" y="2977025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8/19 集保櫃買來訪，櫃買將凱基列為優先邀請對象，金市參與意願高</a:t>
            </a:r>
            <a:endParaRPr lang="en-US" sz="1050" dirty="0"/>
          </a:p>
        </p:txBody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71DA55C2-4DCD-2AA4-058D-7B4C68A4AC1E}"/>
              </a:ext>
            </a:extLst>
          </p:cNvPr>
          <p:cNvSpPr/>
          <p:nvPr/>
        </p:nvSpPr>
        <p:spPr>
          <a:xfrm>
            <a:off x="8504770" y="2977025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IPS（複委託）與金市（買賣斷）業務流程、系統架構、風險盤點初版完成</a:t>
            </a:r>
            <a:endParaRPr lang="en-US" sz="1050" dirty="0"/>
          </a:p>
        </p:txBody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750F336E-37A7-34BD-60C5-D37F1CAB7244}"/>
              </a:ext>
            </a:extLst>
          </p:cNvPr>
          <p:cNvSpPr/>
          <p:nvPr/>
        </p:nvSpPr>
        <p:spPr>
          <a:xfrm>
            <a:off x="394042" y="3562241"/>
            <a:ext cx="11439144" cy="0"/>
          </a:xfrm>
          <a:prstGeom prst="line">
            <a:avLst/>
          </a:prstGeom>
          <a:noFill/>
          <a:ln w="9525">
            <a:solidFill>
              <a:srgbClr val="BFC9D9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3D698E87-D169-B2C0-F6EC-FBCDDA7A2E41}"/>
              </a:ext>
            </a:extLst>
          </p:cNvPr>
          <p:cNvSpPr/>
          <p:nvPr/>
        </p:nvSpPr>
        <p:spPr>
          <a:xfrm>
            <a:off x="394042" y="3589673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0B2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關鍵卡點</a:t>
            </a:r>
            <a:endParaRPr lang="en-US" sz="1150" dirty="0"/>
          </a:p>
        </p:txBody>
      </p:sp>
      <p:sp>
        <p:nvSpPr>
          <p:cNvPr id="51" name="Text 30">
            <a:extLst>
              <a:ext uri="{FF2B5EF4-FFF2-40B4-BE49-F238E27FC236}">
                <a16:creationId xmlns:a16="http://schemas.microsoft.com/office/drawing/2014/main" id="{5675D515-9E1F-C0F0-1813-539AC0E53BD9}"/>
              </a:ext>
            </a:extLst>
          </p:cNvPr>
          <p:cNvSpPr/>
          <p:nvPr/>
        </p:nvSpPr>
        <p:spPr>
          <a:xfrm>
            <a:off x="1518754" y="3589673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私鑰保管方案未定：現有 HSM 不支援錢包金鑰產製，評估台網、BSOS 委外託管</a:t>
            </a:r>
            <a:endParaRPr lang="en-US" sz="1050" dirty="0"/>
          </a:p>
        </p:txBody>
      </p:sp>
      <p:sp>
        <p:nvSpPr>
          <p:cNvPr id="52" name="Text 31">
            <a:extLst>
              <a:ext uri="{FF2B5EF4-FFF2-40B4-BE49-F238E27FC236}">
                <a16:creationId xmlns:a16="http://schemas.microsoft.com/office/drawing/2014/main" id="{29ADC866-8F8F-B567-E5B6-C33A5617A3B3}"/>
              </a:ext>
            </a:extLst>
          </p:cNvPr>
          <p:cNvSpPr/>
          <p:nvPr/>
        </p:nvSpPr>
        <p:spPr>
          <a:xfrm>
            <a:off x="5011762" y="3589673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尚無配對 Buyer；Cash Token 保管模式未定；須銀行擔任交割銀行</a:t>
            </a:r>
            <a:endParaRPr lang="en-US" sz="1050" dirty="0"/>
          </a:p>
        </p:txBody>
      </p:sp>
      <p:sp>
        <p:nvSpPr>
          <p:cNvPr id="53" name="Text 32">
            <a:extLst>
              <a:ext uri="{FF2B5EF4-FFF2-40B4-BE49-F238E27FC236}">
                <a16:creationId xmlns:a16="http://schemas.microsoft.com/office/drawing/2014/main" id="{749F2D83-A978-F8CE-ED9B-2472493D44D3}"/>
              </a:ext>
            </a:extLst>
          </p:cNvPr>
          <p:cNvSpPr/>
          <p:nvPr/>
        </p:nvSpPr>
        <p:spPr>
          <a:xfrm>
            <a:off x="8504770" y="3589673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SBI MOU 未簽且商品無交集；客群限亞資專區；銀行試辦範圍未含交割</a:t>
            </a:r>
            <a:endParaRPr lang="en-US" sz="1050" dirty="0"/>
          </a:p>
        </p:txBody>
      </p:sp>
      <p:sp>
        <p:nvSpPr>
          <p:cNvPr id="54" name="Text 34">
            <a:extLst>
              <a:ext uri="{FF2B5EF4-FFF2-40B4-BE49-F238E27FC236}">
                <a16:creationId xmlns:a16="http://schemas.microsoft.com/office/drawing/2014/main" id="{F73B71C8-16F1-B61D-5B08-5038DAD0FC60}"/>
              </a:ext>
            </a:extLst>
          </p:cNvPr>
          <p:cNvSpPr/>
          <p:nvPr/>
        </p:nvSpPr>
        <p:spPr>
          <a:xfrm>
            <a:off x="467194" y="4389333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集團資源需求</a:t>
            </a:r>
            <a:r>
              <a:rPr lang="en-US" sz="10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初步假設，待各單位確認</a:t>
            </a:r>
            <a:endParaRPr lang="en-US" sz="1400" dirty="0"/>
          </a:p>
        </p:txBody>
      </p:sp>
      <p:sp>
        <p:nvSpPr>
          <p:cNvPr id="55" name="Text 37">
            <a:extLst>
              <a:ext uri="{FF2B5EF4-FFF2-40B4-BE49-F238E27FC236}">
                <a16:creationId xmlns:a16="http://schemas.microsoft.com/office/drawing/2014/main" id="{4E3A985B-CB64-CA6F-3F60-E4B9F6586A67}"/>
              </a:ext>
            </a:extLst>
          </p:cNvPr>
          <p:cNvSpPr/>
          <p:nvPr/>
        </p:nvSpPr>
        <p:spPr>
          <a:xfrm>
            <a:off x="439762" y="4773381"/>
            <a:ext cx="3422904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</a:t>
            </a: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｜對外溝通與集團決策</a:t>
            </a:r>
            <a:endParaRPr lang="en-US" sz="1300" dirty="0"/>
          </a:p>
        </p:txBody>
      </p:sp>
      <p:sp>
        <p:nvSpPr>
          <p:cNvPr id="56" name="Text 38">
            <a:extLst>
              <a:ext uri="{FF2B5EF4-FFF2-40B4-BE49-F238E27FC236}">
                <a16:creationId xmlns:a16="http://schemas.microsoft.com/office/drawing/2014/main" id="{DE2D469D-8F62-0465-EA8D-720DEB3D44AE}"/>
              </a:ext>
            </a:extLst>
          </p:cNvPr>
          <p:cNvSpPr/>
          <p:nvPr/>
        </p:nvSpPr>
        <p:spPr>
          <a:xfrm>
            <a:off x="394042" y="5194005"/>
            <a:ext cx="3514344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向主管機關爭取 RWA Token 納入複委託標的、證券商得持有穩定幣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推進 SBI MOU 簽署與商品清單收斂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拍板銀行為他券商託管私鑰之集團取捨</a:t>
            </a:r>
            <a:endParaRPr lang="en-US" sz="105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333EEDCA-49E2-A2C9-CA9D-E87319547F25}"/>
              </a:ext>
            </a:extLst>
          </p:cNvPr>
          <p:cNvSpPr/>
          <p:nvPr/>
        </p:nvSpPr>
        <p:spPr>
          <a:xfrm>
            <a:off x="4319866" y="4773381"/>
            <a:ext cx="3422904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</a:t>
            </a: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｜保管、交割與金流</a:t>
            </a:r>
            <a:endParaRPr lang="en-US" sz="1300" dirty="0"/>
          </a:p>
        </p:txBody>
      </p:sp>
      <p:sp>
        <p:nvSpPr>
          <p:cNvPr id="58" name="Text 42">
            <a:extLst>
              <a:ext uri="{FF2B5EF4-FFF2-40B4-BE49-F238E27FC236}">
                <a16:creationId xmlns:a16="http://schemas.microsoft.com/office/drawing/2014/main" id="{8E7BCA1D-A234-85E3-5372-BA943AE6F66E}"/>
              </a:ext>
            </a:extLst>
          </p:cNvPr>
          <p:cNvSpPr/>
          <p:nvPr/>
        </p:nvSpPr>
        <p:spPr>
          <a:xfrm>
            <a:off x="4274146" y="5194005"/>
            <a:ext cx="3514344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10/9 前回覆擔任集保第三方私鑰保管機構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擔任台幣債 RWA 交割銀行並發行存款代幣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擴大試辦範圍至交割與穩定幣兌換，提供 KYT</a:t>
            </a:r>
            <a:endParaRPr lang="en-US" sz="1050" dirty="0"/>
          </a:p>
        </p:txBody>
      </p:sp>
      <p:sp>
        <p:nvSpPr>
          <p:cNvPr id="59" name="Text 45">
            <a:extLst>
              <a:ext uri="{FF2B5EF4-FFF2-40B4-BE49-F238E27FC236}">
                <a16:creationId xmlns:a16="http://schemas.microsoft.com/office/drawing/2014/main" id="{30AB0EB9-9CFB-8E7A-7FDE-EF4A334314B7}"/>
              </a:ext>
            </a:extLst>
          </p:cNvPr>
          <p:cNvSpPr/>
          <p:nvPr/>
        </p:nvSpPr>
        <p:spPr>
          <a:xfrm>
            <a:off x="8199970" y="4773381"/>
            <a:ext cx="3422904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證券</a:t>
            </a: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｜系統建置與作業</a:t>
            </a:r>
            <a:endParaRPr lang="en-US" sz="1300" dirty="0"/>
          </a:p>
        </p:txBody>
      </p:sp>
      <p:sp>
        <p:nvSpPr>
          <p:cNvPr id="60" name="Text 46">
            <a:extLst>
              <a:ext uri="{FF2B5EF4-FFF2-40B4-BE49-F238E27FC236}">
                <a16:creationId xmlns:a16="http://schemas.microsoft.com/office/drawing/2014/main" id="{2B91318E-DD43-4F5E-AD21-FC5C9961B6BB}"/>
              </a:ext>
            </a:extLst>
          </p:cNvPr>
          <p:cNvSpPr/>
          <p:nvPr/>
        </p:nvSpPr>
        <p:spPr>
          <a:xfrm>
            <a:off x="8154250" y="5194005"/>
            <a:ext cx="3514344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私鑰保管與簽章模組（自建 HSM 或委外）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集保平台 API 串接、錢包白名單、雙庫存帳務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SBI 路線訂單路由、分戶帳、三方對帳系統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8683438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品牌顏色v4">
      <a:dk1>
        <a:srgbClr val="000000"/>
      </a:dk1>
      <a:lt1>
        <a:srgbClr val="FFFFFF"/>
      </a:lt1>
      <a:dk2>
        <a:srgbClr val="234976"/>
      </a:dk2>
      <a:lt2>
        <a:srgbClr val="FFFAF6"/>
      </a:lt2>
      <a:accent1>
        <a:srgbClr val="0065B2"/>
      </a:accent1>
      <a:accent2>
        <a:srgbClr val="FFAF78"/>
      </a:accent2>
      <a:accent3>
        <a:srgbClr val="E83F0A"/>
      </a:accent3>
      <a:accent4>
        <a:srgbClr val="A36C14"/>
      </a:accent4>
      <a:accent5>
        <a:srgbClr val="4DB848"/>
      </a:accent5>
      <a:accent6>
        <a:srgbClr val="713C93"/>
      </a:accent6>
      <a:hlink>
        <a:srgbClr val="2DB7FF"/>
      </a:hlink>
      <a:folHlink>
        <a:srgbClr val="954F72"/>
      </a:folHlink>
    </a:clrScheme>
    <a:fontScheme name="KG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7079AC27-DD79-40A3-998D-D8FEA009256F}" vid="{995CA56B-DBE3-4B40-9F86-3D8FDC25F1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1842</TotalTime>
  <Words>429</Words>
  <Application>Microsoft Office PowerPoint</Application>
  <PresentationFormat>寬螢幕</PresentationFormat>
  <Paragraphs>52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Microsoft JhengHei</vt:lpstr>
      <vt:lpstr>Microsoft JhengHei</vt:lpstr>
      <vt:lpstr>Arial</vt:lpstr>
      <vt:lpstr>Calibri</vt:lpstr>
      <vt:lpstr>Symbol</vt:lpstr>
      <vt:lpstr>Wingdings</vt:lpstr>
      <vt:lpstr>佈景主題1</vt:lpstr>
      <vt:lpstr>Recap: 主管機關RWA代幣平台規劃與擬真測試時程已出台 優先以「黃金」定期定額RWA以及「台幣債」 RWA為推動目標</vt:lpstr>
      <vt:lpstr>RWA 雙軌推進：國內路線年底進入擬真測試​、SBI 跨境試辦則待商品與 MOU 收斂​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呂新晨AstonLu-HR-KGISEC</dc:creator>
  <cp:lastModifiedBy>呂新晨AstonLu-HR-KGISEC</cp:lastModifiedBy>
  <cp:revision>2</cp:revision>
  <dcterms:created xsi:type="dcterms:W3CDTF">2026-09-30T03:05:17Z</dcterms:created>
  <dcterms:modified xsi:type="dcterms:W3CDTF">2026-10-08T01:35:42Z</dcterms:modified>
</cp:coreProperties>
</file>